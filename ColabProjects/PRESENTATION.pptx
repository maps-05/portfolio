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Funtastic" charset="1" panose="00000000000000000000"/>
      <p:regular r:id="rId37"/>
    </p:embeddedFont>
    <p:embeddedFont>
      <p:font typeface="Poppins Bold" charset="1" panose="00000800000000000000"/>
      <p:regular r:id="rId38"/>
    </p:embeddedFont>
    <p:embeddedFont>
      <p:font typeface="Poppins" charset="1" panose="00000500000000000000"/>
      <p:regular r:id="rId39"/>
    </p:embeddedFont>
    <p:embeddedFont>
      <p:font typeface="Poppins Italics" charset="1" panose="00000500000000000000"/>
      <p:regular r:id="rId40"/>
    </p:embeddedFont>
    <p:embeddedFont>
      <p:font typeface="Poppins Bold Italics" charset="1" panose="000008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11" Target="../media/image22.pn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14" Target="../media/image26.png" Type="http://schemas.openxmlformats.org/officeDocument/2006/relationships/image"/><Relationship Id="rId15" Target="../media/image27.png" Type="http://schemas.openxmlformats.org/officeDocument/2006/relationships/image"/><Relationship Id="rId16" Target="../media/image28.png" Type="http://schemas.openxmlformats.org/officeDocument/2006/relationships/image"/><Relationship Id="rId17" Target="../media/image29.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28.png" Type="http://schemas.openxmlformats.org/officeDocument/2006/relationships/image"/><Relationship Id="rId15" Target="../media/image24.png" Type="http://schemas.openxmlformats.org/officeDocument/2006/relationships/image"/><Relationship Id="rId16" Target="../media/image27.png" Type="http://schemas.openxmlformats.org/officeDocument/2006/relationships/image"/><Relationship Id="rId17" Target="../media/image2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11" Target="../media/image22.png" Type="http://schemas.openxmlformats.org/officeDocument/2006/relationships/image"/><Relationship Id="rId12" Target="../media/image25.png" Type="http://schemas.openxmlformats.org/officeDocument/2006/relationships/image"/><Relationship Id="rId13" Target="../media/image26.png" Type="http://schemas.openxmlformats.org/officeDocument/2006/relationships/image"/><Relationship Id="rId14" Target="../media/image30.png" Type="http://schemas.openxmlformats.org/officeDocument/2006/relationships/image"/><Relationship Id="rId15" Target="../media/image31.png" Type="http://schemas.openxmlformats.org/officeDocument/2006/relationships/image"/><Relationship Id="rId16" Target="../media/image32.png" Type="http://schemas.openxmlformats.org/officeDocument/2006/relationships/image"/><Relationship Id="rId17" Target="../media/image33.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32.png" Type="http://schemas.openxmlformats.org/officeDocument/2006/relationships/image"/><Relationship Id="rId15" Target="../media/image33.png" Type="http://schemas.openxmlformats.org/officeDocument/2006/relationships/image"/><Relationship Id="rId16" Target="../media/image31.png" Type="http://schemas.openxmlformats.org/officeDocument/2006/relationships/image"/><Relationship Id="rId17" Target="../media/image30.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svg" Type="http://schemas.openxmlformats.org/officeDocument/2006/relationships/image"/><Relationship Id="rId11" Target="../media/image34.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3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3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3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40.png" Type="http://schemas.openxmlformats.org/officeDocument/2006/relationships/image"/><Relationship Id="rId15" Target="../media/image41.png" Type="http://schemas.openxmlformats.org/officeDocument/2006/relationships/image"/><Relationship Id="rId16" Target="../media/image42.png" Type="http://schemas.openxmlformats.org/officeDocument/2006/relationships/image"/><Relationship Id="rId17" Target="../media/image43.png" Type="http://schemas.openxmlformats.org/officeDocument/2006/relationships/image"/><Relationship Id="rId18" Target="../media/image4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35.png" Type="http://schemas.openxmlformats.org/officeDocument/2006/relationships/image"/><Relationship Id="rId8" Target="../media/image36.svg" Type="http://schemas.openxmlformats.org/officeDocument/2006/relationships/image"/><Relationship Id="rId9"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13" Target="../media/image45.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13" Target="../media/image46.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13" Target="../media/image47.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13" Target="../media/image48.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23.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12" Target="../media/image54.png" Type="http://schemas.openxmlformats.org/officeDocument/2006/relationships/image"/><Relationship Id="rId13" Target="../media/image55.png" Type="http://schemas.openxmlformats.org/officeDocument/2006/relationships/image"/><Relationship Id="rId2" Target="../media/image1.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png" Type="http://schemas.openxmlformats.org/officeDocument/2006/relationships/image"/><Relationship Id="rId11" Target="../media/image53.svg" Type="http://schemas.openxmlformats.org/officeDocument/2006/relationships/image"/><Relationship Id="rId12" Target="../media/image54.png" Type="http://schemas.openxmlformats.org/officeDocument/2006/relationships/image"/><Relationship Id="rId13" Target="../media/image55.png" Type="http://schemas.openxmlformats.org/officeDocument/2006/relationships/image"/><Relationship Id="rId2" Target="../media/image1.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 Id="rId5" Target="../media/image51.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5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13" Target="../media/image57.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13" Target="../media/image62.png" Type="http://schemas.openxmlformats.org/officeDocument/2006/relationships/image"/><Relationship Id="rId14" Target="../media/image63.svg" Type="http://schemas.openxmlformats.org/officeDocument/2006/relationships/image"/><Relationship Id="rId15" Target="../media/image64.png" Type="http://schemas.openxmlformats.org/officeDocument/2006/relationships/image"/><Relationship Id="rId16" Target="../media/image65.svg" Type="http://schemas.openxmlformats.org/officeDocument/2006/relationships/image"/><Relationship Id="rId17" Target="../media/image66.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5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13" Target="../media/image62.png" Type="http://schemas.openxmlformats.org/officeDocument/2006/relationships/image"/><Relationship Id="rId14" Target="../media/image63.svg" Type="http://schemas.openxmlformats.org/officeDocument/2006/relationships/image"/><Relationship Id="rId15" Target="../media/image64.png" Type="http://schemas.openxmlformats.org/officeDocument/2006/relationships/image"/><Relationship Id="rId16" Target="../media/image65.svg" Type="http://schemas.openxmlformats.org/officeDocument/2006/relationships/image"/><Relationship Id="rId17" Target="../media/image66.pn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5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5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2" Target="../media/image1.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2.png" Type="http://schemas.openxmlformats.org/officeDocument/2006/relationships/image"/><Relationship Id="rId8" Target="../media/image21.png" Type="http://schemas.openxmlformats.org/officeDocument/2006/relationships/image"/><Relationship Id="rId9" Target="../media/image5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64.png" Type="http://schemas.openxmlformats.org/officeDocument/2006/relationships/image"/><Relationship Id="rId15" Target="../media/image65.svg" Type="http://schemas.openxmlformats.org/officeDocument/2006/relationships/image"/><Relationship Id="rId16" Target="../media/image62.png" Type="http://schemas.openxmlformats.org/officeDocument/2006/relationships/image"/><Relationship Id="rId17" Target="../media/image63.svg" Type="http://schemas.openxmlformats.org/officeDocument/2006/relationships/image"/><Relationship Id="rId18" Target="../media/image67.png" Type="http://schemas.openxmlformats.org/officeDocument/2006/relationships/image"/><Relationship Id="rId19" Target="https://drive.google.com/drive/folders/1Az12-372jeYJDd-aMdf3LMare6QtpiXd?usp=drive_link" TargetMode="External" Type="http://schemas.openxmlformats.org/officeDocument/2006/relationships/hyperlink"/><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64.png" Type="http://schemas.openxmlformats.org/officeDocument/2006/relationships/image"/><Relationship Id="rId15" Target="../media/image65.svg" Type="http://schemas.openxmlformats.org/officeDocument/2006/relationships/image"/><Relationship Id="rId16" Target="../media/image62.png" Type="http://schemas.openxmlformats.org/officeDocument/2006/relationships/image"/><Relationship Id="rId17" Target="../media/image63.svg" Type="http://schemas.openxmlformats.org/officeDocument/2006/relationships/image"/><Relationship Id="rId18" Target="../media/image68.png" Type="http://schemas.openxmlformats.org/officeDocument/2006/relationships/image"/><Relationship Id="rId19" Target="https://drive.google.com/drive/folders/1Az12-372jeYJDd-aMdf3LMare6QtpiXd?usp=drive_link" TargetMode="External" Type="http://schemas.openxmlformats.org/officeDocument/2006/relationships/hyperlink"/><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64.png" Type="http://schemas.openxmlformats.org/officeDocument/2006/relationships/image"/><Relationship Id="rId15" Target="../media/image65.svg" Type="http://schemas.openxmlformats.org/officeDocument/2006/relationships/image"/><Relationship Id="rId16" Target="../media/image62.png" Type="http://schemas.openxmlformats.org/officeDocument/2006/relationships/image"/><Relationship Id="rId17" Target="../media/image63.svg" Type="http://schemas.openxmlformats.org/officeDocument/2006/relationships/image"/><Relationship Id="rId18" Target="../media/image69.png" Type="http://schemas.openxmlformats.org/officeDocument/2006/relationships/image"/><Relationship Id="rId19" Target="https://drive.google.com/drive/folders/1Az12-372jeYJDd-aMdf3LMare6QtpiXd?usp=drive_link" TargetMode="External" Type="http://schemas.openxmlformats.org/officeDocument/2006/relationships/hyperlink"/><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70.png" Type="http://schemas.openxmlformats.org/officeDocument/2006/relationships/image"/><Relationship Id="rId15" Target="../media/image71.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6.png" Type="http://schemas.openxmlformats.org/officeDocument/2006/relationships/image"/><Relationship Id="rId12" Target="../media/image7.svg" Type="http://schemas.openxmlformats.org/officeDocument/2006/relationships/image"/><Relationship Id="rId13" Target="../media/image70.png" Type="http://schemas.openxmlformats.org/officeDocument/2006/relationships/image"/><Relationship Id="rId14" Target="../media/image71.svg" Type="http://schemas.openxmlformats.org/officeDocument/2006/relationships/image"/><Relationship Id="rId15" Target="../media/image17.png" Type="http://schemas.openxmlformats.org/officeDocument/2006/relationships/image"/><Relationship Id="rId16" Target="../media/image18.svg" Type="http://schemas.openxmlformats.org/officeDocument/2006/relationships/image"/><Relationship Id="rId17" Target="../media/image72.png" Type="http://schemas.openxmlformats.org/officeDocument/2006/relationships/image"/><Relationship Id="rId18" Target="../media/image73.svg" Type="http://schemas.openxmlformats.org/officeDocument/2006/relationships/image"/><Relationship Id="rId19" Target="../media/image74.png" Type="http://schemas.openxmlformats.org/officeDocument/2006/relationships/image"/><Relationship Id="rId2" Target="../media/image1.png" Type="http://schemas.openxmlformats.org/officeDocument/2006/relationships/image"/><Relationship Id="rId20" Target="../media/image75.svg" Type="http://schemas.openxmlformats.org/officeDocument/2006/relationships/image"/><Relationship Id="rId21" Target="../media/image76.png" Type="http://schemas.openxmlformats.org/officeDocument/2006/relationships/image"/><Relationship Id="rId22" Target="../media/image77.svg" Type="http://schemas.openxmlformats.org/officeDocument/2006/relationships/image"/><Relationship Id="rId23" Target="https://drive.google.com/drive/folders/1Az12-372jeYJDd-aMdf3LMare6QtpiXd" TargetMode="External" Type="http://schemas.openxmlformats.org/officeDocument/2006/relationships/hyperlink"/><Relationship Id="rId24" Target="https://colab.research.google.com/drive/1GN20qhFWuI5D2Chhvpq79wgf7lIdoDaF?usp=sharing" TargetMode="External" Type="http://schemas.openxmlformats.org/officeDocument/2006/relationships/hyperlink"/><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49.pn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1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9637858" y="5442814"/>
            <a:ext cx="8760806" cy="2953122"/>
          </a:xfrm>
          <a:custGeom>
            <a:avLst/>
            <a:gdLst/>
            <a:ahLst/>
            <a:cxnLst/>
            <a:rect r="r" b="b" t="t" l="l"/>
            <a:pathLst>
              <a:path h="2953122" w="8760806">
                <a:moveTo>
                  <a:pt x="0" y="0"/>
                </a:moveTo>
                <a:lnTo>
                  <a:pt x="8760806" y="0"/>
                </a:lnTo>
                <a:lnTo>
                  <a:pt x="8760806" y="2953122"/>
                </a:lnTo>
                <a:lnTo>
                  <a:pt x="0" y="2953122"/>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5442814"/>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016257" y="8321755"/>
            <a:ext cx="21508973" cy="8368946"/>
          </a:xfrm>
          <a:custGeom>
            <a:avLst/>
            <a:gdLst/>
            <a:ahLst/>
            <a:cxnLst/>
            <a:rect r="r" b="b" t="t" l="l"/>
            <a:pathLst>
              <a:path h="8368946" w="21508973">
                <a:moveTo>
                  <a:pt x="0" y="0"/>
                </a:moveTo>
                <a:lnTo>
                  <a:pt x="21508973" y="0"/>
                </a:lnTo>
                <a:lnTo>
                  <a:pt x="21508973" y="8368946"/>
                </a:lnTo>
                <a:lnTo>
                  <a:pt x="0" y="83689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5828011" y="3301098"/>
            <a:ext cx="5633066" cy="6074875"/>
          </a:xfrm>
          <a:custGeom>
            <a:avLst/>
            <a:gdLst/>
            <a:ahLst/>
            <a:cxnLst/>
            <a:rect r="r" b="b" t="t" l="l"/>
            <a:pathLst>
              <a:path h="6074875" w="5633066">
                <a:moveTo>
                  <a:pt x="5633066" y="0"/>
                </a:moveTo>
                <a:lnTo>
                  <a:pt x="0" y="0"/>
                </a:lnTo>
                <a:lnTo>
                  <a:pt x="0" y="6074875"/>
                </a:lnTo>
                <a:lnTo>
                  <a:pt x="5633066" y="6074875"/>
                </a:lnTo>
                <a:lnTo>
                  <a:pt x="563306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2938113" y="6616566"/>
            <a:ext cx="5460551" cy="4150019"/>
          </a:xfrm>
          <a:custGeom>
            <a:avLst/>
            <a:gdLst/>
            <a:ahLst/>
            <a:cxnLst/>
            <a:rect r="r" b="b" t="t" l="l"/>
            <a:pathLst>
              <a:path h="4150019" w="5460551">
                <a:moveTo>
                  <a:pt x="0" y="0"/>
                </a:moveTo>
                <a:lnTo>
                  <a:pt x="5460551" y="0"/>
                </a:lnTo>
                <a:lnTo>
                  <a:pt x="5460551" y="4150019"/>
                </a:lnTo>
                <a:lnTo>
                  <a:pt x="0" y="4150019"/>
                </a:lnTo>
                <a:lnTo>
                  <a:pt x="0" y="0"/>
                </a:lnTo>
                <a:close/>
              </a:path>
            </a:pathLst>
          </a:custGeom>
          <a:blipFill>
            <a:blip r:embed="rId9"/>
            <a:stretch>
              <a:fillRect l="0" t="0" r="0" b="0"/>
            </a:stretch>
          </a:blipFill>
        </p:spPr>
      </p:sp>
      <p:sp>
        <p:nvSpPr>
          <p:cNvPr name="Freeform 8" id="8"/>
          <p:cNvSpPr/>
          <p:nvPr/>
        </p:nvSpPr>
        <p:spPr>
          <a:xfrm flipH="false" flipV="false" rot="0">
            <a:off x="6417901" y="6521213"/>
            <a:ext cx="4034829" cy="3601085"/>
          </a:xfrm>
          <a:custGeom>
            <a:avLst/>
            <a:gdLst/>
            <a:ahLst/>
            <a:cxnLst/>
            <a:rect r="r" b="b" t="t" l="l"/>
            <a:pathLst>
              <a:path h="3601085" w="4034829">
                <a:moveTo>
                  <a:pt x="0" y="0"/>
                </a:moveTo>
                <a:lnTo>
                  <a:pt x="4034829" y="0"/>
                </a:lnTo>
                <a:lnTo>
                  <a:pt x="4034829" y="3601085"/>
                </a:lnTo>
                <a:lnTo>
                  <a:pt x="0" y="3601085"/>
                </a:lnTo>
                <a:lnTo>
                  <a:pt x="0" y="0"/>
                </a:lnTo>
                <a:close/>
              </a:path>
            </a:pathLst>
          </a:custGeom>
          <a:blipFill>
            <a:blip r:embed="rId10"/>
            <a:stretch>
              <a:fillRect l="0" t="0" r="0" b="0"/>
            </a:stretch>
          </a:blipFill>
        </p:spPr>
      </p:sp>
      <p:sp>
        <p:nvSpPr>
          <p:cNvPr name="Freeform 9" id="9"/>
          <p:cNvSpPr/>
          <p:nvPr/>
        </p:nvSpPr>
        <p:spPr>
          <a:xfrm flipH="false" flipV="false" rot="0">
            <a:off x="-2816533" y="3183425"/>
            <a:ext cx="5633066" cy="6074875"/>
          </a:xfrm>
          <a:custGeom>
            <a:avLst/>
            <a:gdLst/>
            <a:ahLst/>
            <a:cxnLst/>
            <a:rect r="r" b="b" t="t" l="l"/>
            <a:pathLst>
              <a:path h="6074875" w="5633066">
                <a:moveTo>
                  <a:pt x="0" y="0"/>
                </a:moveTo>
                <a:lnTo>
                  <a:pt x="5633066" y="0"/>
                </a:lnTo>
                <a:lnTo>
                  <a:pt x="5633066" y="6074875"/>
                </a:lnTo>
                <a:lnTo>
                  <a:pt x="0" y="607487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false" rot="0">
            <a:off x="-262014" y="6205519"/>
            <a:ext cx="3663013" cy="4232473"/>
          </a:xfrm>
          <a:custGeom>
            <a:avLst/>
            <a:gdLst/>
            <a:ahLst/>
            <a:cxnLst/>
            <a:rect r="r" b="b" t="t" l="l"/>
            <a:pathLst>
              <a:path h="4232473" w="3663013">
                <a:moveTo>
                  <a:pt x="3663013" y="0"/>
                </a:moveTo>
                <a:lnTo>
                  <a:pt x="0" y="0"/>
                </a:lnTo>
                <a:lnTo>
                  <a:pt x="0" y="4232473"/>
                </a:lnTo>
                <a:lnTo>
                  <a:pt x="3663013" y="4232473"/>
                </a:lnTo>
                <a:lnTo>
                  <a:pt x="3663013"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1" id="11"/>
          <p:cNvSpPr txBox="true"/>
          <p:nvPr/>
        </p:nvSpPr>
        <p:spPr>
          <a:xfrm rot="0">
            <a:off x="661513" y="2572899"/>
            <a:ext cx="17377419" cy="1223248"/>
          </a:xfrm>
          <a:prstGeom prst="rect">
            <a:avLst/>
          </a:prstGeom>
        </p:spPr>
        <p:txBody>
          <a:bodyPr anchor="t" rtlCol="false" tIns="0" lIns="0" bIns="0" rIns="0">
            <a:spAutoFit/>
          </a:bodyPr>
          <a:lstStyle/>
          <a:p>
            <a:pPr algn="ctr">
              <a:lnSpc>
                <a:spcPts val="8034"/>
              </a:lnSpc>
            </a:pPr>
            <a:r>
              <a:rPr lang="en-US" sz="8034">
                <a:solidFill>
                  <a:srgbClr val="737373"/>
                </a:solidFill>
                <a:latin typeface="Funtastic"/>
                <a:ea typeface="Funtastic"/>
                <a:cs typeface="Funtastic"/>
                <a:sym typeface="Funtastic"/>
              </a:rPr>
              <a:t>ADDRESSING </a:t>
            </a:r>
            <a:r>
              <a:rPr lang="en-US" sz="8034">
                <a:solidFill>
                  <a:srgbClr val="000000"/>
                </a:solidFill>
                <a:latin typeface="Funtastic"/>
                <a:ea typeface="Funtastic"/>
                <a:cs typeface="Funtastic"/>
                <a:sym typeface="Funtastic"/>
              </a:rPr>
              <a:t>REGIONAL </a:t>
            </a:r>
            <a:r>
              <a:rPr lang="en-US" sz="8034">
                <a:solidFill>
                  <a:srgbClr val="7A4E3F"/>
                </a:solidFill>
                <a:latin typeface="Funtastic"/>
                <a:ea typeface="Funtastic"/>
                <a:cs typeface="Funtastic"/>
                <a:sym typeface="Funtastic"/>
              </a:rPr>
              <a:t>DISPARITIES</a:t>
            </a:r>
          </a:p>
        </p:txBody>
      </p:sp>
      <p:grpSp>
        <p:nvGrpSpPr>
          <p:cNvPr name="Group 12" id="12"/>
          <p:cNvGrpSpPr/>
          <p:nvPr/>
        </p:nvGrpSpPr>
        <p:grpSpPr>
          <a:xfrm rot="0">
            <a:off x="3262929" y="3772190"/>
            <a:ext cx="11762142" cy="662303"/>
            <a:chOff x="0" y="0"/>
            <a:chExt cx="3097848" cy="174434"/>
          </a:xfrm>
        </p:grpSpPr>
        <p:sp>
          <p:nvSpPr>
            <p:cNvPr name="Freeform 13" id="13"/>
            <p:cNvSpPr/>
            <p:nvPr/>
          </p:nvSpPr>
          <p:spPr>
            <a:xfrm flipH="false" flipV="false" rot="0">
              <a:off x="0" y="0"/>
              <a:ext cx="3097848" cy="174434"/>
            </a:xfrm>
            <a:custGeom>
              <a:avLst/>
              <a:gdLst/>
              <a:ahLst/>
              <a:cxnLst/>
              <a:rect r="r" b="b" t="t" l="l"/>
              <a:pathLst>
                <a:path h="174434" w="3097848">
                  <a:moveTo>
                    <a:pt x="10531" y="0"/>
                  </a:moveTo>
                  <a:lnTo>
                    <a:pt x="3087317" y="0"/>
                  </a:lnTo>
                  <a:cubicBezTo>
                    <a:pt x="3093133" y="0"/>
                    <a:pt x="3097848" y="4715"/>
                    <a:pt x="3097848" y="10531"/>
                  </a:cubicBezTo>
                  <a:lnTo>
                    <a:pt x="3097848" y="163902"/>
                  </a:lnTo>
                  <a:cubicBezTo>
                    <a:pt x="3097848" y="169719"/>
                    <a:pt x="3093133" y="174434"/>
                    <a:pt x="3087317" y="174434"/>
                  </a:cubicBezTo>
                  <a:lnTo>
                    <a:pt x="10531" y="174434"/>
                  </a:lnTo>
                  <a:cubicBezTo>
                    <a:pt x="4715" y="174434"/>
                    <a:pt x="0" y="169719"/>
                    <a:pt x="0" y="163902"/>
                  </a:cubicBezTo>
                  <a:lnTo>
                    <a:pt x="0" y="10531"/>
                  </a:lnTo>
                  <a:cubicBezTo>
                    <a:pt x="0" y="4715"/>
                    <a:pt x="4715" y="0"/>
                    <a:pt x="10531" y="0"/>
                  </a:cubicBezTo>
                  <a:close/>
                </a:path>
              </a:pathLst>
            </a:custGeom>
            <a:solidFill>
              <a:srgbClr val="FFFFFF"/>
            </a:solidFill>
          </p:spPr>
        </p:sp>
        <p:sp>
          <p:nvSpPr>
            <p:cNvPr name="TextBox 14" id="14"/>
            <p:cNvSpPr txBox="true"/>
            <p:nvPr/>
          </p:nvSpPr>
          <p:spPr>
            <a:xfrm>
              <a:off x="0" y="-47625"/>
              <a:ext cx="3097848" cy="222059"/>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1023765" y="498252"/>
            <a:ext cx="5186516" cy="2638640"/>
          </a:xfrm>
          <a:custGeom>
            <a:avLst/>
            <a:gdLst/>
            <a:ahLst/>
            <a:cxnLst/>
            <a:rect r="r" b="b" t="t" l="l"/>
            <a:pathLst>
              <a:path h="2638640" w="5186516">
                <a:moveTo>
                  <a:pt x="0" y="0"/>
                </a:moveTo>
                <a:lnTo>
                  <a:pt x="5186515" y="0"/>
                </a:lnTo>
                <a:lnTo>
                  <a:pt x="5186515" y="2638640"/>
                </a:lnTo>
                <a:lnTo>
                  <a:pt x="0" y="2638640"/>
                </a:lnTo>
                <a:lnTo>
                  <a:pt x="0" y="0"/>
                </a:lnTo>
                <a:close/>
              </a:path>
            </a:pathLst>
          </a:custGeom>
          <a:blipFill>
            <a:blip r:embed="rId13">
              <a:alphaModFix amt="75000"/>
            </a:blip>
            <a:stretch>
              <a:fillRect l="0" t="0" r="0" b="0"/>
            </a:stretch>
          </a:blipFill>
        </p:spPr>
      </p:sp>
      <p:sp>
        <p:nvSpPr>
          <p:cNvPr name="TextBox 16" id="16"/>
          <p:cNvSpPr txBox="true"/>
          <p:nvPr/>
        </p:nvSpPr>
        <p:spPr>
          <a:xfrm rot="0">
            <a:off x="4591581" y="3842454"/>
            <a:ext cx="9104838" cy="445575"/>
          </a:xfrm>
          <a:prstGeom prst="rect">
            <a:avLst/>
          </a:prstGeom>
        </p:spPr>
        <p:txBody>
          <a:bodyPr anchor="t" rtlCol="false" tIns="0" lIns="0" bIns="0" rIns="0">
            <a:spAutoFit/>
          </a:bodyPr>
          <a:lstStyle/>
          <a:p>
            <a:pPr algn="ctr">
              <a:lnSpc>
                <a:spcPts val="3422"/>
              </a:lnSpc>
              <a:spcBef>
                <a:spcPct val="0"/>
              </a:spcBef>
            </a:pPr>
            <a:r>
              <a:rPr lang="en-US" b="true" sz="2444">
                <a:solidFill>
                  <a:srgbClr val="608F47"/>
                </a:solidFill>
                <a:latin typeface="Poppins Bold"/>
                <a:ea typeface="Poppins Bold"/>
                <a:cs typeface="Poppins Bold"/>
                <a:sym typeface="Poppins Bold"/>
              </a:rPr>
              <a:t>Ensuring sustainable hazardous waste management</a:t>
            </a:r>
          </a:p>
        </p:txBody>
      </p:sp>
      <p:sp>
        <p:nvSpPr>
          <p:cNvPr name="Freeform 17" id="17"/>
          <p:cNvSpPr/>
          <p:nvPr/>
        </p:nvSpPr>
        <p:spPr>
          <a:xfrm flipH="true" flipV="false" rot="0">
            <a:off x="14124126" y="498252"/>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13">
              <a:alphaModFix amt="75000"/>
            </a:blip>
            <a:stretch>
              <a:fillRect l="0" t="0" r="0" b="0"/>
            </a:stretch>
          </a:blipFill>
        </p:spPr>
      </p:sp>
      <p:sp>
        <p:nvSpPr>
          <p:cNvPr name="TextBox 18" id="18"/>
          <p:cNvSpPr txBox="true"/>
          <p:nvPr/>
        </p:nvSpPr>
        <p:spPr>
          <a:xfrm rot="0">
            <a:off x="2892718" y="359039"/>
            <a:ext cx="12502565" cy="2378135"/>
          </a:xfrm>
          <a:prstGeom prst="rect">
            <a:avLst/>
          </a:prstGeom>
        </p:spPr>
        <p:txBody>
          <a:bodyPr anchor="t" rtlCol="false" tIns="0" lIns="0" bIns="0" rIns="0">
            <a:spAutoFit/>
          </a:bodyPr>
          <a:lstStyle/>
          <a:p>
            <a:pPr algn="ctr">
              <a:lnSpc>
                <a:spcPts val="5877"/>
              </a:lnSpc>
            </a:pPr>
            <a:r>
              <a:rPr lang="en-US" sz="5877">
                <a:solidFill>
                  <a:srgbClr val="000000"/>
                </a:solidFill>
                <a:latin typeface="Funtastic"/>
                <a:ea typeface="Funtastic"/>
                <a:cs typeface="Funtastic"/>
                <a:sym typeface="Funtastic"/>
              </a:rPr>
              <a:t>OPTIMIZING </a:t>
            </a:r>
            <a:r>
              <a:rPr lang="en-US" sz="5877">
                <a:solidFill>
                  <a:srgbClr val="FF3131"/>
                </a:solidFill>
                <a:latin typeface="Funtastic"/>
                <a:ea typeface="Funtastic"/>
                <a:cs typeface="Funtastic"/>
                <a:sym typeface="Funtastic"/>
              </a:rPr>
              <a:t>HAZARDOUS WASTE</a:t>
            </a:r>
            <a:r>
              <a:rPr lang="en-US" sz="5877">
                <a:solidFill>
                  <a:srgbClr val="000000"/>
                </a:solidFill>
                <a:latin typeface="Funtastic"/>
                <a:ea typeface="Funtastic"/>
                <a:cs typeface="Funtastic"/>
                <a:sym typeface="Funtastic"/>
              </a:rPr>
              <a:t> </a:t>
            </a:r>
            <a:r>
              <a:rPr lang="en-US" sz="5877">
                <a:solidFill>
                  <a:srgbClr val="00BF63"/>
                </a:solidFill>
                <a:latin typeface="Funtastic"/>
                <a:ea typeface="Funtastic"/>
                <a:cs typeface="Funtastic"/>
                <a:sym typeface="Funtastic"/>
              </a:rPr>
              <a:t>MANAGEMENT FACILITIES </a:t>
            </a:r>
            <a:r>
              <a:rPr lang="en-US" sz="5877">
                <a:solidFill>
                  <a:srgbClr val="000000"/>
                </a:solidFill>
                <a:latin typeface="Funtastic"/>
                <a:ea typeface="Funtastic"/>
                <a:cs typeface="Funtastic"/>
                <a:sym typeface="Funtastic"/>
              </a:rPr>
              <a:t>IN THE </a:t>
            </a:r>
            <a:r>
              <a:rPr lang="en-US" sz="5877">
                <a:solidFill>
                  <a:srgbClr val="004AAD"/>
                </a:solidFill>
                <a:latin typeface="Funtastic"/>
                <a:ea typeface="Funtastic"/>
                <a:cs typeface="Funtastic"/>
                <a:sym typeface="Funtastic"/>
              </a:rPr>
              <a:t>PHILIPPINES</a:t>
            </a:r>
            <a:r>
              <a:rPr lang="en-US" sz="5877">
                <a:solidFill>
                  <a:srgbClr val="000000"/>
                </a:solidFill>
                <a:latin typeface="Funtastic"/>
                <a:ea typeface="Funtastic"/>
                <a:cs typeface="Funtastic"/>
                <a:sym typeface="Funtastic"/>
              </a:rPr>
              <a:t>: </a:t>
            </a:r>
          </a:p>
        </p:txBody>
      </p:sp>
      <p:grpSp>
        <p:nvGrpSpPr>
          <p:cNvPr name="Group 19" id="19"/>
          <p:cNvGrpSpPr/>
          <p:nvPr/>
        </p:nvGrpSpPr>
        <p:grpSpPr>
          <a:xfrm rot="0">
            <a:off x="2273412" y="5819349"/>
            <a:ext cx="14728892" cy="3956941"/>
            <a:chOff x="0" y="0"/>
            <a:chExt cx="3559169" cy="956177"/>
          </a:xfrm>
        </p:grpSpPr>
        <p:sp>
          <p:nvSpPr>
            <p:cNvPr name="Freeform 20" id="20"/>
            <p:cNvSpPr/>
            <p:nvPr/>
          </p:nvSpPr>
          <p:spPr>
            <a:xfrm flipH="false" flipV="false" rot="0">
              <a:off x="0" y="0"/>
              <a:ext cx="3559169" cy="956177"/>
            </a:xfrm>
            <a:custGeom>
              <a:avLst/>
              <a:gdLst/>
              <a:ahLst/>
              <a:cxnLst/>
              <a:rect r="r" b="b" t="t" l="l"/>
              <a:pathLst>
                <a:path h="956177" w="3559169">
                  <a:moveTo>
                    <a:pt x="8410" y="0"/>
                  </a:moveTo>
                  <a:lnTo>
                    <a:pt x="3550759" y="0"/>
                  </a:lnTo>
                  <a:cubicBezTo>
                    <a:pt x="3552990" y="0"/>
                    <a:pt x="3555129" y="886"/>
                    <a:pt x="3556706" y="2463"/>
                  </a:cubicBezTo>
                  <a:cubicBezTo>
                    <a:pt x="3558283" y="4040"/>
                    <a:pt x="3559169" y="6180"/>
                    <a:pt x="3559169" y="8410"/>
                  </a:cubicBezTo>
                  <a:lnTo>
                    <a:pt x="3559169" y="947767"/>
                  </a:lnTo>
                  <a:cubicBezTo>
                    <a:pt x="3559169" y="949997"/>
                    <a:pt x="3558283" y="952136"/>
                    <a:pt x="3556706" y="953713"/>
                  </a:cubicBezTo>
                  <a:cubicBezTo>
                    <a:pt x="3555129" y="955291"/>
                    <a:pt x="3552990" y="956177"/>
                    <a:pt x="3550759" y="956177"/>
                  </a:cubicBezTo>
                  <a:lnTo>
                    <a:pt x="8410" y="956177"/>
                  </a:lnTo>
                  <a:cubicBezTo>
                    <a:pt x="3765" y="956177"/>
                    <a:pt x="0" y="952411"/>
                    <a:pt x="0" y="947767"/>
                  </a:cubicBezTo>
                  <a:lnTo>
                    <a:pt x="0" y="8410"/>
                  </a:lnTo>
                  <a:cubicBezTo>
                    <a:pt x="0" y="3765"/>
                    <a:pt x="3765" y="0"/>
                    <a:pt x="8410" y="0"/>
                  </a:cubicBezTo>
                  <a:close/>
                </a:path>
              </a:pathLst>
            </a:custGeom>
            <a:solidFill>
              <a:srgbClr val="FFFFFF"/>
            </a:solidFill>
          </p:spPr>
        </p:sp>
        <p:sp>
          <p:nvSpPr>
            <p:cNvPr name="TextBox 21" id="21"/>
            <p:cNvSpPr txBox="true"/>
            <p:nvPr/>
          </p:nvSpPr>
          <p:spPr>
            <a:xfrm>
              <a:off x="0" y="-47625"/>
              <a:ext cx="3559169" cy="1003802"/>
            </a:xfrm>
            <a:prstGeom prst="rect">
              <a:avLst/>
            </a:prstGeom>
          </p:spPr>
          <p:txBody>
            <a:bodyPr anchor="ctr" rtlCol="false" tIns="50800" lIns="50800" bIns="50800" rIns="50800"/>
            <a:lstStyle/>
            <a:p>
              <a:pPr algn="ctr">
                <a:lnSpc>
                  <a:spcPts val="3499"/>
                </a:lnSpc>
              </a:pPr>
            </a:p>
          </p:txBody>
        </p:sp>
      </p:grpSp>
      <p:sp>
        <p:nvSpPr>
          <p:cNvPr name="TextBox 22" id="22"/>
          <p:cNvSpPr txBox="true"/>
          <p:nvPr/>
        </p:nvSpPr>
        <p:spPr>
          <a:xfrm rot="0">
            <a:off x="2592730" y="5999438"/>
            <a:ext cx="14090256" cy="3481392"/>
          </a:xfrm>
          <a:prstGeom prst="rect">
            <a:avLst/>
          </a:prstGeom>
        </p:spPr>
        <p:txBody>
          <a:bodyPr anchor="t" rtlCol="false" tIns="0" lIns="0" bIns="0" rIns="0">
            <a:spAutoFit/>
          </a:bodyPr>
          <a:lstStyle/>
          <a:p>
            <a:pPr algn="just" marL="0" indent="0" lvl="0">
              <a:lnSpc>
                <a:spcPts val="3937"/>
              </a:lnSpc>
              <a:spcBef>
                <a:spcPct val="0"/>
              </a:spcBef>
            </a:pPr>
            <a:r>
              <a:rPr lang="en-US" sz="2812">
                <a:solidFill>
                  <a:srgbClr val="000000"/>
                </a:solidFill>
                <a:latin typeface="Poppins"/>
                <a:ea typeface="Poppins"/>
                <a:cs typeface="Poppins"/>
                <a:sym typeface="Poppins"/>
              </a:rPr>
              <a:t>This project aims to analyze the </a:t>
            </a:r>
            <a:r>
              <a:rPr lang="en-US" sz="2812" i="true">
                <a:solidFill>
                  <a:srgbClr val="000000"/>
                </a:solidFill>
                <a:latin typeface="Poppins Italics"/>
                <a:ea typeface="Poppins Italics"/>
                <a:cs typeface="Poppins Italics"/>
                <a:sym typeface="Poppins Italics"/>
              </a:rPr>
              <a:t>total hazardous waste</a:t>
            </a:r>
            <a:r>
              <a:rPr lang="en-US" sz="2812">
                <a:solidFill>
                  <a:srgbClr val="000000"/>
                </a:solidFill>
                <a:latin typeface="Poppins"/>
                <a:ea typeface="Poppins"/>
                <a:cs typeface="Poppins"/>
                <a:sym typeface="Poppins"/>
              </a:rPr>
              <a:t> generated by various regions in the country and compare it with the </a:t>
            </a:r>
            <a:r>
              <a:rPr lang="en-US" sz="2812" i="true">
                <a:solidFill>
                  <a:srgbClr val="000000"/>
                </a:solidFill>
                <a:latin typeface="Poppins Italics"/>
                <a:ea typeface="Poppins Italics"/>
                <a:cs typeface="Poppins Italics"/>
                <a:sym typeface="Poppins Italics"/>
              </a:rPr>
              <a:t>number of registered Treatment, Storage, and Disposal (TSD) facilities</a:t>
            </a:r>
            <a:r>
              <a:rPr lang="en-US" sz="2812">
                <a:solidFill>
                  <a:srgbClr val="000000"/>
                </a:solidFill>
                <a:latin typeface="Poppins"/>
                <a:ea typeface="Poppins"/>
                <a:cs typeface="Poppins"/>
                <a:sym typeface="Poppins"/>
              </a:rPr>
              <a:t>. By examining this relationship, we can determine whether there is a </a:t>
            </a:r>
            <a:r>
              <a:rPr lang="en-US" sz="2812" i="true">
                <a:solidFill>
                  <a:srgbClr val="000000"/>
                </a:solidFill>
                <a:latin typeface="Poppins Italics"/>
                <a:ea typeface="Poppins Italics"/>
                <a:cs typeface="Poppins Italics"/>
                <a:sym typeface="Poppins Italics"/>
              </a:rPr>
              <a:t>complementary balance</a:t>
            </a:r>
            <a:r>
              <a:rPr lang="en-US" sz="2812">
                <a:solidFill>
                  <a:srgbClr val="000000"/>
                </a:solidFill>
                <a:latin typeface="Poppins"/>
                <a:ea typeface="Poppins"/>
                <a:cs typeface="Poppins"/>
                <a:sym typeface="Poppins"/>
              </a:rPr>
              <a:t> between waste generation and facility availability. This analysis will highlight </a:t>
            </a:r>
            <a:r>
              <a:rPr lang="en-US" sz="2812" i="true">
                <a:solidFill>
                  <a:srgbClr val="000000"/>
                </a:solidFill>
                <a:latin typeface="Poppins Italics"/>
                <a:ea typeface="Poppins Italics"/>
                <a:cs typeface="Poppins Italics"/>
                <a:sym typeface="Poppins Italics"/>
              </a:rPr>
              <a:t>potential gaps and inconsistencies</a:t>
            </a:r>
            <a:r>
              <a:rPr lang="en-US" sz="2812">
                <a:solidFill>
                  <a:srgbClr val="000000"/>
                </a:solidFill>
                <a:latin typeface="Poppins"/>
                <a:ea typeface="Poppins"/>
                <a:cs typeface="Poppins"/>
                <a:sym typeface="Poppins"/>
              </a:rPr>
              <a:t> in hazardous waste management across the Philippines, guiding </a:t>
            </a:r>
            <a:r>
              <a:rPr lang="en-US" sz="2812" i="true">
                <a:solidFill>
                  <a:srgbClr val="000000"/>
                </a:solidFill>
                <a:latin typeface="Poppins Italics"/>
                <a:ea typeface="Poppins Italics"/>
                <a:cs typeface="Poppins Italics"/>
                <a:sym typeface="Poppins Italics"/>
              </a:rPr>
              <a:t>strategies for enhancement and sustainability</a:t>
            </a:r>
            <a:r>
              <a:rPr lang="en-US" sz="2812">
                <a:solidFill>
                  <a:srgbClr val="000000"/>
                </a:solidFill>
                <a:latin typeface="Poppins"/>
                <a:ea typeface="Poppins"/>
                <a:cs typeface="Poppins"/>
                <a:sym typeface="Poppins"/>
              </a:rPr>
              <a:t>.</a:t>
            </a:r>
          </a:p>
        </p:txBody>
      </p:sp>
      <p:grpSp>
        <p:nvGrpSpPr>
          <p:cNvPr name="Group 23" id="23"/>
          <p:cNvGrpSpPr/>
          <p:nvPr/>
        </p:nvGrpSpPr>
        <p:grpSpPr>
          <a:xfrm rot="0">
            <a:off x="6357087" y="4701193"/>
            <a:ext cx="5573825" cy="842729"/>
            <a:chOff x="0" y="0"/>
            <a:chExt cx="1468003" cy="221953"/>
          </a:xfrm>
        </p:grpSpPr>
        <p:sp>
          <p:nvSpPr>
            <p:cNvPr name="Freeform 24" id="24"/>
            <p:cNvSpPr/>
            <p:nvPr/>
          </p:nvSpPr>
          <p:spPr>
            <a:xfrm flipH="false" flipV="false" rot="0">
              <a:off x="0" y="0"/>
              <a:ext cx="1468003" cy="221953"/>
            </a:xfrm>
            <a:custGeom>
              <a:avLst/>
              <a:gdLst/>
              <a:ahLst/>
              <a:cxnLst/>
              <a:rect r="r" b="b" t="t" l="l"/>
              <a:pathLst>
                <a:path h="221953" w="1468003">
                  <a:moveTo>
                    <a:pt x="22224" y="0"/>
                  </a:moveTo>
                  <a:lnTo>
                    <a:pt x="1445780" y="0"/>
                  </a:lnTo>
                  <a:cubicBezTo>
                    <a:pt x="1458054" y="0"/>
                    <a:pt x="1468003" y="9950"/>
                    <a:pt x="1468003" y="22224"/>
                  </a:cubicBezTo>
                  <a:lnTo>
                    <a:pt x="1468003" y="199730"/>
                  </a:lnTo>
                  <a:cubicBezTo>
                    <a:pt x="1468003" y="205624"/>
                    <a:pt x="1465662" y="211277"/>
                    <a:pt x="1461494" y="215444"/>
                  </a:cubicBezTo>
                  <a:cubicBezTo>
                    <a:pt x="1457327" y="219612"/>
                    <a:pt x="1451674" y="221953"/>
                    <a:pt x="1445780" y="221953"/>
                  </a:cubicBezTo>
                  <a:lnTo>
                    <a:pt x="22224" y="221953"/>
                  </a:lnTo>
                  <a:cubicBezTo>
                    <a:pt x="16330" y="221953"/>
                    <a:pt x="10677" y="219612"/>
                    <a:pt x="6509" y="215444"/>
                  </a:cubicBezTo>
                  <a:cubicBezTo>
                    <a:pt x="2341" y="211277"/>
                    <a:pt x="0" y="205624"/>
                    <a:pt x="0" y="199730"/>
                  </a:cubicBezTo>
                  <a:lnTo>
                    <a:pt x="0" y="22224"/>
                  </a:lnTo>
                  <a:cubicBezTo>
                    <a:pt x="0" y="16330"/>
                    <a:pt x="2341" y="10677"/>
                    <a:pt x="6509" y="6509"/>
                  </a:cubicBezTo>
                  <a:cubicBezTo>
                    <a:pt x="10677" y="2341"/>
                    <a:pt x="16330" y="0"/>
                    <a:pt x="22224" y="0"/>
                  </a:cubicBezTo>
                  <a:close/>
                </a:path>
              </a:pathLst>
            </a:custGeom>
            <a:solidFill>
              <a:srgbClr val="FFFFFF"/>
            </a:solidFill>
          </p:spPr>
        </p:sp>
        <p:sp>
          <p:nvSpPr>
            <p:cNvPr name="TextBox 25" id="25"/>
            <p:cNvSpPr txBox="true"/>
            <p:nvPr/>
          </p:nvSpPr>
          <p:spPr>
            <a:xfrm>
              <a:off x="0" y="-47625"/>
              <a:ext cx="1468003" cy="269578"/>
            </a:xfrm>
            <a:prstGeom prst="rect">
              <a:avLst/>
            </a:prstGeom>
          </p:spPr>
          <p:txBody>
            <a:bodyPr anchor="ctr" rtlCol="false" tIns="50800" lIns="50800" bIns="50800" rIns="50800"/>
            <a:lstStyle/>
            <a:p>
              <a:pPr algn="ctr">
                <a:lnSpc>
                  <a:spcPts val="3499"/>
                </a:lnSpc>
              </a:pPr>
            </a:p>
          </p:txBody>
        </p:sp>
      </p:grpSp>
      <p:sp>
        <p:nvSpPr>
          <p:cNvPr name="TextBox 26" id="26"/>
          <p:cNvSpPr txBox="true"/>
          <p:nvPr/>
        </p:nvSpPr>
        <p:spPr>
          <a:xfrm rot="0">
            <a:off x="4591581" y="4666877"/>
            <a:ext cx="9104838" cy="871355"/>
          </a:xfrm>
          <a:prstGeom prst="rect">
            <a:avLst/>
          </a:prstGeom>
        </p:spPr>
        <p:txBody>
          <a:bodyPr anchor="t" rtlCol="false" tIns="0" lIns="0" bIns="0" rIns="0">
            <a:spAutoFit/>
          </a:bodyPr>
          <a:lstStyle/>
          <a:p>
            <a:pPr algn="ctr">
              <a:lnSpc>
                <a:spcPts val="3422"/>
              </a:lnSpc>
            </a:pPr>
            <a:r>
              <a:rPr lang="en-US" sz="2444" b="true">
                <a:solidFill>
                  <a:srgbClr val="205D1C"/>
                </a:solidFill>
                <a:latin typeface="Poppins Bold"/>
                <a:ea typeface="Poppins Bold"/>
                <a:cs typeface="Poppins Bold"/>
                <a:sym typeface="Poppins Bold"/>
              </a:rPr>
              <a:t>BY: RELATIVO, Muffle P. </a:t>
            </a:r>
          </a:p>
          <a:p>
            <a:pPr algn="ctr">
              <a:lnSpc>
                <a:spcPts val="3422"/>
              </a:lnSpc>
              <a:spcBef>
                <a:spcPct val="0"/>
              </a:spcBef>
            </a:pPr>
            <a:r>
              <a:rPr lang="en-US" b="true" sz="2444">
                <a:solidFill>
                  <a:srgbClr val="205D1C"/>
                </a:solidFill>
                <a:latin typeface="Poppins Bold"/>
                <a:ea typeface="Poppins Bold"/>
                <a:cs typeface="Poppins Bold"/>
                <a:sym typeface="Poppins Bold"/>
              </a:rPr>
              <a:t>BSCPE III-IE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8650142" y="505419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53429" y="505419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91942" y="7926045"/>
            <a:ext cx="31322026" cy="12187116"/>
          </a:xfrm>
          <a:custGeom>
            <a:avLst/>
            <a:gdLst/>
            <a:ahLst/>
            <a:cxnLst/>
            <a:rect r="r" b="b" t="t" l="l"/>
            <a:pathLst>
              <a:path h="12187116" w="31322026">
                <a:moveTo>
                  <a:pt x="0" y="0"/>
                </a:moveTo>
                <a:lnTo>
                  <a:pt x="31322026" y="0"/>
                </a:lnTo>
                <a:lnTo>
                  <a:pt x="31322026" y="12187115"/>
                </a:lnTo>
                <a:lnTo>
                  <a:pt x="0" y="121871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2325200" y="83197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Freeform 7" id="7"/>
          <p:cNvSpPr/>
          <p:nvPr/>
        </p:nvSpPr>
        <p:spPr>
          <a:xfrm flipH="false" flipV="false" rot="0">
            <a:off x="14241437" y="1153119"/>
            <a:ext cx="7234714" cy="7802142"/>
          </a:xfrm>
          <a:custGeom>
            <a:avLst/>
            <a:gdLst/>
            <a:ahLst/>
            <a:cxnLst/>
            <a:rect r="r" b="b" t="t" l="l"/>
            <a:pathLst>
              <a:path h="7802142" w="7234714">
                <a:moveTo>
                  <a:pt x="0" y="0"/>
                </a:moveTo>
                <a:lnTo>
                  <a:pt x="7234714" y="0"/>
                </a:lnTo>
                <a:lnTo>
                  <a:pt x="7234714" y="7802142"/>
                </a:lnTo>
                <a:lnTo>
                  <a:pt x="0" y="78021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35764" y="831970"/>
            <a:ext cx="5186516" cy="2638640"/>
          </a:xfrm>
          <a:custGeom>
            <a:avLst/>
            <a:gdLst/>
            <a:ahLst/>
            <a:cxnLst/>
            <a:rect r="r" b="b" t="t" l="l"/>
            <a:pathLst>
              <a:path h="2638640" w="5186516">
                <a:moveTo>
                  <a:pt x="0" y="0"/>
                </a:moveTo>
                <a:lnTo>
                  <a:pt x="5186515" y="0"/>
                </a:lnTo>
                <a:lnTo>
                  <a:pt x="5186515" y="2638640"/>
                </a:lnTo>
                <a:lnTo>
                  <a:pt x="0" y="2638640"/>
                </a:lnTo>
                <a:lnTo>
                  <a:pt x="0" y="0"/>
                </a:lnTo>
                <a:close/>
              </a:path>
            </a:pathLst>
          </a:custGeom>
          <a:blipFill>
            <a:blip r:embed="rId7">
              <a:alphaModFix amt="75000"/>
            </a:blip>
            <a:stretch>
              <a:fillRect l="0" t="0" r="0" b="0"/>
            </a:stretch>
          </a:blipFill>
        </p:spPr>
      </p:sp>
      <p:sp>
        <p:nvSpPr>
          <p:cNvPr name="Freeform 9" id="9"/>
          <p:cNvSpPr/>
          <p:nvPr/>
        </p:nvSpPr>
        <p:spPr>
          <a:xfrm flipH="true" flipV="false" rot="0">
            <a:off x="-3844808" y="1153119"/>
            <a:ext cx="7910308" cy="8530725"/>
          </a:xfrm>
          <a:custGeom>
            <a:avLst/>
            <a:gdLst/>
            <a:ahLst/>
            <a:cxnLst/>
            <a:rect r="r" b="b" t="t" l="l"/>
            <a:pathLst>
              <a:path h="8530725" w="7910308">
                <a:moveTo>
                  <a:pt x="7910308" y="0"/>
                </a:moveTo>
                <a:lnTo>
                  <a:pt x="0" y="0"/>
                </a:lnTo>
                <a:lnTo>
                  <a:pt x="0" y="8530724"/>
                </a:lnTo>
                <a:lnTo>
                  <a:pt x="7910308" y="8530724"/>
                </a:lnTo>
                <a:lnTo>
                  <a:pt x="79103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35764" y="3121778"/>
            <a:ext cx="3191781" cy="7165222"/>
          </a:xfrm>
          <a:custGeom>
            <a:avLst/>
            <a:gdLst/>
            <a:ahLst/>
            <a:cxnLst/>
            <a:rect r="r" b="b" t="t" l="l"/>
            <a:pathLst>
              <a:path h="7165222" w="3191781">
                <a:moveTo>
                  <a:pt x="0" y="0"/>
                </a:moveTo>
                <a:lnTo>
                  <a:pt x="3191780" y="0"/>
                </a:lnTo>
                <a:lnTo>
                  <a:pt x="3191780" y="7165222"/>
                </a:lnTo>
                <a:lnTo>
                  <a:pt x="0" y="71652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5472490" y="2899823"/>
            <a:ext cx="7361958" cy="710876"/>
            <a:chOff x="0" y="0"/>
            <a:chExt cx="1778983" cy="171780"/>
          </a:xfrm>
        </p:grpSpPr>
        <p:sp>
          <p:nvSpPr>
            <p:cNvPr name="Freeform 12" id="12"/>
            <p:cNvSpPr/>
            <p:nvPr/>
          </p:nvSpPr>
          <p:spPr>
            <a:xfrm flipH="false" flipV="false" rot="0">
              <a:off x="0" y="0"/>
              <a:ext cx="1778983" cy="171780"/>
            </a:xfrm>
            <a:custGeom>
              <a:avLst/>
              <a:gdLst/>
              <a:ahLst/>
              <a:cxnLst/>
              <a:rect r="r" b="b" t="t" l="l"/>
              <a:pathLst>
                <a:path h="171780" w="1778983">
                  <a:moveTo>
                    <a:pt x="16826" y="0"/>
                  </a:moveTo>
                  <a:lnTo>
                    <a:pt x="1762158" y="0"/>
                  </a:lnTo>
                  <a:cubicBezTo>
                    <a:pt x="1766620" y="0"/>
                    <a:pt x="1770900" y="1773"/>
                    <a:pt x="1774055" y="4928"/>
                  </a:cubicBezTo>
                  <a:cubicBezTo>
                    <a:pt x="1777211" y="8084"/>
                    <a:pt x="1778983" y="12363"/>
                    <a:pt x="1778983" y="16826"/>
                  </a:cubicBezTo>
                  <a:lnTo>
                    <a:pt x="1778983" y="154954"/>
                  </a:lnTo>
                  <a:cubicBezTo>
                    <a:pt x="1778983" y="159417"/>
                    <a:pt x="1777211" y="163696"/>
                    <a:pt x="1774055" y="166852"/>
                  </a:cubicBezTo>
                  <a:cubicBezTo>
                    <a:pt x="1770900" y="170007"/>
                    <a:pt x="1766620" y="171780"/>
                    <a:pt x="1762158" y="171780"/>
                  </a:cubicBezTo>
                  <a:lnTo>
                    <a:pt x="16826" y="171780"/>
                  </a:lnTo>
                  <a:cubicBezTo>
                    <a:pt x="12363" y="171780"/>
                    <a:pt x="8084" y="170007"/>
                    <a:pt x="4928" y="166852"/>
                  </a:cubicBezTo>
                  <a:cubicBezTo>
                    <a:pt x="1773" y="163696"/>
                    <a:pt x="0" y="159417"/>
                    <a:pt x="0" y="154954"/>
                  </a:cubicBezTo>
                  <a:lnTo>
                    <a:pt x="0" y="16826"/>
                  </a:lnTo>
                  <a:cubicBezTo>
                    <a:pt x="0" y="12363"/>
                    <a:pt x="1773" y="8084"/>
                    <a:pt x="4928" y="4928"/>
                  </a:cubicBezTo>
                  <a:cubicBezTo>
                    <a:pt x="8084" y="1773"/>
                    <a:pt x="12363" y="0"/>
                    <a:pt x="16826" y="0"/>
                  </a:cubicBezTo>
                  <a:close/>
                </a:path>
              </a:pathLst>
            </a:custGeom>
            <a:solidFill>
              <a:srgbClr val="FFFFFF"/>
            </a:solidFill>
          </p:spPr>
        </p:sp>
        <p:sp>
          <p:nvSpPr>
            <p:cNvPr name="TextBox 13" id="13"/>
            <p:cNvSpPr txBox="true"/>
            <p:nvPr/>
          </p:nvSpPr>
          <p:spPr>
            <a:xfrm>
              <a:off x="0" y="-47625"/>
              <a:ext cx="1778983" cy="219405"/>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472490" y="3794704"/>
            <a:ext cx="7361958" cy="710876"/>
            <a:chOff x="0" y="0"/>
            <a:chExt cx="1778983" cy="171780"/>
          </a:xfrm>
        </p:grpSpPr>
        <p:sp>
          <p:nvSpPr>
            <p:cNvPr name="Freeform 15" id="15"/>
            <p:cNvSpPr/>
            <p:nvPr/>
          </p:nvSpPr>
          <p:spPr>
            <a:xfrm flipH="false" flipV="false" rot="0">
              <a:off x="0" y="0"/>
              <a:ext cx="1778983" cy="171780"/>
            </a:xfrm>
            <a:custGeom>
              <a:avLst/>
              <a:gdLst/>
              <a:ahLst/>
              <a:cxnLst/>
              <a:rect r="r" b="b" t="t" l="l"/>
              <a:pathLst>
                <a:path h="171780" w="1778983">
                  <a:moveTo>
                    <a:pt x="16826" y="0"/>
                  </a:moveTo>
                  <a:lnTo>
                    <a:pt x="1762158" y="0"/>
                  </a:lnTo>
                  <a:cubicBezTo>
                    <a:pt x="1766620" y="0"/>
                    <a:pt x="1770900" y="1773"/>
                    <a:pt x="1774055" y="4928"/>
                  </a:cubicBezTo>
                  <a:cubicBezTo>
                    <a:pt x="1777211" y="8084"/>
                    <a:pt x="1778983" y="12363"/>
                    <a:pt x="1778983" y="16826"/>
                  </a:cubicBezTo>
                  <a:lnTo>
                    <a:pt x="1778983" y="154954"/>
                  </a:lnTo>
                  <a:cubicBezTo>
                    <a:pt x="1778983" y="159417"/>
                    <a:pt x="1777211" y="163696"/>
                    <a:pt x="1774055" y="166852"/>
                  </a:cubicBezTo>
                  <a:cubicBezTo>
                    <a:pt x="1770900" y="170007"/>
                    <a:pt x="1766620" y="171780"/>
                    <a:pt x="1762158" y="171780"/>
                  </a:cubicBezTo>
                  <a:lnTo>
                    <a:pt x="16826" y="171780"/>
                  </a:lnTo>
                  <a:cubicBezTo>
                    <a:pt x="12363" y="171780"/>
                    <a:pt x="8084" y="170007"/>
                    <a:pt x="4928" y="166852"/>
                  </a:cubicBezTo>
                  <a:cubicBezTo>
                    <a:pt x="1773" y="163696"/>
                    <a:pt x="0" y="159417"/>
                    <a:pt x="0" y="154954"/>
                  </a:cubicBezTo>
                  <a:lnTo>
                    <a:pt x="0" y="16826"/>
                  </a:lnTo>
                  <a:cubicBezTo>
                    <a:pt x="0" y="12363"/>
                    <a:pt x="1773" y="8084"/>
                    <a:pt x="4928" y="4928"/>
                  </a:cubicBezTo>
                  <a:cubicBezTo>
                    <a:pt x="8084" y="1773"/>
                    <a:pt x="12363" y="0"/>
                    <a:pt x="16826" y="0"/>
                  </a:cubicBezTo>
                  <a:close/>
                </a:path>
              </a:pathLst>
            </a:custGeom>
            <a:solidFill>
              <a:srgbClr val="FFFFFF"/>
            </a:solidFill>
          </p:spPr>
        </p:sp>
        <p:sp>
          <p:nvSpPr>
            <p:cNvPr name="TextBox 16" id="16"/>
            <p:cNvSpPr txBox="true"/>
            <p:nvPr/>
          </p:nvSpPr>
          <p:spPr>
            <a:xfrm>
              <a:off x="0" y="-47625"/>
              <a:ext cx="1778983" cy="219405"/>
            </a:xfrm>
            <a:prstGeom prst="rect">
              <a:avLst/>
            </a:prstGeom>
          </p:spPr>
          <p:txBody>
            <a:bodyPr anchor="ctr" rtlCol="false" tIns="50800" lIns="50800" bIns="50800" rIns="50800"/>
            <a:lstStyle/>
            <a:p>
              <a:pPr algn="ctr">
                <a:lnSpc>
                  <a:spcPts val="3499"/>
                </a:lnSpc>
              </a:pPr>
            </a:p>
          </p:txBody>
        </p:sp>
      </p:grpSp>
      <p:grpSp>
        <p:nvGrpSpPr>
          <p:cNvPr name="Group 17" id="17"/>
          <p:cNvGrpSpPr/>
          <p:nvPr/>
        </p:nvGrpSpPr>
        <p:grpSpPr>
          <a:xfrm rot="0">
            <a:off x="5472490" y="4689585"/>
            <a:ext cx="7361958" cy="710876"/>
            <a:chOff x="0" y="0"/>
            <a:chExt cx="1778983" cy="171780"/>
          </a:xfrm>
        </p:grpSpPr>
        <p:sp>
          <p:nvSpPr>
            <p:cNvPr name="Freeform 18" id="18"/>
            <p:cNvSpPr/>
            <p:nvPr/>
          </p:nvSpPr>
          <p:spPr>
            <a:xfrm flipH="false" flipV="false" rot="0">
              <a:off x="0" y="0"/>
              <a:ext cx="1778983" cy="171780"/>
            </a:xfrm>
            <a:custGeom>
              <a:avLst/>
              <a:gdLst/>
              <a:ahLst/>
              <a:cxnLst/>
              <a:rect r="r" b="b" t="t" l="l"/>
              <a:pathLst>
                <a:path h="171780" w="1778983">
                  <a:moveTo>
                    <a:pt x="16826" y="0"/>
                  </a:moveTo>
                  <a:lnTo>
                    <a:pt x="1762158" y="0"/>
                  </a:lnTo>
                  <a:cubicBezTo>
                    <a:pt x="1766620" y="0"/>
                    <a:pt x="1770900" y="1773"/>
                    <a:pt x="1774055" y="4928"/>
                  </a:cubicBezTo>
                  <a:cubicBezTo>
                    <a:pt x="1777211" y="8084"/>
                    <a:pt x="1778983" y="12363"/>
                    <a:pt x="1778983" y="16826"/>
                  </a:cubicBezTo>
                  <a:lnTo>
                    <a:pt x="1778983" y="154954"/>
                  </a:lnTo>
                  <a:cubicBezTo>
                    <a:pt x="1778983" y="159417"/>
                    <a:pt x="1777211" y="163696"/>
                    <a:pt x="1774055" y="166852"/>
                  </a:cubicBezTo>
                  <a:cubicBezTo>
                    <a:pt x="1770900" y="170007"/>
                    <a:pt x="1766620" y="171780"/>
                    <a:pt x="1762158" y="171780"/>
                  </a:cubicBezTo>
                  <a:lnTo>
                    <a:pt x="16826" y="171780"/>
                  </a:lnTo>
                  <a:cubicBezTo>
                    <a:pt x="12363" y="171780"/>
                    <a:pt x="8084" y="170007"/>
                    <a:pt x="4928" y="166852"/>
                  </a:cubicBezTo>
                  <a:cubicBezTo>
                    <a:pt x="1773" y="163696"/>
                    <a:pt x="0" y="159417"/>
                    <a:pt x="0" y="154954"/>
                  </a:cubicBezTo>
                  <a:lnTo>
                    <a:pt x="0" y="16826"/>
                  </a:lnTo>
                  <a:cubicBezTo>
                    <a:pt x="0" y="12363"/>
                    <a:pt x="1773" y="8084"/>
                    <a:pt x="4928" y="4928"/>
                  </a:cubicBezTo>
                  <a:cubicBezTo>
                    <a:pt x="8084" y="1773"/>
                    <a:pt x="12363" y="0"/>
                    <a:pt x="16826" y="0"/>
                  </a:cubicBezTo>
                  <a:close/>
                </a:path>
              </a:pathLst>
            </a:custGeom>
            <a:solidFill>
              <a:srgbClr val="FFFFFF"/>
            </a:solidFill>
          </p:spPr>
        </p:sp>
        <p:sp>
          <p:nvSpPr>
            <p:cNvPr name="TextBox 19" id="19"/>
            <p:cNvSpPr txBox="true"/>
            <p:nvPr/>
          </p:nvSpPr>
          <p:spPr>
            <a:xfrm>
              <a:off x="0" y="-47625"/>
              <a:ext cx="1778983" cy="219405"/>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5472490" y="5584466"/>
            <a:ext cx="7361958" cy="710876"/>
            <a:chOff x="0" y="0"/>
            <a:chExt cx="1778983" cy="171780"/>
          </a:xfrm>
        </p:grpSpPr>
        <p:sp>
          <p:nvSpPr>
            <p:cNvPr name="Freeform 21" id="21"/>
            <p:cNvSpPr/>
            <p:nvPr/>
          </p:nvSpPr>
          <p:spPr>
            <a:xfrm flipH="false" flipV="false" rot="0">
              <a:off x="0" y="0"/>
              <a:ext cx="1778983" cy="171780"/>
            </a:xfrm>
            <a:custGeom>
              <a:avLst/>
              <a:gdLst/>
              <a:ahLst/>
              <a:cxnLst/>
              <a:rect r="r" b="b" t="t" l="l"/>
              <a:pathLst>
                <a:path h="171780" w="1778983">
                  <a:moveTo>
                    <a:pt x="16826" y="0"/>
                  </a:moveTo>
                  <a:lnTo>
                    <a:pt x="1762158" y="0"/>
                  </a:lnTo>
                  <a:cubicBezTo>
                    <a:pt x="1766620" y="0"/>
                    <a:pt x="1770900" y="1773"/>
                    <a:pt x="1774055" y="4928"/>
                  </a:cubicBezTo>
                  <a:cubicBezTo>
                    <a:pt x="1777211" y="8084"/>
                    <a:pt x="1778983" y="12363"/>
                    <a:pt x="1778983" y="16826"/>
                  </a:cubicBezTo>
                  <a:lnTo>
                    <a:pt x="1778983" y="154954"/>
                  </a:lnTo>
                  <a:cubicBezTo>
                    <a:pt x="1778983" y="159417"/>
                    <a:pt x="1777211" y="163696"/>
                    <a:pt x="1774055" y="166852"/>
                  </a:cubicBezTo>
                  <a:cubicBezTo>
                    <a:pt x="1770900" y="170007"/>
                    <a:pt x="1766620" y="171780"/>
                    <a:pt x="1762158" y="171780"/>
                  </a:cubicBezTo>
                  <a:lnTo>
                    <a:pt x="16826" y="171780"/>
                  </a:lnTo>
                  <a:cubicBezTo>
                    <a:pt x="12363" y="171780"/>
                    <a:pt x="8084" y="170007"/>
                    <a:pt x="4928" y="166852"/>
                  </a:cubicBezTo>
                  <a:cubicBezTo>
                    <a:pt x="1773" y="163696"/>
                    <a:pt x="0" y="159417"/>
                    <a:pt x="0" y="154954"/>
                  </a:cubicBezTo>
                  <a:lnTo>
                    <a:pt x="0" y="16826"/>
                  </a:lnTo>
                  <a:cubicBezTo>
                    <a:pt x="0" y="12363"/>
                    <a:pt x="1773" y="8084"/>
                    <a:pt x="4928" y="4928"/>
                  </a:cubicBezTo>
                  <a:cubicBezTo>
                    <a:pt x="8084" y="1773"/>
                    <a:pt x="12363" y="0"/>
                    <a:pt x="16826" y="0"/>
                  </a:cubicBezTo>
                  <a:close/>
                </a:path>
              </a:pathLst>
            </a:custGeom>
            <a:solidFill>
              <a:srgbClr val="FFFFFF"/>
            </a:solidFill>
          </p:spPr>
        </p:sp>
        <p:sp>
          <p:nvSpPr>
            <p:cNvPr name="TextBox 22" id="22"/>
            <p:cNvSpPr txBox="true"/>
            <p:nvPr/>
          </p:nvSpPr>
          <p:spPr>
            <a:xfrm>
              <a:off x="0" y="-47625"/>
              <a:ext cx="1778983" cy="219405"/>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5472490" y="6479348"/>
            <a:ext cx="7361958" cy="710876"/>
            <a:chOff x="0" y="0"/>
            <a:chExt cx="1778983" cy="171780"/>
          </a:xfrm>
        </p:grpSpPr>
        <p:sp>
          <p:nvSpPr>
            <p:cNvPr name="Freeform 24" id="24"/>
            <p:cNvSpPr/>
            <p:nvPr/>
          </p:nvSpPr>
          <p:spPr>
            <a:xfrm flipH="false" flipV="false" rot="0">
              <a:off x="0" y="0"/>
              <a:ext cx="1778983" cy="171780"/>
            </a:xfrm>
            <a:custGeom>
              <a:avLst/>
              <a:gdLst/>
              <a:ahLst/>
              <a:cxnLst/>
              <a:rect r="r" b="b" t="t" l="l"/>
              <a:pathLst>
                <a:path h="171780" w="1778983">
                  <a:moveTo>
                    <a:pt x="16826" y="0"/>
                  </a:moveTo>
                  <a:lnTo>
                    <a:pt x="1762158" y="0"/>
                  </a:lnTo>
                  <a:cubicBezTo>
                    <a:pt x="1766620" y="0"/>
                    <a:pt x="1770900" y="1773"/>
                    <a:pt x="1774055" y="4928"/>
                  </a:cubicBezTo>
                  <a:cubicBezTo>
                    <a:pt x="1777211" y="8084"/>
                    <a:pt x="1778983" y="12363"/>
                    <a:pt x="1778983" y="16826"/>
                  </a:cubicBezTo>
                  <a:lnTo>
                    <a:pt x="1778983" y="154954"/>
                  </a:lnTo>
                  <a:cubicBezTo>
                    <a:pt x="1778983" y="159417"/>
                    <a:pt x="1777211" y="163696"/>
                    <a:pt x="1774055" y="166852"/>
                  </a:cubicBezTo>
                  <a:cubicBezTo>
                    <a:pt x="1770900" y="170007"/>
                    <a:pt x="1766620" y="171780"/>
                    <a:pt x="1762158" y="171780"/>
                  </a:cubicBezTo>
                  <a:lnTo>
                    <a:pt x="16826" y="171780"/>
                  </a:lnTo>
                  <a:cubicBezTo>
                    <a:pt x="12363" y="171780"/>
                    <a:pt x="8084" y="170007"/>
                    <a:pt x="4928" y="166852"/>
                  </a:cubicBezTo>
                  <a:cubicBezTo>
                    <a:pt x="1773" y="163696"/>
                    <a:pt x="0" y="159417"/>
                    <a:pt x="0" y="154954"/>
                  </a:cubicBezTo>
                  <a:lnTo>
                    <a:pt x="0" y="16826"/>
                  </a:lnTo>
                  <a:cubicBezTo>
                    <a:pt x="0" y="12363"/>
                    <a:pt x="1773" y="8084"/>
                    <a:pt x="4928" y="4928"/>
                  </a:cubicBezTo>
                  <a:cubicBezTo>
                    <a:pt x="8084" y="1773"/>
                    <a:pt x="12363" y="0"/>
                    <a:pt x="16826" y="0"/>
                  </a:cubicBezTo>
                  <a:close/>
                </a:path>
              </a:pathLst>
            </a:custGeom>
            <a:solidFill>
              <a:srgbClr val="FFFFFF"/>
            </a:solidFill>
          </p:spPr>
        </p:sp>
        <p:sp>
          <p:nvSpPr>
            <p:cNvPr name="TextBox 25" id="25"/>
            <p:cNvSpPr txBox="true"/>
            <p:nvPr/>
          </p:nvSpPr>
          <p:spPr>
            <a:xfrm>
              <a:off x="0" y="-47625"/>
              <a:ext cx="1778983" cy="219405"/>
            </a:xfrm>
            <a:prstGeom prst="rect">
              <a:avLst/>
            </a:prstGeom>
          </p:spPr>
          <p:txBody>
            <a:bodyPr anchor="ctr" rtlCol="false" tIns="50800" lIns="50800" bIns="50800" rIns="50800"/>
            <a:lstStyle/>
            <a:p>
              <a:pPr algn="ctr">
                <a:lnSpc>
                  <a:spcPts val="3499"/>
                </a:lnSpc>
              </a:pPr>
            </a:p>
          </p:txBody>
        </p:sp>
      </p:grpSp>
      <p:grpSp>
        <p:nvGrpSpPr>
          <p:cNvPr name="Group 26" id="26"/>
          <p:cNvGrpSpPr/>
          <p:nvPr/>
        </p:nvGrpSpPr>
        <p:grpSpPr>
          <a:xfrm rot="0">
            <a:off x="5472490" y="7374229"/>
            <a:ext cx="7361958" cy="710876"/>
            <a:chOff x="0" y="0"/>
            <a:chExt cx="1778983" cy="171780"/>
          </a:xfrm>
        </p:grpSpPr>
        <p:sp>
          <p:nvSpPr>
            <p:cNvPr name="Freeform 27" id="27"/>
            <p:cNvSpPr/>
            <p:nvPr/>
          </p:nvSpPr>
          <p:spPr>
            <a:xfrm flipH="false" flipV="false" rot="0">
              <a:off x="0" y="0"/>
              <a:ext cx="1778983" cy="171780"/>
            </a:xfrm>
            <a:custGeom>
              <a:avLst/>
              <a:gdLst/>
              <a:ahLst/>
              <a:cxnLst/>
              <a:rect r="r" b="b" t="t" l="l"/>
              <a:pathLst>
                <a:path h="171780" w="1778983">
                  <a:moveTo>
                    <a:pt x="16826" y="0"/>
                  </a:moveTo>
                  <a:lnTo>
                    <a:pt x="1762158" y="0"/>
                  </a:lnTo>
                  <a:cubicBezTo>
                    <a:pt x="1766620" y="0"/>
                    <a:pt x="1770900" y="1773"/>
                    <a:pt x="1774055" y="4928"/>
                  </a:cubicBezTo>
                  <a:cubicBezTo>
                    <a:pt x="1777211" y="8084"/>
                    <a:pt x="1778983" y="12363"/>
                    <a:pt x="1778983" y="16826"/>
                  </a:cubicBezTo>
                  <a:lnTo>
                    <a:pt x="1778983" y="154954"/>
                  </a:lnTo>
                  <a:cubicBezTo>
                    <a:pt x="1778983" y="159417"/>
                    <a:pt x="1777211" y="163696"/>
                    <a:pt x="1774055" y="166852"/>
                  </a:cubicBezTo>
                  <a:cubicBezTo>
                    <a:pt x="1770900" y="170007"/>
                    <a:pt x="1766620" y="171780"/>
                    <a:pt x="1762158" y="171780"/>
                  </a:cubicBezTo>
                  <a:lnTo>
                    <a:pt x="16826" y="171780"/>
                  </a:lnTo>
                  <a:cubicBezTo>
                    <a:pt x="12363" y="171780"/>
                    <a:pt x="8084" y="170007"/>
                    <a:pt x="4928" y="166852"/>
                  </a:cubicBezTo>
                  <a:cubicBezTo>
                    <a:pt x="1773" y="163696"/>
                    <a:pt x="0" y="159417"/>
                    <a:pt x="0" y="154954"/>
                  </a:cubicBezTo>
                  <a:lnTo>
                    <a:pt x="0" y="16826"/>
                  </a:lnTo>
                  <a:cubicBezTo>
                    <a:pt x="0" y="12363"/>
                    <a:pt x="1773" y="8084"/>
                    <a:pt x="4928" y="4928"/>
                  </a:cubicBezTo>
                  <a:cubicBezTo>
                    <a:pt x="8084" y="1773"/>
                    <a:pt x="12363" y="0"/>
                    <a:pt x="16826" y="0"/>
                  </a:cubicBezTo>
                  <a:close/>
                </a:path>
              </a:pathLst>
            </a:custGeom>
            <a:solidFill>
              <a:srgbClr val="FFFFFF"/>
            </a:solidFill>
          </p:spPr>
        </p:sp>
        <p:sp>
          <p:nvSpPr>
            <p:cNvPr name="TextBox 28" id="28"/>
            <p:cNvSpPr txBox="true"/>
            <p:nvPr/>
          </p:nvSpPr>
          <p:spPr>
            <a:xfrm>
              <a:off x="0" y="-47625"/>
              <a:ext cx="1778983" cy="219405"/>
            </a:xfrm>
            <a:prstGeom prst="rect">
              <a:avLst/>
            </a:prstGeom>
          </p:spPr>
          <p:txBody>
            <a:bodyPr anchor="ctr" rtlCol="false" tIns="50800" lIns="50800" bIns="50800" rIns="50800"/>
            <a:lstStyle/>
            <a:p>
              <a:pPr algn="ctr">
                <a:lnSpc>
                  <a:spcPts val="3499"/>
                </a:lnSpc>
              </a:pPr>
            </a:p>
          </p:txBody>
        </p:sp>
      </p:grpSp>
      <p:sp>
        <p:nvSpPr>
          <p:cNvPr name="TextBox 29" id="29"/>
          <p:cNvSpPr txBox="true"/>
          <p:nvPr/>
        </p:nvSpPr>
        <p:spPr>
          <a:xfrm rot="0">
            <a:off x="5779246" y="3813807"/>
            <a:ext cx="6748445" cy="577419"/>
          </a:xfrm>
          <a:prstGeom prst="rect">
            <a:avLst/>
          </a:prstGeom>
        </p:spPr>
        <p:txBody>
          <a:bodyPr anchor="t" rtlCol="false" tIns="0" lIns="0" bIns="0" rIns="0">
            <a:spAutoFit/>
          </a:bodyPr>
          <a:lstStyle/>
          <a:p>
            <a:pPr algn="ctr">
              <a:lnSpc>
                <a:spcPts val="4504"/>
              </a:lnSpc>
              <a:spcBef>
                <a:spcPct val="0"/>
              </a:spcBef>
            </a:pPr>
            <a:r>
              <a:rPr lang="en-US" b="true" sz="3217">
                <a:solidFill>
                  <a:srgbClr val="7ED957"/>
                </a:solidFill>
                <a:latin typeface="Poppins Bold"/>
                <a:ea typeface="Poppins Bold"/>
                <a:cs typeface="Poppins Bold"/>
                <a:sym typeface="Poppins Bold"/>
              </a:rPr>
              <a:t>Processed Data </a:t>
            </a:r>
          </a:p>
        </p:txBody>
      </p:sp>
      <p:sp>
        <p:nvSpPr>
          <p:cNvPr name="TextBox 30" id="30"/>
          <p:cNvSpPr txBox="true"/>
          <p:nvPr/>
        </p:nvSpPr>
        <p:spPr>
          <a:xfrm rot="0">
            <a:off x="5779246" y="4712842"/>
            <a:ext cx="6748445" cy="577419"/>
          </a:xfrm>
          <a:prstGeom prst="rect">
            <a:avLst/>
          </a:prstGeom>
        </p:spPr>
        <p:txBody>
          <a:bodyPr anchor="t" rtlCol="false" tIns="0" lIns="0" bIns="0" rIns="0">
            <a:spAutoFit/>
          </a:bodyPr>
          <a:lstStyle/>
          <a:p>
            <a:pPr algn="ctr">
              <a:lnSpc>
                <a:spcPts val="4504"/>
              </a:lnSpc>
              <a:spcBef>
                <a:spcPct val="0"/>
              </a:spcBef>
            </a:pPr>
            <a:r>
              <a:rPr lang="en-US" b="true" sz="3217">
                <a:solidFill>
                  <a:srgbClr val="00BF63"/>
                </a:solidFill>
                <a:latin typeface="Poppins Bold"/>
                <a:ea typeface="Poppins Bold"/>
                <a:cs typeface="Poppins Bold"/>
                <a:sym typeface="Poppins Bold"/>
              </a:rPr>
              <a:t>Machine Learning Model</a:t>
            </a:r>
          </a:p>
        </p:txBody>
      </p:sp>
      <p:sp>
        <p:nvSpPr>
          <p:cNvPr name="TextBox 31" id="31"/>
          <p:cNvSpPr txBox="true"/>
          <p:nvPr/>
        </p:nvSpPr>
        <p:spPr>
          <a:xfrm rot="0">
            <a:off x="5779246" y="5603570"/>
            <a:ext cx="6748445" cy="577419"/>
          </a:xfrm>
          <a:prstGeom prst="rect">
            <a:avLst/>
          </a:prstGeom>
        </p:spPr>
        <p:txBody>
          <a:bodyPr anchor="t" rtlCol="false" tIns="0" lIns="0" bIns="0" rIns="0">
            <a:spAutoFit/>
          </a:bodyPr>
          <a:lstStyle/>
          <a:p>
            <a:pPr algn="ctr">
              <a:lnSpc>
                <a:spcPts val="4504"/>
              </a:lnSpc>
              <a:spcBef>
                <a:spcPct val="0"/>
              </a:spcBef>
            </a:pPr>
            <a:r>
              <a:rPr lang="en-US" b="true" sz="3217">
                <a:solidFill>
                  <a:srgbClr val="5C6529"/>
                </a:solidFill>
                <a:latin typeface="Poppins Bold"/>
                <a:ea typeface="Poppins Bold"/>
                <a:cs typeface="Poppins Bold"/>
                <a:sym typeface="Poppins Bold"/>
              </a:rPr>
              <a:t>Interactive Map</a:t>
            </a:r>
          </a:p>
        </p:txBody>
      </p:sp>
      <p:sp>
        <p:nvSpPr>
          <p:cNvPr name="TextBox 32" id="32"/>
          <p:cNvSpPr txBox="true"/>
          <p:nvPr/>
        </p:nvSpPr>
        <p:spPr>
          <a:xfrm rot="0">
            <a:off x="5779246" y="6457522"/>
            <a:ext cx="6748445" cy="577419"/>
          </a:xfrm>
          <a:prstGeom prst="rect">
            <a:avLst/>
          </a:prstGeom>
        </p:spPr>
        <p:txBody>
          <a:bodyPr anchor="t" rtlCol="false" tIns="0" lIns="0" bIns="0" rIns="0">
            <a:spAutoFit/>
          </a:bodyPr>
          <a:lstStyle/>
          <a:p>
            <a:pPr algn="ctr">
              <a:lnSpc>
                <a:spcPts val="4504"/>
              </a:lnSpc>
              <a:spcBef>
                <a:spcPct val="0"/>
              </a:spcBef>
            </a:pPr>
            <a:r>
              <a:rPr lang="en-US" b="true" sz="3217">
                <a:solidFill>
                  <a:srgbClr val="7ED957"/>
                </a:solidFill>
                <a:latin typeface="Poppins Bold"/>
                <a:ea typeface="Poppins Bold"/>
                <a:cs typeface="Poppins Bold"/>
                <a:sym typeface="Poppins Bold"/>
              </a:rPr>
              <a:t>Report and Presentation</a:t>
            </a:r>
          </a:p>
        </p:txBody>
      </p:sp>
      <p:sp>
        <p:nvSpPr>
          <p:cNvPr name="TextBox 33" id="33"/>
          <p:cNvSpPr txBox="true"/>
          <p:nvPr/>
        </p:nvSpPr>
        <p:spPr>
          <a:xfrm rot="0">
            <a:off x="5779246" y="7393332"/>
            <a:ext cx="6748445" cy="577419"/>
          </a:xfrm>
          <a:prstGeom prst="rect">
            <a:avLst/>
          </a:prstGeom>
        </p:spPr>
        <p:txBody>
          <a:bodyPr anchor="t" rtlCol="false" tIns="0" lIns="0" bIns="0" rIns="0">
            <a:spAutoFit/>
          </a:bodyPr>
          <a:lstStyle/>
          <a:p>
            <a:pPr algn="ctr">
              <a:lnSpc>
                <a:spcPts val="4504"/>
              </a:lnSpc>
              <a:spcBef>
                <a:spcPct val="0"/>
              </a:spcBef>
            </a:pPr>
            <a:r>
              <a:rPr lang="en-US" b="true" sz="3217">
                <a:solidFill>
                  <a:srgbClr val="00BF63"/>
                </a:solidFill>
                <a:latin typeface="Poppins Bold"/>
                <a:ea typeface="Poppins Bold"/>
                <a:cs typeface="Poppins Bold"/>
                <a:sym typeface="Poppins Bold"/>
              </a:rPr>
              <a:t>Conclusion</a:t>
            </a:r>
          </a:p>
        </p:txBody>
      </p:sp>
      <p:sp>
        <p:nvSpPr>
          <p:cNvPr name="Freeform 34" id="34"/>
          <p:cNvSpPr/>
          <p:nvPr/>
        </p:nvSpPr>
        <p:spPr>
          <a:xfrm flipH="false" flipV="false" rot="0">
            <a:off x="11879416" y="3602827"/>
            <a:ext cx="6869143" cy="6382058"/>
          </a:xfrm>
          <a:custGeom>
            <a:avLst/>
            <a:gdLst/>
            <a:ahLst/>
            <a:cxnLst/>
            <a:rect r="r" b="b" t="t" l="l"/>
            <a:pathLst>
              <a:path h="6382058" w="6869143">
                <a:moveTo>
                  <a:pt x="0" y="0"/>
                </a:moveTo>
                <a:lnTo>
                  <a:pt x="6869143" y="0"/>
                </a:lnTo>
                <a:lnTo>
                  <a:pt x="6869143" y="6382059"/>
                </a:lnTo>
                <a:lnTo>
                  <a:pt x="0" y="63820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5277624" y="9379276"/>
            <a:ext cx="2497899" cy="1294366"/>
          </a:xfrm>
          <a:custGeom>
            <a:avLst/>
            <a:gdLst/>
            <a:ahLst/>
            <a:cxnLst/>
            <a:rect r="r" b="b" t="t" l="l"/>
            <a:pathLst>
              <a:path h="1294366" w="2497899">
                <a:moveTo>
                  <a:pt x="0" y="0"/>
                </a:moveTo>
                <a:lnTo>
                  <a:pt x="2497900" y="0"/>
                </a:lnTo>
                <a:lnTo>
                  <a:pt x="2497900" y="1294366"/>
                </a:lnTo>
                <a:lnTo>
                  <a:pt x="0" y="1294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6" id="36"/>
          <p:cNvSpPr/>
          <p:nvPr/>
        </p:nvSpPr>
        <p:spPr>
          <a:xfrm flipH="false" flipV="false" rot="0">
            <a:off x="3435276" y="9569776"/>
            <a:ext cx="2497899" cy="1294366"/>
          </a:xfrm>
          <a:custGeom>
            <a:avLst/>
            <a:gdLst/>
            <a:ahLst/>
            <a:cxnLst/>
            <a:rect r="r" b="b" t="t" l="l"/>
            <a:pathLst>
              <a:path h="1294366" w="2497899">
                <a:moveTo>
                  <a:pt x="0" y="0"/>
                </a:moveTo>
                <a:lnTo>
                  <a:pt x="2497899" y="0"/>
                </a:lnTo>
                <a:lnTo>
                  <a:pt x="2497899" y="1294366"/>
                </a:lnTo>
                <a:lnTo>
                  <a:pt x="0" y="1294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7" id="37"/>
          <p:cNvSpPr/>
          <p:nvPr/>
        </p:nvSpPr>
        <p:spPr>
          <a:xfrm flipH="false" flipV="false" rot="0">
            <a:off x="-1642693" y="9258300"/>
            <a:ext cx="2497899" cy="1294366"/>
          </a:xfrm>
          <a:custGeom>
            <a:avLst/>
            <a:gdLst/>
            <a:ahLst/>
            <a:cxnLst/>
            <a:rect r="r" b="b" t="t" l="l"/>
            <a:pathLst>
              <a:path h="1294366" w="2497899">
                <a:moveTo>
                  <a:pt x="0" y="0"/>
                </a:moveTo>
                <a:lnTo>
                  <a:pt x="2497899" y="0"/>
                </a:lnTo>
                <a:lnTo>
                  <a:pt x="2497899" y="1294366"/>
                </a:lnTo>
                <a:lnTo>
                  <a:pt x="0" y="12943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8" id="38"/>
          <p:cNvSpPr txBox="true"/>
          <p:nvPr/>
        </p:nvSpPr>
        <p:spPr>
          <a:xfrm rot="0">
            <a:off x="5059309" y="1585990"/>
            <a:ext cx="8188319" cy="1056404"/>
          </a:xfrm>
          <a:prstGeom prst="rect">
            <a:avLst/>
          </a:prstGeom>
        </p:spPr>
        <p:txBody>
          <a:bodyPr anchor="t" rtlCol="false" tIns="0" lIns="0" bIns="0" rIns="0">
            <a:spAutoFit/>
          </a:bodyPr>
          <a:lstStyle/>
          <a:p>
            <a:pPr algn="ctr">
              <a:lnSpc>
                <a:spcPts val="6949"/>
              </a:lnSpc>
            </a:pPr>
            <a:r>
              <a:rPr lang="en-US" sz="6949">
                <a:solidFill>
                  <a:srgbClr val="000000"/>
                </a:solidFill>
                <a:latin typeface="Funtastic"/>
                <a:ea typeface="Funtastic"/>
                <a:cs typeface="Funtastic"/>
                <a:sym typeface="Funtastic"/>
              </a:rPr>
              <a:t>LIST OF CONTENTS</a:t>
            </a:r>
          </a:p>
        </p:txBody>
      </p:sp>
      <p:sp>
        <p:nvSpPr>
          <p:cNvPr name="TextBox 39" id="39"/>
          <p:cNvSpPr txBox="true"/>
          <p:nvPr/>
        </p:nvSpPr>
        <p:spPr>
          <a:xfrm rot="0">
            <a:off x="5308556" y="2918926"/>
            <a:ext cx="7689825" cy="577419"/>
          </a:xfrm>
          <a:prstGeom prst="rect">
            <a:avLst/>
          </a:prstGeom>
        </p:spPr>
        <p:txBody>
          <a:bodyPr anchor="t" rtlCol="false" tIns="0" lIns="0" bIns="0" rIns="0">
            <a:spAutoFit/>
          </a:bodyPr>
          <a:lstStyle/>
          <a:p>
            <a:pPr algn="ctr">
              <a:lnSpc>
                <a:spcPts val="4504"/>
              </a:lnSpc>
              <a:spcBef>
                <a:spcPct val="0"/>
              </a:spcBef>
            </a:pPr>
            <a:r>
              <a:rPr lang="en-US" b="true" sz="3217">
                <a:solidFill>
                  <a:srgbClr val="5C6529"/>
                </a:solidFill>
                <a:latin typeface="Poppins Bold"/>
                <a:ea typeface="Poppins Bold"/>
                <a:cs typeface="Poppins Bold"/>
                <a:sym typeface="Poppins Bold"/>
              </a:rPr>
              <a:t>Problem Statement &amp; Explanation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065533"/>
            <a:ext cx="19077134" cy="4385535"/>
          </a:xfrm>
          <a:custGeom>
            <a:avLst/>
            <a:gdLst/>
            <a:ahLst/>
            <a:cxnLst/>
            <a:rect r="r" b="b" t="t" l="l"/>
            <a:pathLst>
              <a:path h="4385535" w="19077134">
                <a:moveTo>
                  <a:pt x="0" y="0"/>
                </a:moveTo>
                <a:lnTo>
                  <a:pt x="19077134" y="0"/>
                </a:lnTo>
                <a:lnTo>
                  <a:pt x="19077134" y="4385534"/>
                </a:lnTo>
                <a:lnTo>
                  <a:pt x="0" y="4385534"/>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394567" y="3816771"/>
            <a:ext cx="9637858" cy="3248761"/>
          </a:xfrm>
          <a:custGeom>
            <a:avLst/>
            <a:gdLst/>
            <a:ahLst/>
            <a:cxnLst/>
            <a:rect r="r" b="b" t="t" l="l"/>
            <a:pathLst>
              <a:path h="3248761" w="9637858">
                <a:moveTo>
                  <a:pt x="0" y="0"/>
                </a:moveTo>
                <a:lnTo>
                  <a:pt x="9637858" y="0"/>
                </a:lnTo>
                <a:lnTo>
                  <a:pt x="9637858" y="3248762"/>
                </a:lnTo>
                <a:lnTo>
                  <a:pt x="0" y="3248762"/>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93858" y="234385"/>
            <a:ext cx="5186516" cy="2638640"/>
          </a:xfrm>
          <a:custGeom>
            <a:avLst/>
            <a:gdLst/>
            <a:ahLst/>
            <a:cxnLst/>
            <a:rect r="r" b="b" t="t" l="l"/>
            <a:pathLst>
              <a:path h="2638640" w="5186516">
                <a:moveTo>
                  <a:pt x="0" y="0"/>
                </a:moveTo>
                <a:lnTo>
                  <a:pt x="5186516" y="0"/>
                </a:lnTo>
                <a:lnTo>
                  <a:pt x="5186516" y="2638640"/>
                </a:lnTo>
                <a:lnTo>
                  <a:pt x="0" y="2638640"/>
                </a:lnTo>
                <a:lnTo>
                  <a:pt x="0" y="0"/>
                </a:lnTo>
                <a:close/>
              </a:path>
            </a:pathLst>
          </a:custGeom>
          <a:blipFill>
            <a:blip r:embed="rId7">
              <a:alphaModFix amt="75000"/>
            </a:blip>
            <a:stretch>
              <a:fillRect l="0" t="0" r="0" b="0"/>
            </a:stretch>
          </a:blipFill>
        </p:spPr>
      </p:sp>
      <p:sp>
        <p:nvSpPr>
          <p:cNvPr name="Freeform 6" id="6"/>
          <p:cNvSpPr/>
          <p:nvPr/>
        </p:nvSpPr>
        <p:spPr>
          <a:xfrm flipH="false" flipV="false" rot="0">
            <a:off x="-796961" y="234385"/>
            <a:ext cx="2804922" cy="8229600"/>
          </a:xfrm>
          <a:custGeom>
            <a:avLst/>
            <a:gdLst/>
            <a:ahLst/>
            <a:cxnLst/>
            <a:rect r="r" b="b" t="t" l="l"/>
            <a:pathLst>
              <a:path h="8229600" w="2804922">
                <a:moveTo>
                  <a:pt x="0" y="0"/>
                </a:moveTo>
                <a:lnTo>
                  <a:pt x="2804922" y="0"/>
                </a:lnTo>
                <a:lnTo>
                  <a:pt x="2804922" y="8229600"/>
                </a:lnTo>
                <a:lnTo>
                  <a:pt x="0" y="8229600"/>
                </a:lnTo>
                <a:lnTo>
                  <a:pt x="0" y="0"/>
                </a:lnTo>
                <a:close/>
              </a:path>
            </a:pathLst>
          </a:custGeom>
          <a:blipFill>
            <a:blip r:embed="rId8"/>
            <a:stretch>
              <a:fillRect l="0" t="0" r="0" b="0"/>
            </a:stretch>
          </a:blipFill>
        </p:spPr>
      </p:sp>
      <p:sp>
        <p:nvSpPr>
          <p:cNvPr name="Freeform 7" id="7"/>
          <p:cNvSpPr/>
          <p:nvPr/>
        </p:nvSpPr>
        <p:spPr>
          <a:xfrm flipH="false" flipV="false" rot="0">
            <a:off x="9202220" y="3816771"/>
            <a:ext cx="9637858" cy="3248761"/>
          </a:xfrm>
          <a:custGeom>
            <a:avLst/>
            <a:gdLst/>
            <a:ahLst/>
            <a:cxnLst/>
            <a:rect r="r" b="b" t="t" l="l"/>
            <a:pathLst>
              <a:path h="3248761" w="9637858">
                <a:moveTo>
                  <a:pt x="0" y="0"/>
                </a:moveTo>
                <a:lnTo>
                  <a:pt x="9637858" y="0"/>
                </a:lnTo>
                <a:lnTo>
                  <a:pt x="9637858" y="3248762"/>
                </a:lnTo>
                <a:lnTo>
                  <a:pt x="0" y="3248762"/>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007961" y="3483204"/>
            <a:ext cx="14728892" cy="3956941"/>
            <a:chOff x="0" y="0"/>
            <a:chExt cx="3559169" cy="956177"/>
          </a:xfrm>
        </p:grpSpPr>
        <p:sp>
          <p:nvSpPr>
            <p:cNvPr name="Freeform 9" id="9"/>
            <p:cNvSpPr/>
            <p:nvPr/>
          </p:nvSpPr>
          <p:spPr>
            <a:xfrm flipH="false" flipV="false" rot="0">
              <a:off x="0" y="0"/>
              <a:ext cx="3559169" cy="956177"/>
            </a:xfrm>
            <a:custGeom>
              <a:avLst/>
              <a:gdLst/>
              <a:ahLst/>
              <a:cxnLst/>
              <a:rect r="r" b="b" t="t" l="l"/>
              <a:pathLst>
                <a:path h="956177" w="3559169">
                  <a:moveTo>
                    <a:pt x="8410" y="0"/>
                  </a:moveTo>
                  <a:lnTo>
                    <a:pt x="3550759" y="0"/>
                  </a:lnTo>
                  <a:cubicBezTo>
                    <a:pt x="3552990" y="0"/>
                    <a:pt x="3555129" y="886"/>
                    <a:pt x="3556706" y="2463"/>
                  </a:cubicBezTo>
                  <a:cubicBezTo>
                    <a:pt x="3558283" y="4040"/>
                    <a:pt x="3559169" y="6180"/>
                    <a:pt x="3559169" y="8410"/>
                  </a:cubicBezTo>
                  <a:lnTo>
                    <a:pt x="3559169" y="947767"/>
                  </a:lnTo>
                  <a:cubicBezTo>
                    <a:pt x="3559169" y="949997"/>
                    <a:pt x="3558283" y="952136"/>
                    <a:pt x="3556706" y="953713"/>
                  </a:cubicBezTo>
                  <a:cubicBezTo>
                    <a:pt x="3555129" y="955291"/>
                    <a:pt x="3552990" y="956177"/>
                    <a:pt x="3550759" y="956177"/>
                  </a:cubicBezTo>
                  <a:lnTo>
                    <a:pt x="8410" y="956177"/>
                  </a:lnTo>
                  <a:cubicBezTo>
                    <a:pt x="3765" y="956177"/>
                    <a:pt x="0" y="952411"/>
                    <a:pt x="0" y="947767"/>
                  </a:cubicBezTo>
                  <a:lnTo>
                    <a:pt x="0" y="8410"/>
                  </a:lnTo>
                  <a:cubicBezTo>
                    <a:pt x="0" y="3765"/>
                    <a:pt x="3765" y="0"/>
                    <a:pt x="8410" y="0"/>
                  </a:cubicBezTo>
                  <a:close/>
                </a:path>
              </a:pathLst>
            </a:custGeom>
            <a:solidFill>
              <a:srgbClr val="FFFFFF"/>
            </a:solidFill>
          </p:spPr>
        </p:sp>
        <p:sp>
          <p:nvSpPr>
            <p:cNvPr name="TextBox 10" id="10"/>
            <p:cNvSpPr txBox="true"/>
            <p:nvPr/>
          </p:nvSpPr>
          <p:spPr>
            <a:xfrm>
              <a:off x="0" y="-47625"/>
              <a:ext cx="3559169" cy="1003802"/>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true" flipV="false" rot="0">
            <a:off x="15418857" y="7065533"/>
            <a:ext cx="3421221" cy="3554515"/>
          </a:xfrm>
          <a:custGeom>
            <a:avLst/>
            <a:gdLst/>
            <a:ahLst/>
            <a:cxnLst/>
            <a:rect r="r" b="b" t="t" l="l"/>
            <a:pathLst>
              <a:path h="3554515" w="3421221">
                <a:moveTo>
                  <a:pt x="3421221" y="0"/>
                </a:moveTo>
                <a:lnTo>
                  <a:pt x="0" y="0"/>
                </a:lnTo>
                <a:lnTo>
                  <a:pt x="0" y="3554515"/>
                </a:lnTo>
                <a:lnTo>
                  <a:pt x="3421221" y="3554515"/>
                </a:lnTo>
                <a:lnTo>
                  <a:pt x="3421221" y="0"/>
                </a:lnTo>
                <a:close/>
              </a:path>
            </a:pathLst>
          </a:custGeom>
          <a:blipFill>
            <a:blip r:embed="rId9"/>
            <a:stretch>
              <a:fillRect l="0" t="0" r="0" b="0"/>
            </a:stretch>
          </a:blipFill>
        </p:spPr>
      </p:sp>
      <p:sp>
        <p:nvSpPr>
          <p:cNvPr name="Freeform 12" id="12"/>
          <p:cNvSpPr/>
          <p:nvPr/>
        </p:nvSpPr>
        <p:spPr>
          <a:xfrm flipH="false" flipV="false" rot="0">
            <a:off x="6686146" y="8614878"/>
            <a:ext cx="8732711" cy="2283878"/>
          </a:xfrm>
          <a:custGeom>
            <a:avLst/>
            <a:gdLst/>
            <a:ahLst/>
            <a:cxnLst/>
            <a:rect r="r" b="b" t="t" l="l"/>
            <a:pathLst>
              <a:path h="2283878" w="8732711">
                <a:moveTo>
                  <a:pt x="0" y="0"/>
                </a:moveTo>
                <a:lnTo>
                  <a:pt x="8732711" y="0"/>
                </a:lnTo>
                <a:lnTo>
                  <a:pt x="8732711" y="2283878"/>
                </a:lnTo>
                <a:lnTo>
                  <a:pt x="0" y="2283878"/>
                </a:lnTo>
                <a:lnTo>
                  <a:pt x="0" y="0"/>
                </a:lnTo>
                <a:close/>
              </a:path>
            </a:pathLst>
          </a:custGeom>
          <a:blipFill>
            <a:blip r:embed="rId10"/>
            <a:stretch>
              <a:fillRect l="0" t="0" r="0" b="0"/>
            </a:stretch>
          </a:blipFill>
        </p:spPr>
      </p:sp>
      <p:sp>
        <p:nvSpPr>
          <p:cNvPr name="TextBox 13" id="13"/>
          <p:cNvSpPr txBox="true"/>
          <p:nvPr/>
        </p:nvSpPr>
        <p:spPr>
          <a:xfrm rot="0">
            <a:off x="1422062" y="1019175"/>
            <a:ext cx="15314792" cy="1257287"/>
          </a:xfrm>
          <a:prstGeom prst="rect">
            <a:avLst/>
          </a:prstGeom>
        </p:spPr>
        <p:txBody>
          <a:bodyPr anchor="t" rtlCol="false" tIns="0" lIns="0" bIns="0" rIns="0">
            <a:spAutoFit/>
          </a:bodyPr>
          <a:lstStyle/>
          <a:p>
            <a:pPr algn="ctr" marL="0" indent="0" lvl="0">
              <a:lnSpc>
                <a:spcPts val="8249"/>
              </a:lnSpc>
              <a:spcBef>
                <a:spcPct val="0"/>
              </a:spcBef>
            </a:pPr>
            <a:r>
              <a:rPr lang="en-US" sz="8249">
                <a:solidFill>
                  <a:srgbClr val="000000"/>
                </a:solidFill>
                <a:latin typeface="Funtastic"/>
                <a:ea typeface="Funtastic"/>
                <a:cs typeface="Funtastic"/>
                <a:sym typeface="Funtastic"/>
              </a:rPr>
              <a:t>PROBLEM STATEMENT</a:t>
            </a:r>
          </a:p>
        </p:txBody>
      </p:sp>
      <p:sp>
        <p:nvSpPr>
          <p:cNvPr name="Freeform 14" id="14"/>
          <p:cNvSpPr/>
          <p:nvPr/>
        </p:nvSpPr>
        <p:spPr>
          <a:xfrm flipH="true" flipV="false" rot="0">
            <a:off x="15694742" y="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TextBox 15" id="15"/>
          <p:cNvSpPr txBox="true"/>
          <p:nvPr/>
        </p:nvSpPr>
        <p:spPr>
          <a:xfrm rot="0">
            <a:off x="2037234" y="3615102"/>
            <a:ext cx="14670347" cy="3517705"/>
          </a:xfrm>
          <a:prstGeom prst="rect">
            <a:avLst/>
          </a:prstGeom>
        </p:spPr>
        <p:txBody>
          <a:bodyPr anchor="t" rtlCol="false" tIns="0" lIns="0" bIns="0" rIns="0">
            <a:spAutoFit/>
          </a:bodyPr>
          <a:lstStyle/>
          <a:p>
            <a:pPr algn="ctr" marL="0" indent="0" lvl="0">
              <a:lnSpc>
                <a:spcPts val="3510"/>
              </a:lnSpc>
              <a:spcBef>
                <a:spcPct val="0"/>
              </a:spcBef>
            </a:pPr>
            <a:r>
              <a:rPr lang="en-US" sz="2507">
                <a:solidFill>
                  <a:srgbClr val="000000"/>
                </a:solidFill>
                <a:latin typeface="Poppins"/>
                <a:ea typeface="Poppins"/>
                <a:cs typeface="Poppins"/>
                <a:sym typeface="Poppins"/>
              </a:rPr>
              <a:t>The </a:t>
            </a:r>
            <a:r>
              <a:rPr lang="en-US" b="true" sz="2507">
                <a:solidFill>
                  <a:srgbClr val="000000"/>
                </a:solidFill>
                <a:latin typeface="Poppins Bold"/>
                <a:ea typeface="Poppins Bold"/>
                <a:cs typeface="Poppins Bold"/>
                <a:sym typeface="Poppins Bold"/>
              </a:rPr>
              <a:t>Philippines </a:t>
            </a:r>
            <a:r>
              <a:rPr lang="en-US" sz="2507">
                <a:solidFill>
                  <a:srgbClr val="000000"/>
                </a:solidFill>
                <a:latin typeface="Poppins"/>
                <a:ea typeface="Poppins"/>
                <a:cs typeface="Poppins"/>
                <a:sym typeface="Poppins"/>
              </a:rPr>
              <a:t>faces challenges in </a:t>
            </a:r>
            <a:r>
              <a:rPr lang="en-US" b="true" sz="2507">
                <a:solidFill>
                  <a:srgbClr val="000000"/>
                </a:solidFill>
                <a:latin typeface="Poppins Bold"/>
                <a:ea typeface="Poppins Bold"/>
                <a:cs typeface="Poppins Bold"/>
                <a:sym typeface="Poppins Bold"/>
              </a:rPr>
              <a:t>managing hazardous waste</a:t>
            </a:r>
            <a:r>
              <a:rPr lang="en-US" sz="2507">
                <a:solidFill>
                  <a:srgbClr val="000000"/>
                </a:solidFill>
                <a:latin typeface="Poppins"/>
                <a:ea typeface="Poppins"/>
                <a:cs typeface="Poppins"/>
                <a:sym typeface="Poppins"/>
              </a:rPr>
              <a:t> effectively due to an unequal distribution and limited number of facilities across different regions. The rapid growth of industries and cities, combined with a lack of proper infrastructure, </a:t>
            </a:r>
            <a:r>
              <a:rPr lang="en-US" sz="2507">
                <a:solidFill>
                  <a:srgbClr val="FF3131"/>
                </a:solidFill>
                <a:latin typeface="Poppins"/>
                <a:ea typeface="Poppins"/>
                <a:cs typeface="Poppins"/>
                <a:sym typeface="Poppins"/>
              </a:rPr>
              <a:t>has worsened the situation</a:t>
            </a:r>
            <a:r>
              <a:rPr lang="en-US" sz="2507">
                <a:solidFill>
                  <a:srgbClr val="000000"/>
                </a:solidFill>
                <a:latin typeface="Poppins"/>
                <a:ea typeface="Poppins"/>
                <a:cs typeface="Poppins"/>
                <a:sym typeface="Poppins"/>
              </a:rPr>
              <a:t>, causing </a:t>
            </a:r>
            <a:r>
              <a:rPr lang="en-US" sz="2507">
                <a:solidFill>
                  <a:srgbClr val="FF3131"/>
                </a:solidFill>
                <a:latin typeface="Poppins"/>
                <a:ea typeface="Poppins"/>
                <a:cs typeface="Poppins"/>
                <a:sym typeface="Poppins"/>
              </a:rPr>
              <a:t>environmental damage and health risks</a:t>
            </a:r>
            <a:r>
              <a:rPr lang="en-US" sz="2507">
                <a:solidFill>
                  <a:srgbClr val="000000"/>
                </a:solidFill>
                <a:latin typeface="Poppins"/>
                <a:ea typeface="Poppins"/>
                <a:cs typeface="Poppins"/>
                <a:sym typeface="Poppins"/>
              </a:rPr>
              <a:t> in areas with insufficient services. Most facilities are located in a few regions, leaving many parts of the country </a:t>
            </a:r>
            <a:r>
              <a:rPr lang="en-US" sz="2507">
                <a:solidFill>
                  <a:srgbClr val="FF3131"/>
                </a:solidFill>
                <a:latin typeface="Poppins"/>
                <a:ea typeface="Poppins"/>
                <a:cs typeface="Poppins"/>
                <a:sym typeface="Poppins"/>
              </a:rPr>
              <a:t>without adequate waste treatment and disposal options</a:t>
            </a:r>
            <a:r>
              <a:rPr lang="en-US" sz="2507">
                <a:solidFill>
                  <a:srgbClr val="000000"/>
                </a:solidFill>
                <a:latin typeface="Poppins"/>
                <a:ea typeface="Poppins"/>
                <a:cs typeface="Poppins"/>
                <a:sym typeface="Poppins"/>
              </a:rPr>
              <a:t>. To solve this problem, there is a need to </a:t>
            </a:r>
            <a:r>
              <a:rPr lang="en-US" sz="2507">
                <a:solidFill>
                  <a:srgbClr val="00BF63"/>
                </a:solidFill>
                <a:latin typeface="Poppins"/>
                <a:ea typeface="Poppins"/>
                <a:cs typeface="Poppins"/>
                <a:sym typeface="Poppins"/>
              </a:rPr>
              <a:t>optimize the placement of facilities</a:t>
            </a:r>
            <a:r>
              <a:rPr lang="en-US" sz="2507">
                <a:solidFill>
                  <a:srgbClr val="000000"/>
                </a:solidFill>
                <a:latin typeface="Poppins"/>
                <a:ea typeface="Poppins"/>
                <a:cs typeface="Poppins"/>
                <a:sym typeface="Poppins"/>
              </a:rPr>
              <a:t> to ensure fair access and </a:t>
            </a:r>
            <a:r>
              <a:rPr lang="en-US" sz="2507">
                <a:solidFill>
                  <a:srgbClr val="00BF63"/>
                </a:solidFill>
                <a:latin typeface="Poppins"/>
                <a:ea typeface="Poppins"/>
                <a:cs typeface="Poppins"/>
                <a:sym typeface="Poppins"/>
              </a:rPr>
              <a:t>reduce environmental and health hazards</a:t>
            </a:r>
            <a:r>
              <a:rPr lang="en-US" sz="2507">
                <a:solidFill>
                  <a:srgbClr val="000000"/>
                </a:solidFill>
                <a:latin typeface="Poppins"/>
                <a:ea typeface="Poppins"/>
                <a:cs typeface="Poppins"/>
                <a:sym typeface="Poppins"/>
              </a:rPr>
              <a:t>.</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065533"/>
            <a:ext cx="19077134" cy="4385535"/>
          </a:xfrm>
          <a:custGeom>
            <a:avLst/>
            <a:gdLst/>
            <a:ahLst/>
            <a:cxnLst/>
            <a:rect r="r" b="b" t="t" l="l"/>
            <a:pathLst>
              <a:path h="4385535" w="19077134">
                <a:moveTo>
                  <a:pt x="0" y="0"/>
                </a:moveTo>
                <a:lnTo>
                  <a:pt x="19077134" y="0"/>
                </a:lnTo>
                <a:lnTo>
                  <a:pt x="19077134" y="4385534"/>
                </a:lnTo>
                <a:lnTo>
                  <a:pt x="0" y="4385534"/>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394567" y="3816771"/>
            <a:ext cx="9637858" cy="3248761"/>
          </a:xfrm>
          <a:custGeom>
            <a:avLst/>
            <a:gdLst/>
            <a:ahLst/>
            <a:cxnLst/>
            <a:rect r="r" b="b" t="t" l="l"/>
            <a:pathLst>
              <a:path h="3248761" w="9637858">
                <a:moveTo>
                  <a:pt x="0" y="0"/>
                </a:moveTo>
                <a:lnTo>
                  <a:pt x="9637858" y="0"/>
                </a:lnTo>
                <a:lnTo>
                  <a:pt x="9637858" y="3248762"/>
                </a:lnTo>
                <a:lnTo>
                  <a:pt x="0" y="3248762"/>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493858" y="234385"/>
            <a:ext cx="5186516" cy="2638640"/>
          </a:xfrm>
          <a:custGeom>
            <a:avLst/>
            <a:gdLst/>
            <a:ahLst/>
            <a:cxnLst/>
            <a:rect r="r" b="b" t="t" l="l"/>
            <a:pathLst>
              <a:path h="2638640" w="5186516">
                <a:moveTo>
                  <a:pt x="0" y="0"/>
                </a:moveTo>
                <a:lnTo>
                  <a:pt x="5186516" y="0"/>
                </a:lnTo>
                <a:lnTo>
                  <a:pt x="5186516" y="2638640"/>
                </a:lnTo>
                <a:lnTo>
                  <a:pt x="0" y="2638640"/>
                </a:lnTo>
                <a:lnTo>
                  <a:pt x="0" y="0"/>
                </a:lnTo>
                <a:close/>
              </a:path>
            </a:pathLst>
          </a:custGeom>
          <a:blipFill>
            <a:blip r:embed="rId7">
              <a:alphaModFix amt="75000"/>
            </a:blip>
            <a:stretch>
              <a:fillRect l="0" t="0" r="0" b="0"/>
            </a:stretch>
          </a:blipFill>
        </p:spPr>
      </p:sp>
      <p:sp>
        <p:nvSpPr>
          <p:cNvPr name="Freeform 6" id="6"/>
          <p:cNvSpPr/>
          <p:nvPr/>
        </p:nvSpPr>
        <p:spPr>
          <a:xfrm flipH="false" flipV="false" rot="0">
            <a:off x="15694742" y="234385"/>
            <a:ext cx="2804922" cy="8380493"/>
          </a:xfrm>
          <a:custGeom>
            <a:avLst/>
            <a:gdLst/>
            <a:ahLst/>
            <a:cxnLst/>
            <a:rect r="r" b="b" t="t" l="l"/>
            <a:pathLst>
              <a:path h="8380493" w="2804922">
                <a:moveTo>
                  <a:pt x="0" y="0"/>
                </a:moveTo>
                <a:lnTo>
                  <a:pt x="2804922" y="0"/>
                </a:lnTo>
                <a:lnTo>
                  <a:pt x="2804922" y="8380493"/>
                </a:lnTo>
                <a:lnTo>
                  <a:pt x="0" y="8380493"/>
                </a:lnTo>
                <a:lnTo>
                  <a:pt x="0" y="0"/>
                </a:lnTo>
                <a:close/>
              </a:path>
            </a:pathLst>
          </a:custGeom>
          <a:blipFill>
            <a:blip r:embed="rId8"/>
            <a:stretch>
              <a:fillRect l="-916" t="0" r="-916" b="0"/>
            </a:stretch>
          </a:blipFill>
        </p:spPr>
      </p:sp>
      <p:sp>
        <p:nvSpPr>
          <p:cNvPr name="Freeform 7" id="7"/>
          <p:cNvSpPr/>
          <p:nvPr/>
        </p:nvSpPr>
        <p:spPr>
          <a:xfrm flipH="false" flipV="false" rot="0">
            <a:off x="9202220" y="3816771"/>
            <a:ext cx="9637858" cy="3248761"/>
          </a:xfrm>
          <a:custGeom>
            <a:avLst/>
            <a:gdLst/>
            <a:ahLst/>
            <a:cxnLst/>
            <a:rect r="r" b="b" t="t" l="l"/>
            <a:pathLst>
              <a:path h="3248761" w="9637858">
                <a:moveTo>
                  <a:pt x="0" y="0"/>
                </a:moveTo>
                <a:lnTo>
                  <a:pt x="9637858" y="0"/>
                </a:lnTo>
                <a:lnTo>
                  <a:pt x="9637858" y="3248762"/>
                </a:lnTo>
                <a:lnTo>
                  <a:pt x="0" y="3248762"/>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007961" y="3483204"/>
            <a:ext cx="14728892" cy="3956941"/>
            <a:chOff x="0" y="0"/>
            <a:chExt cx="3559169" cy="956177"/>
          </a:xfrm>
        </p:grpSpPr>
        <p:sp>
          <p:nvSpPr>
            <p:cNvPr name="Freeform 9" id="9"/>
            <p:cNvSpPr/>
            <p:nvPr/>
          </p:nvSpPr>
          <p:spPr>
            <a:xfrm flipH="false" flipV="false" rot="0">
              <a:off x="0" y="0"/>
              <a:ext cx="3559169" cy="956177"/>
            </a:xfrm>
            <a:custGeom>
              <a:avLst/>
              <a:gdLst/>
              <a:ahLst/>
              <a:cxnLst/>
              <a:rect r="r" b="b" t="t" l="l"/>
              <a:pathLst>
                <a:path h="956177" w="3559169">
                  <a:moveTo>
                    <a:pt x="8410" y="0"/>
                  </a:moveTo>
                  <a:lnTo>
                    <a:pt x="3550759" y="0"/>
                  </a:lnTo>
                  <a:cubicBezTo>
                    <a:pt x="3552990" y="0"/>
                    <a:pt x="3555129" y="886"/>
                    <a:pt x="3556706" y="2463"/>
                  </a:cubicBezTo>
                  <a:cubicBezTo>
                    <a:pt x="3558283" y="4040"/>
                    <a:pt x="3559169" y="6180"/>
                    <a:pt x="3559169" y="8410"/>
                  </a:cubicBezTo>
                  <a:lnTo>
                    <a:pt x="3559169" y="947767"/>
                  </a:lnTo>
                  <a:cubicBezTo>
                    <a:pt x="3559169" y="949997"/>
                    <a:pt x="3558283" y="952136"/>
                    <a:pt x="3556706" y="953713"/>
                  </a:cubicBezTo>
                  <a:cubicBezTo>
                    <a:pt x="3555129" y="955291"/>
                    <a:pt x="3552990" y="956177"/>
                    <a:pt x="3550759" y="956177"/>
                  </a:cubicBezTo>
                  <a:lnTo>
                    <a:pt x="8410" y="956177"/>
                  </a:lnTo>
                  <a:cubicBezTo>
                    <a:pt x="3765" y="956177"/>
                    <a:pt x="0" y="952411"/>
                    <a:pt x="0" y="947767"/>
                  </a:cubicBezTo>
                  <a:lnTo>
                    <a:pt x="0" y="8410"/>
                  </a:lnTo>
                  <a:cubicBezTo>
                    <a:pt x="0" y="3765"/>
                    <a:pt x="3765" y="0"/>
                    <a:pt x="8410" y="0"/>
                  </a:cubicBezTo>
                  <a:close/>
                </a:path>
              </a:pathLst>
            </a:custGeom>
            <a:solidFill>
              <a:srgbClr val="FFFFFF"/>
            </a:solidFill>
          </p:spPr>
        </p:sp>
        <p:sp>
          <p:nvSpPr>
            <p:cNvPr name="TextBox 10" id="10"/>
            <p:cNvSpPr txBox="true"/>
            <p:nvPr/>
          </p:nvSpPr>
          <p:spPr>
            <a:xfrm>
              <a:off x="0" y="-47625"/>
              <a:ext cx="3559169" cy="1003802"/>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true" flipV="false" rot="0">
            <a:off x="461127" y="6732485"/>
            <a:ext cx="3421221" cy="3554515"/>
          </a:xfrm>
          <a:custGeom>
            <a:avLst/>
            <a:gdLst/>
            <a:ahLst/>
            <a:cxnLst/>
            <a:rect r="r" b="b" t="t" l="l"/>
            <a:pathLst>
              <a:path h="3554515" w="3421221">
                <a:moveTo>
                  <a:pt x="3421221" y="0"/>
                </a:moveTo>
                <a:lnTo>
                  <a:pt x="0" y="0"/>
                </a:lnTo>
                <a:lnTo>
                  <a:pt x="0" y="3554515"/>
                </a:lnTo>
                <a:lnTo>
                  <a:pt x="3421221" y="3554515"/>
                </a:lnTo>
                <a:lnTo>
                  <a:pt x="3421221" y="0"/>
                </a:lnTo>
                <a:close/>
              </a:path>
            </a:pathLst>
          </a:custGeom>
          <a:blipFill>
            <a:blip r:embed="rId9"/>
            <a:stretch>
              <a:fillRect l="0" t="0" r="0" b="0"/>
            </a:stretch>
          </a:blipFill>
        </p:spPr>
      </p:sp>
      <p:sp>
        <p:nvSpPr>
          <p:cNvPr name="Freeform 12" id="12"/>
          <p:cNvSpPr/>
          <p:nvPr/>
        </p:nvSpPr>
        <p:spPr>
          <a:xfrm flipH="false" flipV="false" rot="0">
            <a:off x="9949856" y="8003122"/>
            <a:ext cx="8732711" cy="2283878"/>
          </a:xfrm>
          <a:custGeom>
            <a:avLst/>
            <a:gdLst/>
            <a:ahLst/>
            <a:cxnLst/>
            <a:rect r="r" b="b" t="t" l="l"/>
            <a:pathLst>
              <a:path h="2283878" w="8732711">
                <a:moveTo>
                  <a:pt x="0" y="0"/>
                </a:moveTo>
                <a:lnTo>
                  <a:pt x="8732711" y="0"/>
                </a:lnTo>
                <a:lnTo>
                  <a:pt x="8732711" y="2283878"/>
                </a:lnTo>
                <a:lnTo>
                  <a:pt x="0" y="2283878"/>
                </a:lnTo>
                <a:lnTo>
                  <a:pt x="0" y="0"/>
                </a:lnTo>
                <a:close/>
              </a:path>
            </a:pathLst>
          </a:custGeom>
          <a:blipFill>
            <a:blip r:embed="rId10"/>
            <a:stretch>
              <a:fillRect l="0" t="0" r="0" b="0"/>
            </a:stretch>
          </a:blipFill>
        </p:spPr>
      </p:sp>
      <p:sp>
        <p:nvSpPr>
          <p:cNvPr name="TextBox 13" id="13"/>
          <p:cNvSpPr txBox="true"/>
          <p:nvPr/>
        </p:nvSpPr>
        <p:spPr>
          <a:xfrm rot="0">
            <a:off x="1028700" y="1019175"/>
            <a:ext cx="15314792" cy="1257287"/>
          </a:xfrm>
          <a:prstGeom prst="rect">
            <a:avLst/>
          </a:prstGeom>
        </p:spPr>
        <p:txBody>
          <a:bodyPr anchor="t" rtlCol="false" tIns="0" lIns="0" bIns="0" rIns="0">
            <a:spAutoFit/>
          </a:bodyPr>
          <a:lstStyle/>
          <a:p>
            <a:pPr algn="l" marL="0" indent="0" lvl="0">
              <a:lnSpc>
                <a:spcPts val="8249"/>
              </a:lnSpc>
              <a:spcBef>
                <a:spcPct val="0"/>
              </a:spcBef>
            </a:pPr>
            <a:r>
              <a:rPr lang="en-US" sz="8249">
                <a:solidFill>
                  <a:srgbClr val="000000"/>
                </a:solidFill>
                <a:latin typeface="Funtastic"/>
                <a:ea typeface="Funtastic"/>
                <a:cs typeface="Funtastic"/>
                <a:sym typeface="Funtastic"/>
              </a:rPr>
              <a:t>WHAT IS HAZARDOUS WASTE?</a:t>
            </a:r>
          </a:p>
        </p:txBody>
      </p:sp>
      <p:sp>
        <p:nvSpPr>
          <p:cNvPr name="Freeform 14" id="14"/>
          <p:cNvSpPr/>
          <p:nvPr/>
        </p:nvSpPr>
        <p:spPr>
          <a:xfrm flipH="true" flipV="false" rot="0">
            <a:off x="15694742" y="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TextBox 15" id="15"/>
          <p:cNvSpPr txBox="true"/>
          <p:nvPr/>
        </p:nvSpPr>
        <p:spPr>
          <a:xfrm rot="0">
            <a:off x="2171737" y="3121287"/>
            <a:ext cx="14401340" cy="4585526"/>
          </a:xfrm>
          <a:prstGeom prst="rect">
            <a:avLst/>
          </a:prstGeom>
        </p:spPr>
        <p:txBody>
          <a:bodyPr anchor="t" rtlCol="false" tIns="0" lIns="0" bIns="0" rIns="0">
            <a:spAutoFit/>
          </a:bodyPr>
          <a:lstStyle/>
          <a:p>
            <a:pPr algn="ctr">
              <a:lnSpc>
                <a:spcPts val="4504"/>
              </a:lnSpc>
            </a:pPr>
          </a:p>
          <a:p>
            <a:pPr algn="ctr">
              <a:lnSpc>
                <a:spcPts val="4504"/>
              </a:lnSpc>
            </a:pPr>
            <a:r>
              <a:rPr lang="en-US" sz="3217" b="true">
                <a:solidFill>
                  <a:srgbClr val="000000"/>
                </a:solidFill>
                <a:latin typeface="Poppins Bold"/>
                <a:ea typeface="Poppins Bold"/>
                <a:cs typeface="Poppins Bold"/>
                <a:sym typeface="Poppins Bold"/>
              </a:rPr>
              <a:t>Hazardous waste </a:t>
            </a:r>
            <a:r>
              <a:rPr lang="en-US" sz="3217">
                <a:solidFill>
                  <a:srgbClr val="000000"/>
                </a:solidFill>
                <a:latin typeface="Poppins"/>
                <a:ea typeface="Poppins"/>
                <a:cs typeface="Poppins"/>
                <a:sym typeface="Poppins"/>
              </a:rPr>
              <a:t>includes materials that are dangerous to people and the environment due to their toxic, flammable, corrosive, or reactive nature. Examples include </a:t>
            </a:r>
            <a:r>
              <a:rPr lang="en-US" sz="3217">
                <a:solidFill>
                  <a:srgbClr val="5E17EB"/>
                </a:solidFill>
                <a:latin typeface="Poppins"/>
                <a:ea typeface="Poppins"/>
                <a:cs typeface="Poppins"/>
                <a:sym typeface="Poppins"/>
              </a:rPr>
              <a:t>industrial chemicals</a:t>
            </a:r>
            <a:r>
              <a:rPr lang="en-US" sz="3217">
                <a:solidFill>
                  <a:srgbClr val="000000"/>
                </a:solidFill>
                <a:latin typeface="Poppins"/>
                <a:ea typeface="Poppins"/>
                <a:cs typeface="Poppins"/>
                <a:sym typeface="Poppins"/>
              </a:rPr>
              <a:t>, </a:t>
            </a:r>
            <a:r>
              <a:rPr lang="en-US" sz="3217">
                <a:solidFill>
                  <a:srgbClr val="5271FF"/>
                </a:solidFill>
                <a:latin typeface="Poppins"/>
                <a:ea typeface="Poppins"/>
                <a:cs typeface="Poppins"/>
                <a:sym typeface="Poppins"/>
              </a:rPr>
              <a:t>stabilized wastes</a:t>
            </a:r>
            <a:r>
              <a:rPr lang="en-US" sz="3217">
                <a:solidFill>
                  <a:srgbClr val="000000"/>
                </a:solidFill>
                <a:latin typeface="Poppins"/>
                <a:ea typeface="Poppins"/>
                <a:cs typeface="Poppins"/>
                <a:sym typeface="Poppins"/>
              </a:rPr>
              <a:t>, </a:t>
            </a:r>
            <a:r>
              <a:rPr lang="en-US" sz="3217">
                <a:solidFill>
                  <a:srgbClr val="E9C790"/>
                </a:solidFill>
                <a:latin typeface="Poppins"/>
                <a:ea typeface="Poppins"/>
                <a:cs typeface="Poppins"/>
                <a:sym typeface="Poppins"/>
              </a:rPr>
              <a:t>oil</a:t>
            </a:r>
            <a:r>
              <a:rPr lang="en-US" sz="3217">
                <a:solidFill>
                  <a:srgbClr val="000000"/>
                </a:solidFill>
                <a:latin typeface="Poppins"/>
                <a:ea typeface="Poppins"/>
                <a:cs typeface="Poppins"/>
                <a:sym typeface="Poppins"/>
              </a:rPr>
              <a:t>, </a:t>
            </a:r>
            <a:r>
              <a:rPr lang="en-US" sz="3217">
                <a:solidFill>
                  <a:srgbClr val="FF3131"/>
                </a:solidFill>
                <a:latin typeface="Poppins"/>
                <a:ea typeface="Poppins"/>
                <a:cs typeface="Poppins"/>
                <a:sym typeface="Poppins"/>
              </a:rPr>
              <a:t>wastes with inorganic chemicals</a:t>
            </a:r>
            <a:r>
              <a:rPr lang="en-US" sz="3217">
                <a:solidFill>
                  <a:srgbClr val="000000"/>
                </a:solidFill>
                <a:latin typeface="Poppins"/>
                <a:ea typeface="Poppins"/>
                <a:cs typeface="Poppins"/>
                <a:sym typeface="Poppins"/>
              </a:rPr>
              <a:t>, and </a:t>
            </a:r>
            <a:r>
              <a:rPr lang="en-US" sz="3217">
                <a:solidFill>
                  <a:srgbClr val="00BF63"/>
                </a:solidFill>
                <a:latin typeface="Poppins"/>
                <a:ea typeface="Poppins"/>
                <a:cs typeface="Poppins"/>
                <a:sym typeface="Poppins"/>
              </a:rPr>
              <a:t>organic chemicals</a:t>
            </a:r>
            <a:r>
              <a:rPr lang="en-US" sz="3217">
                <a:solidFill>
                  <a:srgbClr val="000000"/>
                </a:solidFill>
                <a:latin typeface="Poppins"/>
                <a:ea typeface="Poppins"/>
                <a:cs typeface="Poppins"/>
                <a:sym typeface="Poppins"/>
              </a:rPr>
              <a:t>. These substances can cause harm if not handled and disposed of properly.</a:t>
            </a:r>
          </a:p>
          <a:p>
            <a:pPr algn="ctr" marL="0" indent="0" lvl="0">
              <a:lnSpc>
                <a:spcPts val="4504"/>
              </a:lnSpc>
              <a:spcBef>
                <a:spcPct val="0"/>
              </a:spcBef>
            </a:pP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1797" y="6983636"/>
            <a:ext cx="19077134" cy="4385535"/>
          </a:xfrm>
          <a:custGeom>
            <a:avLst/>
            <a:gdLst/>
            <a:ahLst/>
            <a:cxnLst/>
            <a:rect r="r" b="b" t="t" l="l"/>
            <a:pathLst>
              <a:path h="4385535" w="19077134">
                <a:moveTo>
                  <a:pt x="0" y="0"/>
                </a:moveTo>
                <a:lnTo>
                  <a:pt x="19077134" y="0"/>
                </a:lnTo>
                <a:lnTo>
                  <a:pt x="19077134" y="4385534"/>
                </a:lnTo>
                <a:lnTo>
                  <a:pt x="0" y="4385534"/>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grpSp>
        <p:nvGrpSpPr>
          <p:cNvPr name="Group 4" id="4"/>
          <p:cNvGrpSpPr/>
          <p:nvPr/>
        </p:nvGrpSpPr>
        <p:grpSpPr>
          <a:xfrm rot="0">
            <a:off x="4604587" y="3229782"/>
            <a:ext cx="9078827" cy="637307"/>
            <a:chOff x="0" y="0"/>
            <a:chExt cx="2193857" cy="154002"/>
          </a:xfrm>
        </p:grpSpPr>
        <p:sp>
          <p:nvSpPr>
            <p:cNvPr name="Freeform 5" id="5"/>
            <p:cNvSpPr/>
            <p:nvPr/>
          </p:nvSpPr>
          <p:spPr>
            <a:xfrm flipH="false" flipV="false" rot="0">
              <a:off x="0" y="0"/>
              <a:ext cx="2193857" cy="154002"/>
            </a:xfrm>
            <a:custGeom>
              <a:avLst/>
              <a:gdLst/>
              <a:ahLst/>
              <a:cxnLst/>
              <a:rect r="r" b="b" t="t" l="l"/>
              <a:pathLst>
                <a:path h="154002" w="2193857">
                  <a:moveTo>
                    <a:pt x="13644" y="0"/>
                  </a:moveTo>
                  <a:lnTo>
                    <a:pt x="2180213" y="0"/>
                  </a:lnTo>
                  <a:cubicBezTo>
                    <a:pt x="2187748" y="0"/>
                    <a:pt x="2193857" y="6109"/>
                    <a:pt x="2193857" y="13644"/>
                  </a:cubicBezTo>
                  <a:lnTo>
                    <a:pt x="2193857" y="140358"/>
                  </a:lnTo>
                  <a:cubicBezTo>
                    <a:pt x="2193857" y="147894"/>
                    <a:pt x="2187748" y="154002"/>
                    <a:pt x="2180213" y="154002"/>
                  </a:cubicBezTo>
                  <a:lnTo>
                    <a:pt x="13644" y="154002"/>
                  </a:lnTo>
                  <a:cubicBezTo>
                    <a:pt x="6109" y="154002"/>
                    <a:pt x="0" y="147894"/>
                    <a:pt x="0" y="140358"/>
                  </a:cubicBezTo>
                  <a:lnTo>
                    <a:pt x="0" y="13644"/>
                  </a:lnTo>
                  <a:cubicBezTo>
                    <a:pt x="0" y="6109"/>
                    <a:pt x="6109" y="0"/>
                    <a:pt x="13644" y="0"/>
                  </a:cubicBezTo>
                  <a:close/>
                </a:path>
              </a:pathLst>
            </a:custGeom>
            <a:solidFill>
              <a:srgbClr val="FFFFFF"/>
            </a:solidFill>
          </p:spPr>
        </p:sp>
        <p:sp>
          <p:nvSpPr>
            <p:cNvPr name="TextBox 6" id="6"/>
            <p:cNvSpPr txBox="true"/>
            <p:nvPr/>
          </p:nvSpPr>
          <p:spPr>
            <a:xfrm>
              <a:off x="0" y="-47625"/>
              <a:ext cx="2193857" cy="201627"/>
            </a:xfrm>
            <a:prstGeom prst="rect">
              <a:avLst/>
            </a:prstGeom>
          </p:spPr>
          <p:txBody>
            <a:bodyPr anchor="ctr" rtlCol="false" tIns="50800" lIns="50800" bIns="50800" rIns="50800"/>
            <a:lstStyle/>
            <a:p>
              <a:pPr algn="ctr">
                <a:lnSpc>
                  <a:spcPts val="3499"/>
                </a:lnSpc>
              </a:pPr>
            </a:p>
          </p:txBody>
        </p:sp>
      </p:grpSp>
      <p:sp>
        <p:nvSpPr>
          <p:cNvPr name="Freeform 7" id="7"/>
          <p:cNvSpPr/>
          <p:nvPr/>
        </p:nvSpPr>
        <p:spPr>
          <a:xfrm flipH="false" flipV="false" rot="0">
            <a:off x="8733354" y="3799746"/>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87716" y="377366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5769221" y="4414606"/>
            <a:ext cx="3238210" cy="2987729"/>
            <a:chOff x="0" y="0"/>
            <a:chExt cx="676481" cy="624154"/>
          </a:xfrm>
        </p:grpSpPr>
        <p:sp>
          <p:nvSpPr>
            <p:cNvPr name="Freeform 10" id="10"/>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11" id="11"/>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Freeform 12" id="12"/>
          <p:cNvSpPr/>
          <p:nvPr/>
        </p:nvSpPr>
        <p:spPr>
          <a:xfrm flipH="false" flipV="false" rot="0">
            <a:off x="0" y="-66083"/>
            <a:ext cx="5186516" cy="2638640"/>
          </a:xfrm>
          <a:custGeom>
            <a:avLst/>
            <a:gdLst/>
            <a:ahLst/>
            <a:cxnLst/>
            <a:rect r="r" b="b" t="t" l="l"/>
            <a:pathLst>
              <a:path h="2638640" w="5186516">
                <a:moveTo>
                  <a:pt x="0" y="0"/>
                </a:moveTo>
                <a:lnTo>
                  <a:pt x="5186516" y="0"/>
                </a:lnTo>
                <a:lnTo>
                  <a:pt x="5186516" y="2638640"/>
                </a:lnTo>
                <a:lnTo>
                  <a:pt x="0" y="2638640"/>
                </a:lnTo>
                <a:lnTo>
                  <a:pt x="0" y="0"/>
                </a:lnTo>
                <a:close/>
              </a:path>
            </a:pathLst>
          </a:custGeom>
          <a:blipFill>
            <a:blip r:embed="rId7">
              <a:alphaModFix amt="75000"/>
            </a:blip>
            <a:stretch>
              <a:fillRect l="0" t="0" r="0" b="0"/>
            </a:stretch>
          </a:blipFill>
        </p:spPr>
      </p:sp>
      <p:sp>
        <p:nvSpPr>
          <p:cNvPr name="Freeform 13" id="13"/>
          <p:cNvSpPr/>
          <p:nvPr/>
        </p:nvSpPr>
        <p:spPr>
          <a:xfrm flipH="false" flipV="false" rot="0">
            <a:off x="-686501" y="299806"/>
            <a:ext cx="2804922" cy="8229600"/>
          </a:xfrm>
          <a:custGeom>
            <a:avLst/>
            <a:gdLst/>
            <a:ahLst/>
            <a:cxnLst/>
            <a:rect r="r" b="b" t="t" l="l"/>
            <a:pathLst>
              <a:path h="8229600" w="2804922">
                <a:moveTo>
                  <a:pt x="0" y="0"/>
                </a:moveTo>
                <a:lnTo>
                  <a:pt x="2804922" y="0"/>
                </a:lnTo>
                <a:lnTo>
                  <a:pt x="2804922" y="8229600"/>
                </a:lnTo>
                <a:lnTo>
                  <a:pt x="0" y="8229600"/>
                </a:lnTo>
                <a:lnTo>
                  <a:pt x="0" y="0"/>
                </a:lnTo>
                <a:close/>
              </a:path>
            </a:pathLst>
          </a:custGeom>
          <a:blipFill>
            <a:blip r:embed="rId8"/>
            <a:stretch>
              <a:fillRect l="0" t="0" r="0" b="0"/>
            </a:stretch>
          </a:blipFill>
        </p:spPr>
      </p:sp>
      <p:sp>
        <p:nvSpPr>
          <p:cNvPr name="Freeform 14" id="14"/>
          <p:cNvSpPr/>
          <p:nvPr/>
        </p:nvSpPr>
        <p:spPr>
          <a:xfrm flipH="true" flipV="false" rot="0">
            <a:off x="12857065" y="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Freeform 15" id="15"/>
          <p:cNvSpPr/>
          <p:nvPr/>
        </p:nvSpPr>
        <p:spPr>
          <a:xfrm flipH="true" flipV="false" rot="0">
            <a:off x="15856839" y="299806"/>
            <a:ext cx="2804922" cy="8229600"/>
          </a:xfrm>
          <a:custGeom>
            <a:avLst/>
            <a:gdLst/>
            <a:ahLst/>
            <a:cxnLst/>
            <a:rect r="r" b="b" t="t" l="l"/>
            <a:pathLst>
              <a:path h="8229600" w="2804922">
                <a:moveTo>
                  <a:pt x="2804922" y="0"/>
                </a:moveTo>
                <a:lnTo>
                  <a:pt x="0" y="0"/>
                </a:lnTo>
                <a:lnTo>
                  <a:pt x="0" y="8229600"/>
                </a:lnTo>
                <a:lnTo>
                  <a:pt x="2804922" y="8229600"/>
                </a:lnTo>
                <a:lnTo>
                  <a:pt x="2804922" y="0"/>
                </a:lnTo>
                <a:close/>
              </a:path>
            </a:pathLst>
          </a:custGeom>
          <a:blipFill>
            <a:blip r:embed="rId8"/>
            <a:stretch>
              <a:fillRect l="0" t="0" r="0" b="0"/>
            </a:stretch>
          </a:blipFill>
        </p:spPr>
      </p:sp>
      <p:sp>
        <p:nvSpPr>
          <p:cNvPr name="Freeform 16" id="16"/>
          <p:cNvSpPr/>
          <p:nvPr/>
        </p:nvSpPr>
        <p:spPr>
          <a:xfrm flipH="false" flipV="false" rot="0">
            <a:off x="-394567" y="8557981"/>
            <a:ext cx="3525522" cy="1826861"/>
          </a:xfrm>
          <a:custGeom>
            <a:avLst/>
            <a:gdLst/>
            <a:ahLst/>
            <a:cxnLst/>
            <a:rect r="r" b="b" t="t" l="l"/>
            <a:pathLst>
              <a:path h="1826861" w="3525522">
                <a:moveTo>
                  <a:pt x="0" y="0"/>
                </a:moveTo>
                <a:lnTo>
                  <a:pt x="3525522" y="0"/>
                </a:lnTo>
                <a:lnTo>
                  <a:pt x="3525522" y="1826861"/>
                </a:lnTo>
                <a:lnTo>
                  <a:pt x="0" y="18268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true" flipV="false" rot="0">
            <a:off x="15157045" y="8529406"/>
            <a:ext cx="3525522" cy="1826861"/>
          </a:xfrm>
          <a:custGeom>
            <a:avLst/>
            <a:gdLst/>
            <a:ahLst/>
            <a:cxnLst/>
            <a:rect r="r" b="b" t="t" l="l"/>
            <a:pathLst>
              <a:path h="1826861" w="3525522">
                <a:moveTo>
                  <a:pt x="3525522" y="0"/>
                </a:moveTo>
                <a:lnTo>
                  <a:pt x="0" y="0"/>
                </a:lnTo>
                <a:lnTo>
                  <a:pt x="0" y="1826861"/>
                </a:lnTo>
                <a:lnTo>
                  <a:pt x="3525522" y="1826861"/>
                </a:lnTo>
                <a:lnTo>
                  <a:pt x="352552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10024953" y="7871120"/>
            <a:ext cx="2512671" cy="2610567"/>
          </a:xfrm>
          <a:custGeom>
            <a:avLst/>
            <a:gdLst/>
            <a:ahLst/>
            <a:cxnLst/>
            <a:rect r="r" b="b" t="t" l="l"/>
            <a:pathLst>
              <a:path h="2610567" w="2512671">
                <a:moveTo>
                  <a:pt x="0" y="0"/>
                </a:moveTo>
                <a:lnTo>
                  <a:pt x="2512671" y="0"/>
                </a:lnTo>
                <a:lnTo>
                  <a:pt x="2512671" y="2610566"/>
                </a:lnTo>
                <a:lnTo>
                  <a:pt x="0" y="2610566"/>
                </a:lnTo>
                <a:lnTo>
                  <a:pt x="0" y="0"/>
                </a:lnTo>
                <a:close/>
              </a:path>
            </a:pathLst>
          </a:custGeom>
          <a:blipFill>
            <a:blip r:embed="rId11"/>
            <a:stretch>
              <a:fillRect l="0" t="0" r="0" b="0"/>
            </a:stretch>
          </a:blipFill>
        </p:spPr>
      </p:sp>
      <p:sp>
        <p:nvSpPr>
          <p:cNvPr name="Freeform 19" id="19"/>
          <p:cNvSpPr/>
          <p:nvPr/>
        </p:nvSpPr>
        <p:spPr>
          <a:xfrm flipH="false" flipV="false" rot="0">
            <a:off x="6167016" y="4498508"/>
            <a:ext cx="2401696" cy="2401696"/>
          </a:xfrm>
          <a:custGeom>
            <a:avLst/>
            <a:gdLst/>
            <a:ahLst/>
            <a:cxnLst/>
            <a:rect r="r" b="b" t="t" l="l"/>
            <a:pathLst>
              <a:path h="2401696" w="2401696">
                <a:moveTo>
                  <a:pt x="0" y="0"/>
                </a:moveTo>
                <a:lnTo>
                  <a:pt x="2401696" y="0"/>
                </a:lnTo>
                <a:lnTo>
                  <a:pt x="2401696" y="2401695"/>
                </a:lnTo>
                <a:lnTo>
                  <a:pt x="0" y="2401695"/>
                </a:lnTo>
                <a:lnTo>
                  <a:pt x="0" y="0"/>
                </a:lnTo>
                <a:close/>
              </a:path>
            </a:pathLst>
          </a:custGeom>
          <a:blipFill>
            <a:blip r:embed="rId12"/>
            <a:stretch>
              <a:fillRect l="0" t="0" r="0" b="0"/>
            </a:stretch>
          </a:blipFill>
        </p:spPr>
      </p:sp>
      <p:grpSp>
        <p:nvGrpSpPr>
          <p:cNvPr name="Group 20" id="20"/>
          <p:cNvGrpSpPr/>
          <p:nvPr/>
        </p:nvGrpSpPr>
        <p:grpSpPr>
          <a:xfrm rot="0">
            <a:off x="14021090" y="4370358"/>
            <a:ext cx="3238210" cy="2987729"/>
            <a:chOff x="0" y="0"/>
            <a:chExt cx="676481" cy="624154"/>
          </a:xfrm>
        </p:grpSpPr>
        <p:sp>
          <p:nvSpPr>
            <p:cNvPr name="Freeform 21" id="21"/>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22" id="22"/>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23" id="23"/>
          <p:cNvGrpSpPr/>
          <p:nvPr/>
        </p:nvGrpSpPr>
        <p:grpSpPr>
          <a:xfrm rot="0">
            <a:off x="14008478" y="6900203"/>
            <a:ext cx="3238210" cy="818225"/>
            <a:chOff x="0" y="0"/>
            <a:chExt cx="676481" cy="170932"/>
          </a:xfrm>
        </p:grpSpPr>
        <p:sp>
          <p:nvSpPr>
            <p:cNvPr name="Freeform 24" id="24"/>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25" id="25"/>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TextBox 26" id="26"/>
          <p:cNvSpPr txBox="true"/>
          <p:nvPr/>
        </p:nvSpPr>
        <p:spPr>
          <a:xfrm rot="0">
            <a:off x="14418885" y="7000591"/>
            <a:ext cx="2417396" cy="596211"/>
          </a:xfrm>
          <a:prstGeom prst="rect">
            <a:avLst/>
          </a:prstGeom>
        </p:spPr>
        <p:txBody>
          <a:bodyPr anchor="t" rtlCol="false" tIns="0" lIns="0" bIns="0" rIns="0">
            <a:spAutoFit/>
          </a:bodyPr>
          <a:lstStyle/>
          <a:p>
            <a:pPr algn="ctr">
              <a:lnSpc>
                <a:spcPts val="2347"/>
              </a:lnSpc>
            </a:pPr>
            <a:r>
              <a:rPr lang="en-US" sz="2023" b="true">
                <a:solidFill>
                  <a:srgbClr val="004AAD"/>
                </a:solidFill>
                <a:latin typeface="Poppins Bold"/>
                <a:ea typeface="Poppins Bold"/>
                <a:cs typeface="Poppins Bold"/>
                <a:sym typeface="Poppins Bold"/>
              </a:rPr>
              <a:t>Global</a:t>
            </a:r>
          </a:p>
          <a:p>
            <a:pPr algn="ctr" marL="0" indent="0" lvl="0">
              <a:lnSpc>
                <a:spcPts val="2347"/>
              </a:lnSpc>
              <a:spcBef>
                <a:spcPct val="0"/>
              </a:spcBef>
            </a:pPr>
            <a:r>
              <a:rPr lang="en-US" b="true" sz="2023">
                <a:solidFill>
                  <a:srgbClr val="004AAD"/>
                </a:solidFill>
                <a:latin typeface="Poppins Bold"/>
                <a:ea typeface="Poppins Bold"/>
                <a:cs typeface="Poppins Bold"/>
                <a:sym typeface="Poppins Bold"/>
              </a:rPr>
              <a:t>Inequality</a:t>
            </a:r>
          </a:p>
        </p:txBody>
      </p:sp>
      <p:grpSp>
        <p:nvGrpSpPr>
          <p:cNvPr name="Group 27" id="27"/>
          <p:cNvGrpSpPr/>
          <p:nvPr/>
        </p:nvGrpSpPr>
        <p:grpSpPr>
          <a:xfrm rot="0">
            <a:off x="10037566" y="4370358"/>
            <a:ext cx="3238210" cy="2987729"/>
            <a:chOff x="0" y="0"/>
            <a:chExt cx="676481" cy="624154"/>
          </a:xfrm>
        </p:grpSpPr>
        <p:sp>
          <p:nvSpPr>
            <p:cNvPr name="Freeform 28" id="28"/>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29" id="29"/>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30" id="30"/>
          <p:cNvGrpSpPr/>
          <p:nvPr/>
        </p:nvGrpSpPr>
        <p:grpSpPr>
          <a:xfrm rot="0">
            <a:off x="10024953" y="6900203"/>
            <a:ext cx="3238210" cy="818225"/>
            <a:chOff x="0" y="0"/>
            <a:chExt cx="676481" cy="170932"/>
          </a:xfrm>
        </p:grpSpPr>
        <p:sp>
          <p:nvSpPr>
            <p:cNvPr name="Freeform 31" id="31"/>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32" id="32"/>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Freeform 33" id="33"/>
          <p:cNvSpPr/>
          <p:nvPr/>
        </p:nvSpPr>
        <p:spPr>
          <a:xfrm flipH="false" flipV="false" rot="0">
            <a:off x="12857065" y="7447824"/>
            <a:ext cx="2512671" cy="2839176"/>
          </a:xfrm>
          <a:custGeom>
            <a:avLst/>
            <a:gdLst/>
            <a:ahLst/>
            <a:cxnLst/>
            <a:rect r="r" b="b" t="t" l="l"/>
            <a:pathLst>
              <a:path h="2839176" w="2512671">
                <a:moveTo>
                  <a:pt x="0" y="0"/>
                </a:moveTo>
                <a:lnTo>
                  <a:pt x="2512670" y="0"/>
                </a:lnTo>
                <a:lnTo>
                  <a:pt x="2512670" y="2839176"/>
                </a:lnTo>
                <a:lnTo>
                  <a:pt x="0" y="2839176"/>
                </a:lnTo>
                <a:lnTo>
                  <a:pt x="0" y="0"/>
                </a:lnTo>
                <a:close/>
              </a:path>
            </a:pathLst>
          </a:custGeom>
          <a:blipFill>
            <a:blip r:embed="rId13"/>
            <a:stretch>
              <a:fillRect l="0" t="0" r="0" b="0"/>
            </a:stretch>
          </a:blipFill>
        </p:spPr>
      </p:sp>
      <p:grpSp>
        <p:nvGrpSpPr>
          <p:cNvPr name="Group 34" id="34"/>
          <p:cNvGrpSpPr/>
          <p:nvPr/>
        </p:nvGrpSpPr>
        <p:grpSpPr>
          <a:xfrm rot="0">
            <a:off x="1051549" y="4414606"/>
            <a:ext cx="3238210" cy="2987729"/>
            <a:chOff x="0" y="0"/>
            <a:chExt cx="676481" cy="624154"/>
          </a:xfrm>
        </p:grpSpPr>
        <p:sp>
          <p:nvSpPr>
            <p:cNvPr name="Freeform 35" id="35"/>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36" id="36"/>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37" id="37"/>
          <p:cNvGrpSpPr/>
          <p:nvPr/>
        </p:nvGrpSpPr>
        <p:grpSpPr>
          <a:xfrm rot="0">
            <a:off x="1028700" y="6944451"/>
            <a:ext cx="3238210" cy="818225"/>
            <a:chOff x="0" y="0"/>
            <a:chExt cx="676481" cy="170932"/>
          </a:xfrm>
        </p:grpSpPr>
        <p:sp>
          <p:nvSpPr>
            <p:cNvPr name="Freeform 38" id="38"/>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39" id="39"/>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40" id="40"/>
          <p:cNvGrpSpPr/>
          <p:nvPr/>
        </p:nvGrpSpPr>
        <p:grpSpPr>
          <a:xfrm rot="0">
            <a:off x="5756609" y="6944451"/>
            <a:ext cx="3238210" cy="818225"/>
            <a:chOff x="0" y="0"/>
            <a:chExt cx="676481" cy="170932"/>
          </a:xfrm>
        </p:grpSpPr>
        <p:sp>
          <p:nvSpPr>
            <p:cNvPr name="Freeform 41" id="41"/>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42" id="42"/>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TextBox 43" id="43"/>
          <p:cNvSpPr txBox="true"/>
          <p:nvPr/>
        </p:nvSpPr>
        <p:spPr>
          <a:xfrm rot="0">
            <a:off x="6167016" y="7044839"/>
            <a:ext cx="2417396" cy="596211"/>
          </a:xfrm>
          <a:prstGeom prst="rect">
            <a:avLst/>
          </a:prstGeom>
        </p:spPr>
        <p:txBody>
          <a:bodyPr anchor="t" rtlCol="false" tIns="0" lIns="0" bIns="0" rIns="0">
            <a:spAutoFit/>
          </a:bodyPr>
          <a:lstStyle/>
          <a:p>
            <a:pPr algn="ctr">
              <a:lnSpc>
                <a:spcPts val="2347"/>
              </a:lnSpc>
            </a:pPr>
            <a:r>
              <a:rPr lang="en-US" sz="2023" b="true">
                <a:solidFill>
                  <a:srgbClr val="38B6FF"/>
                </a:solidFill>
                <a:latin typeface="Poppins Bold"/>
                <a:ea typeface="Poppins Bold"/>
                <a:cs typeface="Poppins Bold"/>
                <a:sym typeface="Poppins Bold"/>
              </a:rPr>
              <a:t>Public Health</a:t>
            </a:r>
          </a:p>
          <a:p>
            <a:pPr algn="ctr" marL="0" indent="0" lvl="0">
              <a:lnSpc>
                <a:spcPts val="2347"/>
              </a:lnSpc>
              <a:spcBef>
                <a:spcPct val="0"/>
              </a:spcBef>
            </a:pPr>
            <a:r>
              <a:rPr lang="en-US" b="true" sz="2023">
                <a:solidFill>
                  <a:srgbClr val="38B6FF"/>
                </a:solidFill>
                <a:latin typeface="Poppins Bold"/>
                <a:ea typeface="Poppins Bold"/>
                <a:cs typeface="Poppins Bold"/>
                <a:sym typeface="Poppins Bold"/>
              </a:rPr>
              <a:t>Risks</a:t>
            </a:r>
          </a:p>
        </p:txBody>
      </p:sp>
      <p:sp>
        <p:nvSpPr>
          <p:cNvPr name="Freeform 44" id="44"/>
          <p:cNvSpPr/>
          <p:nvPr/>
        </p:nvSpPr>
        <p:spPr>
          <a:xfrm flipH="false" flipV="false" rot="0">
            <a:off x="4018874" y="4769095"/>
            <a:ext cx="2335283" cy="5887268"/>
          </a:xfrm>
          <a:custGeom>
            <a:avLst/>
            <a:gdLst/>
            <a:ahLst/>
            <a:cxnLst/>
            <a:rect r="r" b="b" t="t" l="l"/>
            <a:pathLst>
              <a:path h="5887268" w="2335283">
                <a:moveTo>
                  <a:pt x="0" y="0"/>
                </a:moveTo>
                <a:lnTo>
                  <a:pt x="2335283" y="0"/>
                </a:lnTo>
                <a:lnTo>
                  <a:pt x="2335283" y="5887268"/>
                </a:lnTo>
                <a:lnTo>
                  <a:pt x="0" y="5887268"/>
                </a:lnTo>
                <a:lnTo>
                  <a:pt x="0" y="0"/>
                </a:lnTo>
                <a:close/>
              </a:path>
            </a:pathLst>
          </a:custGeom>
          <a:blipFill>
            <a:blip r:embed="rId14"/>
            <a:stretch>
              <a:fillRect l="0" t="0" r="0" b="0"/>
            </a:stretch>
          </a:blipFill>
        </p:spPr>
      </p:sp>
      <p:sp>
        <p:nvSpPr>
          <p:cNvPr name="Freeform 45" id="45"/>
          <p:cNvSpPr/>
          <p:nvPr/>
        </p:nvSpPr>
        <p:spPr>
          <a:xfrm flipH="false" flipV="false" rot="0">
            <a:off x="10373699" y="4370358"/>
            <a:ext cx="2694092" cy="2694092"/>
          </a:xfrm>
          <a:custGeom>
            <a:avLst/>
            <a:gdLst/>
            <a:ahLst/>
            <a:cxnLst/>
            <a:rect r="r" b="b" t="t" l="l"/>
            <a:pathLst>
              <a:path h="2694092" w="2694092">
                <a:moveTo>
                  <a:pt x="0" y="0"/>
                </a:moveTo>
                <a:lnTo>
                  <a:pt x="2694092" y="0"/>
                </a:lnTo>
                <a:lnTo>
                  <a:pt x="2694092" y="2694093"/>
                </a:lnTo>
                <a:lnTo>
                  <a:pt x="0" y="2694093"/>
                </a:lnTo>
                <a:lnTo>
                  <a:pt x="0" y="0"/>
                </a:lnTo>
                <a:close/>
              </a:path>
            </a:pathLst>
          </a:custGeom>
          <a:blipFill>
            <a:blip r:embed="rId15"/>
            <a:stretch>
              <a:fillRect l="0" t="0" r="0" b="0"/>
            </a:stretch>
          </a:blipFill>
        </p:spPr>
      </p:sp>
      <p:sp>
        <p:nvSpPr>
          <p:cNvPr name="Freeform 46" id="46"/>
          <p:cNvSpPr/>
          <p:nvPr/>
        </p:nvSpPr>
        <p:spPr>
          <a:xfrm flipH="false" flipV="false" rot="0">
            <a:off x="1344867" y="4525640"/>
            <a:ext cx="2496781" cy="2496781"/>
          </a:xfrm>
          <a:custGeom>
            <a:avLst/>
            <a:gdLst/>
            <a:ahLst/>
            <a:cxnLst/>
            <a:rect r="r" b="b" t="t" l="l"/>
            <a:pathLst>
              <a:path h="2496781" w="2496781">
                <a:moveTo>
                  <a:pt x="0" y="0"/>
                </a:moveTo>
                <a:lnTo>
                  <a:pt x="2496781" y="0"/>
                </a:lnTo>
                <a:lnTo>
                  <a:pt x="2496781" y="2496781"/>
                </a:lnTo>
                <a:lnTo>
                  <a:pt x="0" y="2496781"/>
                </a:lnTo>
                <a:lnTo>
                  <a:pt x="0" y="0"/>
                </a:lnTo>
                <a:close/>
              </a:path>
            </a:pathLst>
          </a:custGeom>
          <a:blipFill>
            <a:blip r:embed="rId16"/>
            <a:stretch>
              <a:fillRect l="0" t="0" r="0" b="0"/>
            </a:stretch>
          </a:blipFill>
        </p:spPr>
      </p:sp>
      <p:sp>
        <p:nvSpPr>
          <p:cNvPr name="Freeform 47" id="47"/>
          <p:cNvSpPr/>
          <p:nvPr/>
        </p:nvSpPr>
        <p:spPr>
          <a:xfrm flipH="false" flipV="false" rot="0">
            <a:off x="14617862" y="4498508"/>
            <a:ext cx="2301944" cy="2301944"/>
          </a:xfrm>
          <a:custGeom>
            <a:avLst/>
            <a:gdLst/>
            <a:ahLst/>
            <a:cxnLst/>
            <a:rect r="r" b="b" t="t" l="l"/>
            <a:pathLst>
              <a:path h="2301944" w="2301944">
                <a:moveTo>
                  <a:pt x="0" y="0"/>
                </a:moveTo>
                <a:lnTo>
                  <a:pt x="2301944" y="0"/>
                </a:lnTo>
                <a:lnTo>
                  <a:pt x="2301944" y="2301944"/>
                </a:lnTo>
                <a:lnTo>
                  <a:pt x="0" y="2301944"/>
                </a:lnTo>
                <a:lnTo>
                  <a:pt x="0" y="0"/>
                </a:lnTo>
                <a:close/>
              </a:path>
            </a:pathLst>
          </a:custGeom>
          <a:blipFill>
            <a:blip r:embed="rId17"/>
            <a:stretch>
              <a:fillRect l="0" t="0" r="0" b="0"/>
            </a:stretch>
          </a:blipFill>
        </p:spPr>
      </p:sp>
      <p:sp>
        <p:nvSpPr>
          <p:cNvPr name="TextBox 48" id="48"/>
          <p:cNvSpPr txBox="true"/>
          <p:nvPr/>
        </p:nvSpPr>
        <p:spPr>
          <a:xfrm rot="0">
            <a:off x="4694105" y="3172632"/>
            <a:ext cx="8858178" cy="694457"/>
          </a:xfrm>
          <a:prstGeom prst="rect">
            <a:avLst/>
          </a:prstGeom>
        </p:spPr>
        <p:txBody>
          <a:bodyPr anchor="t" rtlCol="false" tIns="0" lIns="0" bIns="0" rIns="0">
            <a:spAutoFit/>
          </a:bodyPr>
          <a:lstStyle/>
          <a:p>
            <a:pPr algn="ctr" marL="0" indent="0" lvl="0">
              <a:lnSpc>
                <a:spcPts val="2704"/>
              </a:lnSpc>
              <a:spcBef>
                <a:spcPct val="0"/>
              </a:spcBef>
            </a:pPr>
            <a:r>
              <a:rPr lang="en-US" b="true" sz="1932">
                <a:solidFill>
                  <a:srgbClr val="000000"/>
                </a:solidFill>
                <a:latin typeface="Poppins Bold"/>
                <a:ea typeface="Poppins Bold"/>
                <a:cs typeface="Poppins Bold"/>
                <a:sym typeface="Poppins Bold"/>
              </a:rPr>
              <a:t>Addressing hazardous waste is crucial for a healthier environment, safer communities, and a sustainable future.</a:t>
            </a:r>
          </a:p>
        </p:txBody>
      </p:sp>
      <p:sp>
        <p:nvSpPr>
          <p:cNvPr name="TextBox 49" id="49"/>
          <p:cNvSpPr txBox="true"/>
          <p:nvPr/>
        </p:nvSpPr>
        <p:spPr>
          <a:xfrm rot="0">
            <a:off x="10435360" y="7000591"/>
            <a:ext cx="2417396" cy="596211"/>
          </a:xfrm>
          <a:prstGeom prst="rect">
            <a:avLst/>
          </a:prstGeom>
        </p:spPr>
        <p:txBody>
          <a:bodyPr anchor="t" rtlCol="false" tIns="0" lIns="0" bIns="0" rIns="0">
            <a:spAutoFit/>
          </a:bodyPr>
          <a:lstStyle/>
          <a:p>
            <a:pPr algn="ctr">
              <a:lnSpc>
                <a:spcPts val="2347"/>
              </a:lnSpc>
            </a:pPr>
            <a:r>
              <a:rPr lang="en-US" sz="2023" b="true">
                <a:solidFill>
                  <a:srgbClr val="5271FF"/>
                </a:solidFill>
                <a:latin typeface="Poppins Bold"/>
                <a:ea typeface="Poppins Bold"/>
                <a:cs typeface="Poppins Bold"/>
                <a:sym typeface="Poppins Bold"/>
              </a:rPr>
              <a:t>Economic</a:t>
            </a:r>
          </a:p>
          <a:p>
            <a:pPr algn="ctr" marL="0" indent="0" lvl="0">
              <a:lnSpc>
                <a:spcPts val="2347"/>
              </a:lnSpc>
              <a:spcBef>
                <a:spcPct val="0"/>
              </a:spcBef>
            </a:pPr>
            <a:r>
              <a:rPr lang="en-US" b="true" sz="2023">
                <a:solidFill>
                  <a:srgbClr val="5271FF"/>
                </a:solidFill>
                <a:latin typeface="Poppins Bold"/>
                <a:ea typeface="Poppins Bold"/>
                <a:cs typeface="Poppins Bold"/>
                <a:sym typeface="Poppins Bold"/>
              </a:rPr>
              <a:t>Costs</a:t>
            </a:r>
          </a:p>
        </p:txBody>
      </p:sp>
      <p:sp>
        <p:nvSpPr>
          <p:cNvPr name="TextBox 50" id="50"/>
          <p:cNvSpPr txBox="true"/>
          <p:nvPr/>
        </p:nvSpPr>
        <p:spPr>
          <a:xfrm rot="0">
            <a:off x="1461956" y="7044839"/>
            <a:ext cx="2417396" cy="596211"/>
          </a:xfrm>
          <a:prstGeom prst="rect">
            <a:avLst/>
          </a:prstGeom>
        </p:spPr>
        <p:txBody>
          <a:bodyPr anchor="t" rtlCol="false" tIns="0" lIns="0" bIns="0" rIns="0">
            <a:spAutoFit/>
          </a:bodyPr>
          <a:lstStyle/>
          <a:p>
            <a:pPr algn="ctr">
              <a:lnSpc>
                <a:spcPts val="2347"/>
              </a:lnSpc>
            </a:pPr>
            <a:r>
              <a:rPr lang="en-US" sz="2023" b="true">
                <a:solidFill>
                  <a:srgbClr val="5CE1E6"/>
                </a:solidFill>
                <a:latin typeface="Poppins Bold"/>
                <a:ea typeface="Poppins Bold"/>
                <a:cs typeface="Poppins Bold"/>
                <a:sym typeface="Poppins Bold"/>
              </a:rPr>
              <a:t>Environmental</a:t>
            </a:r>
          </a:p>
          <a:p>
            <a:pPr algn="ctr" marL="0" indent="0" lvl="0">
              <a:lnSpc>
                <a:spcPts val="2347"/>
              </a:lnSpc>
              <a:spcBef>
                <a:spcPct val="0"/>
              </a:spcBef>
            </a:pPr>
            <a:r>
              <a:rPr lang="en-US" b="true" sz="2023">
                <a:solidFill>
                  <a:srgbClr val="5CE1E6"/>
                </a:solidFill>
                <a:latin typeface="Poppins Bold"/>
                <a:ea typeface="Poppins Bold"/>
                <a:cs typeface="Poppins Bold"/>
                <a:sym typeface="Poppins Bold"/>
              </a:rPr>
              <a:t>Impact</a:t>
            </a:r>
          </a:p>
        </p:txBody>
      </p:sp>
      <p:sp>
        <p:nvSpPr>
          <p:cNvPr name="TextBox 51" id="51"/>
          <p:cNvSpPr txBox="true"/>
          <p:nvPr/>
        </p:nvSpPr>
        <p:spPr>
          <a:xfrm rot="0">
            <a:off x="39928" y="1565540"/>
            <a:ext cx="18208143" cy="1007017"/>
          </a:xfrm>
          <a:prstGeom prst="rect">
            <a:avLst/>
          </a:prstGeom>
        </p:spPr>
        <p:txBody>
          <a:bodyPr anchor="t" rtlCol="false" tIns="0" lIns="0" bIns="0" rIns="0">
            <a:spAutoFit/>
          </a:bodyPr>
          <a:lstStyle/>
          <a:p>
            <a:pPr algn="ctr">
              <a:lnSpc>
                <a:spcPts val="6840"/>
              </a:lnSpc>
            </a:pPr>
            <a:r>
              <a:rPr lang="en-US" sz="6000" strike="noStrike" u="none">
                <a:solidFill>
                  <a:srgbClr val="000000"/>
                </a:solidFill>
                <a:latin typeface="Funtastic"/>
                <a:ea typeface="Funtastic"/>
                <a:cs typeface="Funtastic"/>
                <a:sym typeface="Funtastic"/>
              </a:rPr>
              <a:t>WHY THIS PROBLEM SHOULD BE FOCUSED ON?</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8650142" y="505419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53429" y="505419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91942" y="7926045"/>
            <a:ext cx="31322026" cy="12187116"/>
          </a:xfrm>
          <a:custGeom>
            <a:avLst/>
            <a:gdLst/>
            <a:ahLst/>
            <a:cxnLst/>
            <a:rect r="r" b="b" t="t" l="l"/>
            <a:pathLst>
              <a:path h="12187116" w="31322026">
                <a:moveTo>
                  <a:pt x="0" y="0"/>
                </a:moveTo>
                <a:lnTo>
                  <a:pt x="31322026" y="0"/>
                </a:lnTo>
                <a:lnTo>
                  <a:pt x="31322026" y="12187115"/>
                </a:lnTo>
                <a:lnTo>
                  <a:pt x="0" y="121871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2325200" y="83197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Freeform 7" id="7"/>
          <p:cNvSpPr/>
          <p:nvPr/>
        </p:nvSpPr>
        <p:spPr>
          <a:xfrm flipH="false" flipV="false" rot="0">
            <a:off x="14241437" y="1153119"/>
            <a:ext cx="7234714" cy="7802142"/>
          </a:xfrm>
          <a:custGeom>
            <a:avLst/>
            <a:gdLst/>
            <a:ahLst/>
            <a:cxnLst/>
            <a:rect r="r" b="b" t="t" l="l"/>
            <a:pathLst>
              <a:path h="7802142" w="7234714">
                <a:moveTo>
                  <a:pt x="0" y="0"/>
                </a:moveTo>
                <a:lnTo>
                  <a:pt x="7234714" y="0"/>
                </a:lnTo>
                <a:lnTo>
                  <a:pt x="7234714" y="7802142"/>
                </a:lnTo>
                <a:lnTo>
                  <a:pt x="0" y="78021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35764" y="831970"/>
            <a:ext cx="5186516" cy="2638640"/>
          </a:xfrm>
          <a:custGeom>
            <a:avLst/>
            <a:gdLst/>
            <a:ahLst/>
            <a:cxnLst/>
            <a:rect r="r" b="b" t="t" l="l"/>
            <a:pathLst>
              <a:path h="2638640" w="5186516">
                <a:moveTo>
                  <a:pt x="0" y="0"/>
                </a:moveTo>
                <a:lnTo>
                  <a:pt x="5186515" y="0"/>
                </a:lnTo>
                <a:lnTo>
                  <a:pt x="5186515" y="2638640"/>
                </a:lnTo>
                <a:lnTo>
                  <a:pt x="0" y="2638640"/>
                </a:lnTo>
                <a:lnTo>
                  <a:pt x="0" y="0"/>
                </a:lnTo>
                <a:close/>
              </a:path>
            </a:pathLst>
          </a:custGeom>
          <a:blipFill>
            <a:blip r:embed="rId7">
              <a:alphaModFix amt="75000"/>
            </a:blip>
            <a:stretch>
              <a:fillRect l="0" t="0" r="0" b="0"/>
            </a:stretch>
          </a:blipFill>
        </p:spPr>
      </p:sp>
      <p:sp>
        <p:nvSpPr>
          <p:cNvPr name="Freeform 9" id="9"/>
          <p:cNvSpPr/>
          <p:nvPr/>
        </p:nvSpPr>
        <p:spPr>
          <a:xfrm flipH="true" flipV="false" rot="0">
            <a:off x="-3844808" y="1153119"/>
            <a:ext cx="7910308" cy="8530725"/>
          </a:xfrm>
          <a:custGeom>
            <a:avLst/>
            <a:gdLst/>
            <a:ahLst/>
            <a:cxnLst/>
            <a:rect r="r" b="b" t="t" l="l"/>
            <a:pathLst>
              <a:path h="8530725" w="7910308">
                <a:moveTo>
                  <a:pt x="7910308" y="0"/>
                </a:moveTo>
                <a:lnTo>
                  <a:pt x="0" y="0"/>
                </a:lnTo>
                <a:lnTo>
                  <a:pt x="0" y="8530724"/>
                </a:lnTo>
                <a:lnTo>
                  <a:pt x="7910308" y="8530724"/>
                </a:lnTo>
                <a:lnTo>
                  <a:pt x="79103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35764" y="3121778"/>
            <a:ext cx="3191781" cy="7165222"/>
          </a:xfrm>
          <a:custGeom>
            <a:avLst/>
            <a:gdLst/>
            <a:ahLst/>
            <a:cxnLst/>
            <a:rect r="r" b="b" t="t" l="l"/>
            <a:pathLst>
              <a:path h="7165222" w="3191781">
                <a:moveTo>
                  <a:pt x="0" y="0"/>
                </a:moveTo>
                <a:lnTo>
                  <a:pt x="3191780" y="0"/>
                </a:lnTo>
                <a:lnTo>
                  <a:pt x="3191780" y="7165222"/>
                </a:lnTo>
                <a:lnTo>
                  <a:pt x="0" y="71652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5472490" y="2642393"/>
            <a:ext cx="12039226" cy="1343700"/>
            <a:chOff x="0" y="0"/>
            <a:chExt cx="2909223" cy="324699"/>
          </a:xfrm>
        </p:grpSpPr>
        <p:sp>
          <p:nvSpPr>
            <p:cNvPr name="Freeform 12" id="12"/>
            <p:cNvSpPr/>
            <p:nvPr/>
          </p:nvSpPr>
          <p:spPr>
            <a:xfrm flipH="false" flipV="false" rot="0">
              <a:off x="0" y="0"/>
              <a:ext cx="2909224" cy="324699"/>
            </a:xfrm>
            <a:custGeom>
              <a:avLst/>
              <a:gdLst/>
              <a:ahLst/>
              <a:cxnLst/>
              <a:rect r="r" b="b" t="t" l="l"/>
              <a:pathLst>
                <a:path h="324699" w="2909224">
                  <a:moveTo>
                    <a:pt x="10289" y="0"/>
                  </a:moveTo>
                  <a:lnTo>
                    <a:pt x="2898935" y="0"/>
                  </a:lnTo>
                  <a:cubicBezTo>
                    <a:pt x="2901663" y="0"/>
                    <a:pt x="2904280" y="1084"/>
                    <a:pt x="2906210" y="3014"/>
                  </a:cubicBezTo>
                  <a:cubicBezTo>
                    <a:pt x="2908140" y="4943"/>
                    <a:pt x="2909224" y="7560"/>
                    <a:pt x="2909224" y="10289"/>
                  </a:cubicBezTo>
                  <a:lnTo>
                    <a:pt x="2909224" y="314410"/>
                  </a:lnTo>
                  <a:cubicBezTo>
                    <a:pt x="2909224" y="317139"/>
                    <a:pt x="2908140" y="319756"/>
                    <a:pt x="2906210" y="321685"/>
                  </a:cubicBezTo>
                  <a:cubicBezTo>
                    <a:pt x="2904280" y="323615"/>
                    <a:pt x="2901663" y="324699"/>
                    <a:pt x="2898935" y="324699"/>
                  </a:cubicBezTo>
                  <a:lnTo>
                    <a:pt x="10289" y="324699"/>
                  </a:lnTo>
                  <a:cubicBezTo>
                    <a:pt x="7560" y="324699"/>
                    <a:pt x="4943" y="323615"/>
                    <a:pt x="3014" y="321685"/>
                  </a:cubicBezTo>
                  <a:cubicBezTo>
                    <a:pt x="1084" y="319756"/>
                    <a:pt x="0" y="317139"/>
                    <a:pt x="0" y="31441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13" id="13"/>
            <p:cNvSpPr txBox="true"/>
            <p:nvPr/>
          </p:nvSpPr>
          <p:spPr>
            <a:xfrm>
              <a:off x="0" y="-47625"/>
              <a:ext cx="2909223" cy="372324"/>
            </a:xfrm>
            <a:prstGeom prst="rect">
              <a:avLst/>
            </a:prstGeom>
          </p:spPr>
          <p:txBody>
            <a:bodyPr anchor="ctr" rtlCol="false" tIns="50800" lIns="50800" bIns="50800" rIns="50800"/>
            <a:lstStyle/>
            <a:p>
              <a:pPr algn="ctr">
                <a:lnSpc>
                  <a:spcPts val="3499"/>
                </a:lnSpc>
              </a:pPr>
            </a:p>
          </p:txBody>
        </p:sp>
      </p:grpSp>
      <p:sp>
        <p:nvSpPr>
          <p:cNvPr name="Freeform 14" id="14"/>
          <p:cNvSpPr/>
          <p:nvPr/>
        </p:nvSpPr>
        <p:spPr>
          <a:xfrm flipH="false" flipV="false" rot="0">
            <a:off x="5277624" y="9379276"/>
            <a:ext cx="2497899" cy="1294366"/>
          </a:xfrm>
          <a:custGeom>
            <a:avLst/>
            <a:gdLst/>
            <a:ahLst/>
            <a:cxnLst/>
            <a:rect r="r" b="b" t="t" l="l"/>
            <a:pathLst>
              <a:path h="1294366" w="2497899">
                <a:moveTo>
                  <a:pt x="0" y="0"/>
                </a:moveTo>
                <a:lnTo>
                  <a:pt x="2497900" y="0"/>
                </a:lnTo>
                <a:lnTo>
                  <a:pt x="2497900" y="1294366"/>
                </a:lnTo>
                <a:lnTo>
                  <a:pt x="0" y="1294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3435276" y="9569776"/>
            <a:ext cx="2497899" cy="1294366"/>
          </a:xfrm>
          <a:custGeom>
            <a:avLst/>
            <a:gdLst/>
            <a:ahLst/>
            <a:cxnLst/>
            <a:rect r="r" b="b" t="t" l="l"/>
            <a:pathLst>
              <a:path h="1294366" w="2497899">
                <a:moveTo>
                  <a:pt x="0" y="0"/>
                </a:moveTo>
                <a:lnTo>
                  <a:pt x="2497899" y="0"/>
                </a:lnTo>
                <a:lnTo>
                  <a:pt x="2497899" y="1294366"/>
                </a:lnTo>
                <a:lnTo>
                  <a:pt x="0" y="1294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642693" y="9258300"/>
            <a:ext cx="2497899" cy="1294366"/>
          </a:xfrm>
          <a:custGeom>
            <a:avLst/>
            <a:gdLst/>
            <a:ahLst/>
            <a:cxnLst/>
            <a:rect r="r" b="b" t="t" l="l"/>
            <a:pathLst>
              <a:path h="1294366" w="2497899">
                <a:moveTo>
                  <a:pt x="0" y="0"/>
                </a:moveTo>
                <a:lnTo>
                  <a:pt x="2497899" y="0"/>
                </a:lnTo>
                <a:lnTo>
                  <a:pt x="2497899" y="1294366"/>
                </a:lnTo>
                <a:lnTo>
                  <a:pt x="0" y="1294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7" id="17"/>
          <p:cNvGrpSpPr/>
          <p:nvPr/>
        </p:nvGrpSpPr>
        <p:grpSpPr>
          <a:xfrm rot="0">
            <a:off x="1028700" y="4382340"/>
            <a:ext cx="12039226" cy="1343700"/>
            <a:chOff x="0" y="0"/>
            <a:chExt cx="2909223" cy="324699"/>
          </a:xfrm>
        </p:grpSpPr>
        <p:sp>
          <p:nvSpPr>
            <p:cNvPr name="Freeform 18" id="18"/>
            <p:cNvSpPr/>
            <p:nvPr/>
          </p:nvSpPr>
          <p:spPr>
            <a:xfrm flipH="false" flipV="false" rot="0">
              <a:off x="0" y="0"/>
              <a:ext cx="2909224" cy="324699"/>
            </a:xfrm>
            <a:custGeom>
              <a:avLst/>
              <a:gdLst/>
              <a:ahLst/>
              <a:cxnLst/>
              <a:rect r="r" b="b" t="t" l="l"/>
              <a:pathLst>
                <a:path h="324699" w="2909224">
                  <a:moveTo>
                    <a:pt x="10289" y="0"/>
                  </a:moveTo>
                  <a:lnTo>
                    <a:pt x="2898935" y="0"/>
                  </a:lnTo>
                  <a:cubicBezTo>
                    <a:pt x="2901663" y="0"/>
                    <a:pt x="2904280" y="1084"/>
                    <a:pt x="2906210" y="3014"/>
                  </a:cubicBezTo>
                  <a:cubicBezTo>
                    <a:pt x="2908140" y="4943"/>
                    <a:pt x="2909224" y="7560"/>
                    <a:pt x="2909224" y="10289"/>
                  </a:cubicBezTo>
                  <a:lnTo>
                    <a:pt x="2909224" y="314410"/>
                  </a:lnTo>
                  <a:cubicBezTo>
                    <a:pt x="2909224" y="317139"/>
                    <a:pt x="2908140" y="319756"/>
                    <a:pt x="2906210" y="321685"/>
                  </a:cubicBezTo>
                  <a:cubicBezTo>
                    <a:pt x="2904280" y="323615"/>
                    <a:pt x="2901663" y="324699"/>
                    <a:pt x="2898935" y="324699"/>
                  </a:cubicBezTo>
                  <a:lnTo>
                    <a:pt x="10289" y="324699"/>
                  </a:lnTo>
                  <a:cubicBezTo>
                    <a:pt x="7560" y="324699"/>
                    <a:pt x="4943" y="323615"/>
                    <a:pt x="3014" y="321685"/>
                  </a:cubicBezTo>
                  <a:cubicBezTo>
                    <a:pt x="1084" y="319756"/>
                    <a:pt x="0" y="317139"/>
                    <a:pt x="0" y="31441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19" id="19"/>
            <p:cNvSpPr txBox="true"/>
            <p:nvPr/>
          </p:nvSpPr>
          <p:spPr>
            <a:xfrm>
              <a:off x="0" y="-47625"/>
              <a:ext cx="2909223" cy="372324"/>
            </a:xfrm>
            <a:prstGeom prst="rect">
              <a:avLst/>
            </a:prstGeom>
          </p:spPr>
          <p:txBody>
            <a:bodyPr anchor="ctr" rtlCol="false" tIns="50800" lIns="50800" bIns="50800" rIns="50800"/>
            <a:lstStyle/>
            <a:p>
              <a:pPr algn="ctr">
                <a:lnSpc>
                  <a:spcPts val="3499"/>
                </a:lnSpc>
              </a:pPr>
            </a:p>
          </p:txBody>
        </p:sp>
      </p:grpSp>
      <p:grpSp>
        <p:nvGrpSpPr>
          <p:cNvPr name="Group 20" id="20"/>
          <p:cNvGrpSpPr/>
          <p:nvPr/>
        </p:nvGrpSpPr>
        <p:grpSpPr>
          <a:xfrm rot="0">
            <a:off x="5472490" y="6154192"/>
            <a:ext cx="12039226" cy="1343700"/>
            <a:chOff x="0" y="0"/>
            <a:chExt cx="2909223" cy="324699"/>
          </a:xfrm>
        </p:grpSpPr>
        <p:sp>
          <p:nvSpPr>
            <p:cNvPr name="Freeform 21" id="21"/>
            <p:cNvSpPr/>
            <p:nvPr/>
          </p:nvSpPr>
          <p:spPr>
            <a:xfrm flipH="false" flipV="false" rot="0">
              <a:off x="0" y="0"/>
              <a:ext cx="2909224" cy="324699"/>
            </a:xfrm>
            <a:custGeom>
              <a:avLst/>
              <a:gdLst/>
              <a:ahLst/>
              <a:cxnLst/>
              <a:rect r="r" b="b" t="t" l="l"/>
              <a:pathLst>
                <a:path h="324699" w="2909224">
                  <a:moveTo>
                    <a:pt x="10289" y="0"/>
                  </a:moveTo>
                  <a:lnTo>
                    <a:pt x="2898935" y="0"/>
                  </a:lnTo>
                  <a:cubicBezTo>
                    <a:pt x="2901663" y="0"/>
                    <a:pt x="2904280" y="1084"/>
                    <a:pt x="2906210" y="3014"/>
                  </a:cubicBezTo>
                  <a:cubicBezTo>
                    <a:pt x="2908140" y="4943"/>
                    <a:pt x="2909224" y="7560"/>
                    <a:pt x="2909224" y="10289"/>
                  </a:cubicBezTo>
                  <a:lnTo>
                    <a:pt x="2909224" y="314410"/>
                  </a:lnTo>
                  <a:cubicBezTo>
                    <a:pt x="2909224" y="317139"/>
                    <a:pt x="2908140" y="319756"/>
                    <a:pt x="2906210" y="321685"/>
                  </a:cubicBezTo>
                  <a:cubicBezTo>
                    <a:pt x="2904280" y="323615"/>
                    <a:pt x="2901663" y="324699"/>
                    <a:pt x="2898935" y="324699"/>
                  </a:cubicBezTo>
                  <a:lnTo>
                    <a:pt x="10289" y="324699"/>
                  </a:lnTo>
                  <a:cubicBezTo>
                    <a:pt x="7560" y="324699"/>
                    <a:pt x="4943" y="323615"/>
                    <a:pt x="3014" y="321685"/>
                  </a:cubicBezTo>
                  <a:cubicBezTo>
                    <a:pt x="1084" y="319756"/>
                    <a:pt x="0" y="317139"/>
                    <a:pt x="0" y="31441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22" id="22"/>
            <p:cNvSpPr txBox="true"/>
            <p:nvPr/>
          </p:nvSpPr>
          <p:spPr>
            <a:xfrm>
              <a:off x="0" y="-47625"/>
              <a:ext cx="2909223" cy="372324"/>
            </a:xfrm>
            <a:prstGeom prst="rect">
              <a:avLst/>
            </a:prstGeom>
          </p:spPr>
          <p:txBody>
            <a:bodyPr anchor="ctr" rtlCol="false" tIns="50800" lIns="50800" bIns="50800" rIns="50800"/>
            <a:lstStyle/>
            <a:p>
              <a:pPr algn="ctr">
                <a:lnSpc>
                  <a:spcPts val="3499"/>
                </a:lnSpc>
              </a:pPr>
            </a:p>
          </p:txBody>
        </p:sp>
      </p:grpSp>
      <p:grpSp>
        <p:nvGrpSpPr>
          <p:cNvPr name="Group 23" id="23"/>
          <p:cNvGrpSpPr/>
          <p:nvPr/>
        </p:nvGrpSpPr>
        <p:grpSpPr>
          <a:xfrm rot="0">
            <a:off x="1028700" y="7926517"/>
            <a:ext cx="12039226" cy="1343700"/>
            <a:chOff x="0" y="0"/>
            <a:chExt cx="2909223" cy="324699"/>
          </a:xfrm>
        </p:grpSpPr>
        <p:sp>
          <p:nvSpPr>
            <p:cNvPr name="Freeform 24" id="24"/>
            <p:cNvSpPr/>
            <p:nvPr/>
          </p:nvSpPr>
          <p:spPr>
            <a:xfrm flipH="false" flipV="false" rot="0">
              <a:off x="0" y="0"/>
              <a:ext cx="2909224" cy="324699"/>
            </a:xfrm>
            <a:custGeom>
              <a:avLst/>
              <a:gdLst/>
              <a:ahLst/>
              <a:cxnLst/>
              <a:rect r="r" b="b" t="t" l="l"/>
              <a:pathLst>
                <a:path h="324699" w="2909224">
                  <a:moveTo>
                    <a:pt x="10289" y="0"/>
                  </a:moveTo>
                  <a:lnTo>
                    <a:pt x="2898935" y="0"/>
                  </a:lnTo>
                  <a:cubicBezTo>
                    <a:pt x="2901663" y="0"/>
                    <a:pt x="2904280" y="1084"/>
                    <a:pt x="2906210" y="3014"/>
                  </a:cubicBezTo>
                  <a:cubicBezTo>
                    <a:pt x="2908140" y="4943"/>
                    <a:pt x="2909224" y="7560"/>
                    <a:pt x="2909224" y="10289"/>
                  </a:cubicBezTo>
                  <a:lnTo>
                    <a:pt x="2909224" y="314410"/>
                  </a:lnTo>
                  <a:cubicBezTo>
                    <a:pt x="2909224" y="317139"/>
                    <a:pt x="2908140" y="319756"/>
                    <a:pt x="2906210" y="321685"/>
                  </a:cubicBezTo>
                  <a:cubicBezTo>
                    <a:pt x="2904280" y="323615"/>
                    <a:pt x="2901663" y="324699"/>
                    <a:pt x="2898935" y="324699"/>
                  </a:cubicBezTo>
                  <a:lnTo>
                    <a:pt x="10289" y="324699"/>
                  </a:lnTo>
                  <a:cubicBezTo>
                    <a:pt x="7560" y="324699"/>
                    <a:pt x="4943" y="323615"/>
                    <a:pt x="3014" y="321685"/>
                  </a:cubicBezTo>
                  <a:cubicBezTo>
                    <a:pt x="1084" y="319756"/>
                    <a:pt x="0" y="317139"/>
                    <a:pt x="0" y="31441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25" id="25"/>
            <p:cNvSpPr txBox="true"/>
            <p:nvPr/>
          </p:nvSpPr>
          <p:spPr>
            <a:xfrm>
              <a:off x="0" y="-47625"/>
              <a:ext cx="2909223" cy="372324"/>
            </a:xfrm>
            <a:prstGeom prst="rect">
              <a:avLst/>
            </a:prstGeom>
          </p:spPr>
          <p:txBody>
            <a:bodyPr anchor="ctr" rtlCol="false" tIns="50800" lIns="50800" bIns="50800" rIns="50800"/>
            <a:lstStyle/>
            <a:p>
              <a:pPr algn="ctr">
                <a:lnSpc>
                  <a:spcPts val="3499"/>
                </a:lnSpc>
              </a:pPr>
            </a:p>
          </p:txBody>
        </p:sp>
      </p:grpSp>
      <p:grpSp>
        <p:nvGrpSpPr>
          <p:cNvPr name="Group 26" id="26"/>
          <p:cNvGrpSpPr/>
          <p:nvPr/>
        </p:nvGrpSpPr>
        <p:grpSpPr>
          <a:xfrm rot="0">
            <a:off x="3572439" y="2461651"/>
            <a:ext cx="1705185" cy="170518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4"/>
              <a:stretch>
                <a:fillRect l="0" t="0" r="0" b="0"/>
              </a:stretch>
            </a:blipFill>
          </p:spPr>
        </p:sp>
      </p:grpSp>
      <p:grpSp>
        <p:nvGrpSpPr>
          <p:cNvPr name="Group 28" id="28"/>
          <p:cNvGrpSpPr/>
          <p:nvPr/>
        </p:nvGrpSpPr>
        <p:grpSpPr>
          <a:xfrm rot="0">
            <a:off x="13388845" y="4201597"/>
            <a:ext cx="1705185" cy="1705185"/>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5"/>
              <a:stretch>
                <a:fillRect l="0" t="0" r="0" b="0"/>
              </a:stretch>
            </a:blipFill>
          </p:spPr>
        </p:sp>
      </p:grpSp>
      <p:grpSp>
        <p:nvGrpSpPr>
          <p:cNvPr name="Group 30" id="30"/>
          <p:cNvGrpSpPr/>
          <p:nvPr/>
        </p:nvGrpSpPr>
        <p:grpSpPr>
          <a:xfrm rot="0">
            <a:off x="3572439" y="5973450"/>
            <a:ext cx="1705185" cy="170518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0" t="0" r="0" b="0"/>
              </a:stretch>
            </a:blipFill>
          </p:spPr>
        </p:sp>
      </p:grpSp>
      <p:grpSp>
        <p:nvGrpSpPr>
          <p:cNvPr name="Group 32" id="32"/>
          <p:cNvGrpSpPr/>
          <p:nvPr/>
        </p:nvGrpSpPr>
        <p:grpSpPr>
          <a:xfrm rot="0">
            <a:off x="13388845" y="7716967"/>
            <a:ext cx="1705185" cy="1705185"/>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0" t="0" r="0" b="0"/>
              </a:stretch>
            </a:blipFill>
          </p:spPr>
        </p:sp>
      </p:grpSp>
      <p:sp>
        <p:nvSpPr>
          <p:cNvPr name="TextBox 34" id="34"/>
          <p:cNvSpPr txBox="true"/>
          <p:nvPr/>
        </p:nvSpPr>
        <p:spPr>
          <a:xfrm rot="0">
            <a:off x="5652978" y="2710675"/>
            <a:ext cx="11858737" cy="1195647"/>
          </a:xfrm>
          <a:prstGeom prst="rect">
            <a:avLst/>
          </a:prstGeom>
        </p:spPr>
        <p:txBody>
          <a:bodyPr anchor="t" rtlCol="false" tIns="0" lIns="0" bIns="0" rIns="0">
            <a:spAutoFit/>
          </a:bodyPr>
          <a:lstStyle/>
          <a:p>
            <a:pPr algn="l">
              <a:lnSpc>
                <a:spcPts val="3114"/>
              </a:lnSpc>
              <a:spcBef>
                <a:spcPct val="0"/>
              </a:spcBef>
            </a:pPr>
            <a:r>
              <a:rPr lang="en-US" sz="2224" b="true">
                <a:solidFill>
                  <a:srgbClr val="5CE1E6"/>
                </a:solidFill>
                <a:latin typeface="Poppins Bold"/>
                <a:ea typeface="Poppins Bold"/>
                <a:cs typeface="Poppins Bold"/>
                <a:sym typeface="Poppins Bold"/>
              </a:rPr>
              <a:t>Improper disposal of hazardous waste can pollute the air, water, and soil, harming ecosystems and wildlife. For instance, toxic chemicals can leak into rivers and lakes, disrupting aquatic life and contaminating the food chain.</a:t>
            </a:r>
          </a:p>
        </p:txBody>
      </p:sp>
      <p:sp>
        <p:nvSpPr>
          <p:cNvPr name="TextBox 35" id="35"/>
          <p:cNvSpPr txBox="true"/>
          <p:nvPr/>
        </p:nvSpPr>
        <p:spPr>
          <a:xfrm rot="0">
            <a:off x="5562734" y="6226045"/>
            <a:ext cx="11858737" cy="1195647"/>
          </a:xfrm>
          <a:prstGeom prst="rect">
            <a:avLst/>
          </a:prstGeom>
        </p:spPr>
        <p:txBody>
          <a:bodyPr anchor="t" rtlCol="false" tIns="0" lIns="0" bIns="0" rIns="0">
            <a:spAutoFit/>
          </a:bodyPr>
          <a:lstStyle/>
          <a:p>
            <a:pPr algn="l">
              <a:lnSpc>
                <a:spcPts val="3114"/>
              </a:lnSpc>
              <a:spcBef>
                <a:spcPct val="0"/>
              </a:spcBef>
            </a:pPr>
            <a:r>
              <a:rPr lang="en-US" sz="2224" b="true">
                <a:solidFill>
                  <a:srgbClr val="5271FF"/>
                </a:solidFill>
                <a:latin typeface="Poppins Bold"/>
                <a:ea typeface="Poppins Bold"/>
                <a:cs typeface="Poppins Bold"/>
                <a:sym typeface="Poppins Bold"/>
              </a:rPr>
              <a:t>Cleaning up polluted areas is expensive and often takes years. Poor management of hazardous waste also leads to increased healthcare costs due to the diseases it causes.</a:t>
            </a:r>
          </a:p>
        </p:txBody>
      </p:sp>
      <p:sp>
        <p:nvSpPr>
          <p:cNvPr name="TextBox 36" id="36"/>
          <p:cNvSpPr txBox="true"/>
          <p:nvPr/>
        </p:nvSpPr>
        <p:spPr>
          <a:xfrm rot="0">
            <a:off x="1118944" y="4429981"/>
            <a:ext cx="11858737" cy="1181743"/>
          </a:xfrm>
          <a:prstGeom prst="rect">
            <a:avLst/>
          </a:prstGeom>
        </p:spPr>
        <p:txBody>
          <a:bodyPr anchor="t" rtlCol="false" tIns="0" lIns="0" bIns="0" rIns="0">
            <a:spAutoFit/>
          </a:bodyPr>
          <a:lstStyle/>
          <a:p>
            <a:pPr algn="r">
              <a:lnSpc>
                <a:spcPts val="3114"/>
              </a:lnSpc>
              <a:spcBef>
                <a:spcPct val="0"/>
              </a:spcBef>
            </a:pPr>
            <a:r>
              <a:rPr lang="en-US" b="true" sz="2224">
                <a:solidFill>
                  <a:srgbClr val="38B6FF"/>
                </a:solidFill>
                <a:latin typeface="Poppins Bold"/>
                <a:ea typeface="Poppins Bold"/>
                <a:cs typeface="Poppins Bold"/>
                <a:sym typeface="Poppins Bold"/>
              </a:rPr>
              <a:t>Exposure to hazardous waste can cause serious health problems, including respiratory issues, skin disorders, and even life-threatening illnesses like cancer. People who work with or live near hazardous waste sites are particularly at risk.</a:t>
            </a:r>
          </a:p>
        </p:txBody>
      </p:sp>
      <p:sp>
        <p:nvSpPr>
          <p:cNvPr name="TextBox 37" id="37"/>
          <p:cNvSpPr txBox="true"/>
          <p:nvPr/>
        </p:nvSpPr>
        <p:spPr>
          <a:xfrm rot="0">
            <a:off x="1118944" y="7945351"/>
            <a:ext cx="11858737" cy="1181743"/>
          </a:xfrm>
          <a:prstGeom prst="rect">
            <a:avLst/>
          </a:prstGeom>
        </p:spPr>
        <p:txBody>
          <a:bodyPr anchor="t" rtlCol="false" tIns="0" lIns="0" bIns="0" rIns="0">
            <a:spAutoFit/>
          </a:bodyPr>
          <a:lstStyle/>
          <a:p>
            <a:pPr algn="r">
              <a:lnSpc>
                <a:spcPts val="3114"/>
              </a:lnSpc>
              <a:spcBef>
                <a:spcPct val="0"/>
              </a:spcBef>
            </a:pPr>
            <a:r>
              <a:rPr lang="en-US" b="true" sz="2224">
                <a:solidFill>
                  <a:srgbClr val="004AAD"/>
                </a:solidFill>
                <a:latin typeface="Poppins Bold"/>
                <a:ea typeface="Poppins Bold"/>
                <a:cs typeface="Poppins Bold"/>
                <a:sym typeface="Poppins Bold"/>
              </a:rPr>
              <a:t>Wealthier countries often ship hazardous waste to poorer nations with fewer regulations, putting vulnerable communities at greater risk. This creates a global justice issue that demands attention.</a:t>
            </a:r>
          </a:p>
        </p:txBody>
      </p:sp>
      <p:sp>
        <p:nvSpPr>
          <p:cNvPr name="TextBox 38" id="38"/>
          <p:cNvSpPr txBox="true"/>
          <p:nvPr/>
        </p:nvSpPr>
        <p:spPr>
          <a:xfrm rot="0">
            <a:off x="359421" y="1362806"/>
            <a:ext cx="17569157" cy="965495"/>
          </a:xfrm>
          <a:prstGeom prst="rect">
            <a:avLst/>
          </a:prstGeom>
        </p:spPr>
        <p:txBody>
          <a:bodyPr anchor="t" rtlCol="false" tIns="0" lIns="0" bIns="0" rIns="0">
            <a:spAutoFit/>
          </a:bodyPr>
          <a:lstStyle/>
          <a:p>
            <a:pPr algn="ctr">
              <a:lnSpc>
                <a:spcPts val="6600"/>
              </a:lnSpc>
            </a:pPr>
            <a:r>
              <a:rPr lang="en-US" sz="5789" strike="noStrike" u="none">
                <a:solidFill>
                  <a:srgbClr val="000000"/>
                </a:solidFill>
                <a:latin typeface="Funtastic"/>
                <a:ea typeface="Funtastic"/>
                <a:cs typeface="Funtastic"/>
                <a:sym typeface="Funtastic"/>
              </a:rPr>
              <a:t>WHY THIS PROBLEM SHOULD BE FOCUSED ON?</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1797" y="6983636"/>
            <a:ext cx="19077134" cy="4385535"/>
          </a:xfrm>
          <a:custGeom>
            <a:avLst/>
            <a:gdLst/>
            <a:ahLst/>
            <a:cxnLst/>
            <a:rect r="r" b="b" t="t" l="l"/>
            <a:pathLst>
              <a:path h="4385535" w="19077134">
                <a:moveTo>
                  <a:pt x="0" y="0"/>
                </a:moveTo>
                <a:lnTo>
                  <a:pt x="19077134" y="0"/>
                </a:lnTo>
                <a:lnTo>
                  <a:pt x="19077134" y="4385534"/>
                </a:lnTo>
                <a:lnTo>
                  <a:pt x="0" y="4385534"/>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grpSp>
        <p:nvGrpSpPr>
          <p:cNvPr name="Group 4" id="4"/>
          <p:cNvGrpSpPr/>
          <p:nvPr/>
        </p:nvGrpSpPr>
        <p:grpSpPr>
          <a:xfrm rot="0">
            <a:off x="4604587" y="3229782"/>
            <a:ext cx="9078827" cy="637307"/>
            <a:chOff x="0" y="0"/>
            <a:chExt cx="2193857" cy="154002"/>
          </a:xfrm>
        </p:grpSpPr>
        <p:sp>
          <p:nvSpPr>
            <p:cNvPr name="Freeform 5" id="5"/>
            <p:cNvSpPr/>
            <p:nvPr/>
          </p:nvSpPr>
          <p:spPr>
            <a:xfrm flipH="false" flipV="false" rot="0">
              <a:off x="0" y="0"/>
              <a:ext cx="2193857" cy="154002"/>
            </a:xfrm>
            <a:custGeom>
              <a:avLst/>
              <a:gdLst/>
              <a:ahLst/>
              <a:cxnLst/>
              <a:rect r="r" b="b" t="t" l="l"/>
              <a:pathLst>
                <a:path h="154002" w="2193857">
                  <a:moveTo>
                    <a:pt x="13644" y="0"/>
                  </a:moveTo>
                  <a:lnTo>
                    <a:pt x="2180213" y="0"/>
                  </a:lnTo>
                  <a:cubicBezTo>
                    <a:pt x="2187748" y="0"/>
                    <a:pt x="2193857" y="6109"/>
                    <a:pt x="2193857" y="13644"/>
                  </a:cubicBezTo>
                  <a:lnTo>
                    <a:pt x="2193857" y="140358"/>
                  </a:lnTo>
                  <a:cubicBezTo>
                    <a:pt x="2193857" y="147894"/>
                    <a:pt x="2187748" y="154002"/>
                    <a:pt x="2180213" y="154002"/>
                  </a:cubicBezTo>
                  <a:lnTo>
                    <a:pt x="13644" y="154002"/>
                  </a:lnTo>
                  <a:cubicBezTo>
                    <a:pt x="6109" y="154002"/>
                    <a:pt x="0" y="147894"/>
                    <a:pt x="0" y="140358"/>
                  </a:cubicBezTo>
                  <a:lnTo>
                    <a:pt x="0" y="13644"/>
                  </a:lnTo>
                  <a:cubicBezTo>
                    <a:pt x="0" y="6109"/>
                    <a:pt x="6109" y="0"/>
                    <a:pt x="13644" y="0"/>
                  </a:cubicBezTo>
                  <a:close/>
                </a:path>
              </a:pathLst>
            </a:custGeom>
            <a:solidFill>
              <a:srgbClr val="FFFFFF"/>
            </a:solidFill>
          </p:spPr>
        </p:sp>
        <p:sp>
          <p:nvSpPr>
            <p:cNvPr name="TextBox 6" id="6"/>
            <p:cNvSpPr txBox="true"/>
            <p:nvPr/>
          </p:nvSpPr>
          <p:spPr>
            <a:xfrm>
              <a:off x="0" y="-47625"/>
              <a:ext cx="2193857" cy="201627"/>
            </a:xfrm>
            <a:prstGeom prst="rect">
              <a:avLst/>
            </a:prstGeom>
          </p:spPr>
          <p:txBody>
            <a:bodyPr anchor="ctr" rtlCol="false" tIns="50800" lIns="50800" bIns="50800" rIns="50800"/>
            <a:lstStyle/>
            <a:p>
              <a:pPr algn="ctr">
                <a:lnSpc>
                  <a:spcPts val="3499"/>
                </a:lnSpc>
              </a:pPr>
            </a:p>
          </p:txBody>
        </p:sp>
      </p:grpSp>
      <p:sp>
        <p:nvSpPr>
          <p:cNvPr name="Freeform 7" id="7"/>
          <p:cNvSpPr/>
          <p:nvPr/>
        </p:nvSpPr>
        <p:spPr>
          <a:xfrm flipH="false" flipV="false" rot="0">
            <a:off x="8733354" y="3799746"/>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87716" y="377366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5769221" y="4414606"/>
            <a:ext cx="3238210" cy="2987729"/>
            <a:chOff x="0" y="0"/>
            <a:chExt cx="676481" cy="624154"/>
          </a:xfrm>
        </p:grpSpPr>
        <p:sp>
          <p:nvSpPr>
            <p:cNvPr name="Freeform 10" id="10"/>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11" id="11"/>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Freeform 12" id="12"/>
          <p:cNvSpPr/>
          <p:nvPr/>
        </p:nvSpPr>
        <p:spPr>
          <a:xfrm flipH="false" flipV="false" rot="0">
            <a:off x="0" y="-66083"/>
            <a:ext cx="5186516" cy="2638640"/>
          </a:xfrm>
          <a:custGeom>
            <a:avLst/>
            <a:gdLst/>
            <a:ahLst/>
            <a:cxnLst/>
            <a:rect r="r" b="b" t="t" l="l"/>
            <a:pathLst>
              <a:path h="2638640" w="5186516">
                <a:moveTo>
                  <a:pt x="0" y="0"/>
                </a:moveTo>
                <a:lnTo>
                  <a:pt x="5186516" y="0"/>
                </a:lnTo>
                <a:lnTo>
                  <a:pt x="5186516" y="2638640"/>
                </a:lnTo>
                <a:lnTo>
                  <a:pt x="0" y="2638640"/>
                </a:lnTo>
                <a:lnTo>
                  <a:pt x="0" y="0"/>
                </a:lnTo>
                <a:close/>
              </a:path>
            </a:pathLst>
          </a:custGeom>
          <a:blipFill>
            <a:blip r:embed="rId7">
              <a:alphaModFix amt="75000"/>
            </a:blip>
            <a:stretch>
              <a:fillRect l="0" t="0" r="0" b="0"/>
            </a:stretch>
          </a:blipFill>
        </p:spPr>
      </p:sp>
      <p:sp>
        <p:nvSpPr>
          <p:cNvPr name="Freeform 13" id="13"/>
          <p:cNvSpPr/>
          <p:nvPr/>
        </p:nvSpPr>
        <p:spPr>
          <a:xfrm flipH="false" flipV="false" rot="0">
            <a:off x="-686501" y="299806"/>
            <a:ext cx="2804922" cy="8229600"/>
          </a:xfrm>
          <a:custGeom>
            <a:avLst/>
            <a:gdLst/>
            <a:ahLst/>
            <a:cxnLst/>
            <a:rect r="r" b="b" t="t" l="l"/>
            <a:pathLst>
              <a:path h="8229600" w="2804922">
                <a:moveTo>
                  <a:pt x="0" y="0"/>
                </a:moveTo>
                <a:lnTo>
                  <a:pt x="2804922" y="0"/>
                </a:lnTo>
                <a:lnTo>
                  <a:pt x="2804922" y="8229600"/>
                </a:lnTo>
                <a:lnTo>
                  <a:pt x="0" y="8229600"/>
                </a:lnTo>
                <a:lnTo>
                  <a:pt x="0" y="0"/>
                </a:lnTo>
                <a:close/>
              </a:path>
            </a:pathLst>
          </a:custGeom>
          <a:blipFill>
            <a:blip r:embed="rId8"/>
            <a:stretch>
              <a:fillRect l="0" t="0" r="0" b="0"/>
            </a:stretch>
          </a:blipFill>
        </p:spPr>
      </p:sp>
      <p:sp>
        <p:nvSpPr>
          <p:cNvPr name="Freeform 14" id="14"/>
          <p:cNvSpPr/>
          <p:nvPr/>
        </p:nvSpPr>
        <p:spPr>
          <a:xfrm flipH="true" flipV="false" rot="0">
            <a:off x="12857065" y="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Freeform 15" id="15"/>
          <p:cNvSpPr/>
          <p:nvPr/>
        </p:nvSpPr>
        <p:spPr>
          <a:xfrm flipH="true" flipV="false" rot="0">
            <a:off x="15856839" y="299806"/>
            <a:ext cx="2804922" cy="8229600"/>
          </a:xfrm>
          <a:custGeom>
            <a:avLst/>
            <a:gdLst/>
            <a:ahLst/>
            <a:cxnLst/>
            <a:rect r="r" b="b" t="t" l="l"/>
            <a:pathLst>
              <a:path h="8229600" w="2804922">
                <a:moveTo>
                  <a:pt x="2804922" y="0"/>
                </a:moveTo>
                <a:lnTo>
                  <a:pt x="0" y="0"/>
                </a:lnTo>
                <a:lnTo>
                  <a:pt x="0" y="8229600"/>
                </a:lnTo>
                <a:lnTo>
                  <a:pt x="2804922" y="8229600"/>
                </a:lnTo>
                <a:lnTo>
                  <a:pt x="2804922" y="0"/>
                </a:lnTo>
                <a:close/>
              </a:path>
            </a:pathLst>
          </a:custGeom>
          <a:blipFill>
            <a:blip r:embed="rId8"/>
            <a:stretch>
              <a:fillRect l="0" t="0" r="0" b="0"/>
            </a:stretch>
          </a:blipFill>
        </p:spPr>
      </p:sp>
      <p:sp>
        <p:nvSpPr>
          <p:cNvPr name="Freeform 16" id="16"/>
          <p:cNvSpPr/>
          <p:nvPr/>
        </p:nvSpPr>
        <p:spPr>
          <a:xfrm flipH="false" flipV="false" rot="0">
            <a:off x="-394567" y="8557981"/>
            <a:ext cx="3525522" cy="1826861"/>
          </a:xfrm>
          <a:custGeom>
            <a:avLst/>
            <a:gdLst/>
            <a:ahLst/>
            <a:cxnLst/>
            <a:rect r="r" b="b" t="t" l="l"/>
            <a:pathLst>
              <a:path h="1826861" w="3525522">
                <a:moveTo>
                  <a:pt x="0" y="0"/>
                </a:moveTo>
                <a:lnTo>
                  <a:pt x="3525522" y="0"/>
                </a:lnTo>
                <a:lnTo>
                  <a:pt x="3525522" y="1826861"/>
                </a:lnTo>
                <a:lnTo>
                  <a:pt x="0" y="18268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true" flipV="false" rot="0">
            <a:off x="15157045" y="8529406"/>
            <a:ext cx="3525522" cy="1826861"/>
          </a:xfrm>
          <a:custGeom>
            <a:avLst/>
            <a:gdLst/>
            <a:ahLst/>
            <a:cxnLst/>
            <a:rect r="r" b="b" t="t" l="l"/>
            <a:pathLst>
              <a:path h="1826861" w="3525522">
                <a:moveTo>
                  <a:pt x="3525522" y="0"/>
                </a:moveTo>
                <a:lnTo>
                  <a:pt x="0" y="0"/>
                </a:lnTo>
                <a:lnTo>
                  <a:pt x="0" y="1826861"/>
                </a:lnTo>
                <a:lnTo>
                  <a:pt x="3525522" y="1826861"/>
                </a:lnTo>
                <a:lnTo>
                  <a:pt x="352552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10024953" y="7871120"/>
            <a:ext cx="2512671" cy="2610567"/>
          </a:xfrm>
          <a:custGeom>
            <a:avLst/>
            <a:gdLst/>
            <a:ahLst/>
            <a:cxnLst/>
            <a:rect r="r" b="b" t="t" l="l"/>
            <a:pathLst>
              <a:path h="2610567" w="2512671">
                <a:moveTo>
                  <a:pt x="0" y="0"/>
                </a:moveTo>
                <a:lnTo>
                  <a:pt x="2512671" y="0"/>
                </a:lnTo>
                <a:lnTo>
                  <a:pt x="2512671" y="2610566"/>
                </a:lnTo>
                <a:lnTo>
                  <a:pt x="0" y="2610566"/>
                </a:lnTo>
                <a:lnTo>
                  <a:pt x="0" y="0"/>
                </a:lnTo>
                <a:close/>
              </a:path>
            </a:pathLst>
          </a:custGeom>
          <a:blipFill>
            <a:blip r:embed="rId11"/>
            <a:stretch>
              <a:fillRect l="0" t="0" r="0" b="0"/>
            </a:stretch>
          </a:blipFill>
        </p:spPr>
      </p:sp>
      <p:grpSp>
        <p:nvGrpSpPr>
          <p:cNvPr name="Group 19" id="19"/>
          <p:cNvGrpSpPr/>
          <p:nvPr/>
        </p:nvGrpSpPr>
        <p:grpSpPr>
          <a:xfrm rot="0">
            <a:off x="14021090" y="4370358"/>
            <a:ext cx="3238210" cy="2987729"/>
            <a:chOff x="0" y="0"/>
            <a:chExt cx="676481" cy="624154"/>
          </a:xfrm>
        </p:grpSpPr>
        <p:sp>
          <p:nvSpPr>
            <p:cNvPr name="Freeform 20" id="20"/>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21" id="21"/>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22" id="22"/>
          <p:cNvGrpSpPr/>
          <p:nvPr/>
        </p:nvGrpSpPr>
        <p:grpSpPr>
          <a:xfrm rot="0">
            <a:off x="14008478" y="6900203"/>
            <a:ext cx="3238210" cy="818225"/>
            <a:chOff x="0" y="0"/>
            <a:chExt cx="676481" cy="170932"/>
          </a:xfrm>
        </p:grpSpPr>
        <p:sp>
          <p:nvSpPr>
            <p:cNvPr name="Freeform 23" id="23"/>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24" id="24"/>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TextBox 25" id="25"/>
          <p:cNvSpPr txBox="true"/>
          <p:nvPr/>
        </p:nvSpPr>
        <p:spPr>
          <a:xfrm rot="0">
            <a:off x="14418885" y="7000591"/>
            <a:ext cx="2417396" cy="596211"/>
          </a:xfrm>
          <a:prstGeom prst="rect">
            <a:avLst/>
          </a:prstGeom>
        </p:spPr>
        <p:txBody>
          <a:bodyPr anchor="t" rtlCol="false" tIns="0" lIns="0" bIns="0" rIns="0">
            <a:spAutoFit/>
          </a:bodyPr>
          <a:lstStyle/>
          <a:p>
            <a:pPr algn="ctr" marL="0" indent="0" lvl="0">
              <a:lnSpc>
                <a:spcPts val="2347"/>
              </a:lnSpc>
              <a:spcBef>
                <a:spcPct val="0"/>
              </a:spcBef>
            </a:pPr>
            <a:r>
              <a:rPr lang="en-US" b="true" sz="2023">
                <a:solidFill>
                  <a:srgbClr val="5CE1E6"/>
                </a:solidFill>
                <a:latin typeface="Poppins Bold"/>
                <a:ea typeface="Poppins Bold"/>
                <a:cs typeface="Poppins Bold"/>
                <a:sym typeface="Poppins Bold"/>
              </a:rPr>
              <a:t>Strengthen Regulations</a:t>
            </a:r>
          </a:p>
        </p:txBody>
      </p:sp>
      <p:grpSp>
        <p:nvGrpSpPr>
          <p:cNvPr name="Group 26" id="26"/>
          <p:cNvGrpSpPr/>
          <p:nvPr/>
        </p:nvGrpSpPr>
        <p:grpSpPr>
          <a:xfrm rot="0">
            <a:off x="10037566" y="4370358"/>
            <a:ext cx="3238210" cy="2987729"/>
            <a:chOff x="0" y="0"/>
            <a:chExt cx="676481" cy="624154"/>
          </a:xfrm>
        </p:grpSpPr>
        <p:sp>
          <p:nvSpPr>
            <p:cNvPr name="Freeform 27" id="27"/>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28" id="28"/>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29" id="29"/>
          <p:cNvGrpSpPr/>
          <p:nvPr/>
        </p:nvGrpSpPr>
        <p:grpSpPr>
          <a:xfrm rot="0">
            <a:off x="10024953" y="6900203"/>
            <a:ext cx="3238210" cy="818225"/>
            <a:chOff x="0" y="0"/>
            <a:chExt cx="676481" cy="170932"/>
          </a:xfrm>
        </p:grpSpPr>
        <p:sp>
          <p:nvSpPr>
            <p:cNvPr name="Freeform 30" id="30"/>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31" id="31"/>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Freeform 32" id="32"/>
          <p:cNvSpPr/>
          <p:nvPr/>
        </p:nvSpPr>
        <p:spPr>
          <a:xfrm flipH="false" flipV="false" rot="0">
            <a:off x="12857065" y="7447824"/>
            <a:ext cx="2512671" cy="2839176"/>
          </a:xfrm>
          <a:custGeom>
            <a:avLst/>
            <a:gdLst/>
            <a:ahLst/>
            <a:cxnLst/>
            <a:rect r="r" b="b" t="t" l="l"/>
            <a:pathLst>
              <a:path h="2839176" w="2512671">
                <a:moveTo>
                  <a:pt x="0" y="0"/>
                </a:moveTo>
                <a:lnTo>
                  <a:pt x="2512670" y="0"/>
                </a:lnTo>
                <a:lnTo>
                  <a:pt x="2512670" y="2839176"/>
                </a:lnTo>
                <a:lnTo>
                  <a:pt x="0" y="2839176"/>
                </a:lnTo>
                <a:lnTo>
                  <a:pt x="0" y="0"/>
                </a:lnTo>
                <a:close/>
              </a:path>
            </a:pathLst>
          </a:custGeom>
          <a:blipFill>
            <a:blip r:embed="rId12"/>
            <a:stretch>
              <a:fillRect l="0" t="0" r="0" b="0"/>
            </a:stretch>
          </a:blipFill>
        </p:spPr>
      </p:sp>
      <p:grpSp>
        <p:nvGrpSpPr>
          <p:cNvPr name="Group 33" id="33"/>
          <p:cNvGrpSpPr/>
          <p:nvPr/>
        </p:nvGrpSpPr>
        <p:grpSpPr>
          <a:xfrm rot="0">
            <a:off x="1028700" y="4414606"/>
            <a:ext cx="3238210" cy="2987729"/>
            <a:chOff x="0" y="0"/>
            <a:chExt cx="676481" cy="624154"/>
          </a:xfrm>
        </p:grpSpPr>
        <p:sp>
          <p:nvSpPr>
            <p:cNvPr name="Freeform 34" id="34"/>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35" id="35"/>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36" id="36"/>
          <p:cNvGrpSpPr/>
          <p:nvPr/>
        </p:nvGrpSpPr>
        <p:grpSpPr>
          <a:xfrm rot="0">
            <a:off x="1028700" y="6900203"/>
            <a:ext cx="3238210" cy="818225"/>
            <a:chOff x="0" y="0"/>
            <a:chExt cx="676481" cy="170932"/>
          </a:xfrm>
        </p:grpSpPr>
        <p:sp>
          <p:nvSpPr>
            <p:cNvPr name="Freeform 37" id="37"/>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38" id="38"/>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39" id="39"/>
          <p:cNvGrpSpPr/>
          <p:nvPr/>
        </p:nvGrpSpPr>
        <p:grpSpPr>
          <a:xfrm rot="0">
            <a:off x="5769221" y="6882081"/>
            <a:ext cx="3238210" cy="818225"/>
            <a:chOff x="0" y="0"/>
            <a:chExt cx="676481" cy="170932"/>
          </a:xfrm>
        </p:grpSpPr>
        <p:sp>
          <p:nvSpPr>
            <p:cNvPr name="Freeform 40" id="40"/>
            <p:cNvSpPr/>
            <p:nvPr/>
          </p:nvSpPr>
          <p:spPr>
            <a:xfrm flipH="false" flipV="false" rot="0">
              <a:off x="0" y="0"/>
              <a:ext cx="676481" cy="170932"/>
            </a:xfrm>
            <a:custGeom>
              <a:avLst/>
              <a:gdLst/>
              <a:ahLst/>
              <a:cxnLst/>
              <a:rect r="r" b="b" t="t" l="l"/>
              <a:pathLst>
                <a:path h="170932" w="676481">
                  <a:moveTo>
                    <a:pt x="31080" y="0"/>
                  </a:moveTo>
                  <a:lnTo>
                    <a:pt x="645401" y="0"/>
                  </a:lnTo>
                  <a:cubicBezTo>
                    <a:pt x="653644" y="0"/>
                    <a:pt x="661549" y="3275"/>
                    <a:pt x="667378" y="9103"/>
                  </a:cubicBezTo>
                  <a:cubicBezTo>
                    <a:pt x="673207" y="14932"/>
                    <a:pt x="676481" y="22837"/>
                    <a:pt x="676481" y="31080"/>
                  </a:cubicBezTo>
                  <a:lnTo>
                    <a:pt x="676481" y="139852"/>
                  </a:lnTo>
                  <a:cubicBezTo>
                    <a:pt x="676481" y="148095"/>
                    <a:pt x="673207" y="156000"/>
                    <a:pt x="667378" y="161829"/>
                  </a:cubicBezTo>
                  <a:cubicBezTo>
                    <a:pt x="661549" y="167658"/>
                    <a:pt x="653644" y="170932"/>
                    <a:pt x="645401" y="170932"/>
                  </a:cubicBezTo>
                  <a:lnTo>
                    <a:pt x="31080" y="170932"/>
                  </a:lnTo>
                  <a:cubicBezTo>
                    <a:pt x="22837" y="170932"/>
                    <a:pt x="14932" y="167658"/>
                    <a:pt x="9103" y="161829"/>
                  </a:cubicBezTo>
                  <a:cubicBezTo>
                    <a:pt x="3275" y="156000"/>
                    <a:pt x="0" y="148095"/>
                    <a:pt x="0" y="139852"/>
                  </a:cubicBezTo>
                  <a:lnTo>
                    <a:pt x="0" y="31080"/>
                  </a:lnTo>
                  <a:cubicBezTo>
                    <a:pt x="0" y="22837"/>
                    <a:pt x="3275" y="14932"/>
                    <a:pt x="9103" y="9103"/>
                  </a:cubicBezTo>
                  <a:cubicBezTo>
                    <a:pt x="14932" y="3275"/>
                    <a:pt x="22837" y="0"/>
                    <a:pt x="31080" y="0"/>
                  </a:cubicBezTo>
                  <a:close/>
                </a:path>
              </a:pathLst>
            </a:custGeom>
            <a:solidFill>
              <a:srgbClr val="000000"/>
            </a:solidFill>
            <a:ln cap="sq">
              <a:noFill/>
              <a:prstDash val="solid"/>
              <a:miter/>
            </a:ln>
          </p:spPr>
        </p:sp>
        <p:sp>
          <p:nvSpPr>
            <p:cNvPr name="TextBox 41" id="41"/>
            <p:cNvSpPr txBox="true"/>
            <p:nvPr/>
          </p:nvSpPr>
          <p:spPr>
            <a:xfrm>
              <a:off x="0" y="-47625"/>
              <a:ext cx="676481" cy="218557"/>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TextBox 42" id="42"/>
          <p:cNvSpPr txBox="true"/>
          <p:nvPr/>
        </p:nvSpPr>
        <p:spPr>
          <a:xfrm rot="0">
            <a:off x="6179628" y="7150550"/>
            <a:ext cx="2417396" cy="308008"/>
          </a:xfrm>
          <a:prstGeom prst="rect">
            <a:avLst/>
          </a:prstGeom>
        </p:spPr>
        <p:txBody>
          <a:bodyPr anchor="t" rtlCol="false" tIns="0" lIns="0" bIns="0" rIns="0">
            <a:spAutoFit/>
          </a:bodyPr>
          <a:lstStyle/>
          <a:p>
            <a:pPr algn="ctr" marL="0" indent="0" lvl="0">
              <a:lnSpc>
                <a:spcPts val="2347"/>
              </a:lnSpc>
              <a:spcBef>
                <a:spcPct val="0"/>
              </a:spcBef>
            </a:pPr>
            <a:r>
              <a:rPr lang="en-US" b="true" sz="2023">
                <a:solidFill>
                  <a:srgbClr val="5271FF"/>
                </a:solidFill>
                <a:latin typeface="Poppins Bold"/>
                <a:ea typeface="Poppins Bold"/>
                <a:cs typeface="Poppins Bold"/>
                <a:sym typeface="Poppins Bold"/>
              </a:rPr>
              <a:t>Recycle and Treat</a:t>
            </a:r>
          </a:p>
        </p:txBody>
      </p:sp>
      <p:sp>
        <p:nvSpPr>
          <p:cNvPr name="Freeform 43" id="43"/>
          <p:cNvSpPr/>
          <p:nvPr/>
        </p:nvSpPr>
        <p:spPr>
          <a:xfrm flipH="false" flipV="false" rot="0">
            <a:off x="4018874" y="4769095"/>
            <a:ext cx="2335283" cy="5887268"/>
          </a:xfrm>
          <a:custGeom>
            <a:avLst/>
            <a:gdLst/>
            <a:ahLst/>
            <a:cxnLst/>
            <a:rect r="r" b="b" t="t" l="l"/>
            <a:pathLst>
              <a:path h="5887268" w="2335283">
                <a:moveTo>
                  <a:pt x="0" y="0"/>
                </a:moveTo>
                <a:lnTo>
                  <a:pt x="2335283" y="0"/>
                </a:lnTo>
                <a:lnTo>
                  <a:pt x="2335283" y="5887268"/>
                </a:lnTo>
                <a:lnTo>
                  <a:pt x="0" y="5887268"/>
                </a:lnTo>
                <a:lnTo>
                  <a:pt x="0" y="0"/>
                </a:lnTo>
                <a:close/>
              </a:path>
            </a:pathLst>
          </a:custGeom>
          <a:blipFill>
            <a:blip r:embed="rId13"/>
            <a:stretch>
              <a:fillRect l="0" t="0" r="0" b="0"/>
            </a:stretch>
          </a:blipFill>
        </p:spPr>
      </p:sp>
      <p:sp>
        <p:nvSpPr>
          <p:cNvPr name="Freeform 44" id="44"/>
          <p:cNvSpPr/>
          <p:nvPr/>
        </p:nvSpPr>
        <p:spPr>
          <a:xfrm flipH="false" flipV="false" rot="0">
            <a:off x="14606378" y="4370358"/>
            <a:ext cx="2500921" cy="2500921"/>
          </a:xfrm>
          <a:custGeom>
            <a:avLst/>
            <a:gdLst/>
            <a:ahLst/>
            <a:cxnLst/>
            <a:rect r="r" b="b" t="t" l="l"/>
            <a:pathLst>
              <a:path h="2500921" w="2500921">
                <a:moveTo>
                  <a:pt x="0" y="0"/>
                </a:moveTo>
                <a:lnTo>
                  <a:pt x="2500922" y="0"/>
                </a:lnTo>
                <a:lnTo>
                  <a:pt x="2500922" y="2500922"/>
                </a:lnTo>
                <a:lnTo>
                  <a:pt x="0" y="2500922"/>
                </a:lnTo>
                <a:lnTo>
                  <a:pt x="0" y="0"/>
                </a:lnTo>
                <a:close/>
              </a:path>
            </a:pathLst>
          </a:custGeom>
          <a:blipFill>
            <a:blip r:embed="rId14"/>
            <a:stretch>
              <a:fillRect l="0" t="0" r="0" b="0"/>
            </a:stretch>
          </a:blipFill>
        </p:spPr>
      </p:sp>
      <p:sp>
        <p:nvSpPr>
          <p:cNvPr name="Freeform 45" id="45"/>
          <p:cNvSpPr/>
          <p:nvPr/>
        </p:nvSpPr>
        <p:spPr>
          <a:xfrm flipH="false" flipV="false" rot="0">
            <a:off x="10435360" y="4211604"/>
            <a:ext cx="2798513" cy="2798513"/>
          </a:xfrm>
          <a:custGeom>
            <a:avLst/>
            <a:gdLst/>
            <a:ahLst/>
            <a:cxnLst/>
            <a:rect r="r" b="b" t="t" l="l"/>
            <a:pathLst>
              <a:path h="2798513" w="2798513">
                <a:moveTo>
                  <a:pt x="0" y="0"/>
                </a:moveTo>
                <a:lnTo>
                  <a:pt x="2798513" y="0"/>
                </a:lnTo>
                <a:lnTo>
                  <a:pt x="2798513" y="2798512"/>
                </a:lnTo>
                <a:lnTo>
                  <a:pt x="0" y="2798512"/>
                </a:lnTo>
                <a:lnTo>
                  <a:pt x="0" y="0"/>
                </a:lnTo>
                <a:close/>
              </a:path>
            </a:pathLst>
          </a:custGeom>
          <a:blipFill>
            <a:blip r:embed="rId15"/>
            <a:stretch>
              <a:fillRect l="0" t="0" r="0" b="0"/>
            </a:stretch>
          </a:blipFill>
        </p:spPr>
      </p:sp>
      <p:sp>
        <p:nvSpPr>
          <p:cNvPr name="Freeform 46" id="46"/>
          <p:cNvSpPr/>
          <p:nvPr/>
        </p:nvSpPr>
        <p:spPr>
          <a:xfrm flipH="false" flipV="false" rot="0">
            <a:off x="1451719" y="4532979"/>
            <a:ext cx="2477138" cy="2477138"/>
          </a:xfrm>
          <a:custGeom>
            <a:avLst/>
            <a:gdLst/>
            <a:ahLst/>
            <a:cxnLst/>
            <a:rect r="r" b="b" t="t" l="l"/>
            <a:pathLst>
              <a:path h="2477138" w="2477138">
                <a:moveTo>
                  <a:pt x="0" y="0"/>
                </a:moveTo>
                <a:lnTo>
                  <a:pt x="2477138" y="0"/>
                </a:lnTo>
                <a:lnTo>
                  <a:pt x="2477138" y="2477137"/>
                </a:lnTo>
                <a:lnTo>
                  <a:pt x="0" y="2477137"/>
                </a:lnTo>
                <a:lnTo>
                  <a:pt x="0" y="0"/>
                </a:lnTo>
                <a:close/>
              </a:path>
            </a:pathLst>
          </a:custGeom>
          <a:blipFill>
            <a:blip r:embed="rId16"/>
            <a:stretch>
              <a:fillRect l="0" t="0" r="0" b="0"/>
            </a:stretch>
          </a:blipFill>
        </p:spPr>
      </p:sp>
      <p:sp>
        <p:nvSpPr>
          <p:cNvPr name="Freeform 47" id="47"/>
          <p:cNvSpPr/>
          <p:nvPr/>
        </p:nvSpPr>
        <p:spPr>
          <a:xfrm flipH="false" flipV="false" rot="0">
            <a:off x="6257834" y="4532979"/>
            <a:ext cx="2260984" cy="2260984"/>
          </a:xfrm>
          <a:custGeom>
            <a:avLst/>
            <a:gdLst/>
            <a:ahLst/>
            <a:cxnLst/>
            <a:rect r="r" b="b" t="t" l="l"/>
            <a:pathLst>
              <a:path h="2260984" w="2260984">
                <a:moveTo>
                  <a:pt x="0" y="0"/>
                </a:moveTo>
                <a:lnTo>
                  <a:pt x="2260984" y="0"/>
                </a:lnTo>
                <a:lnTo>
                  <a:pt x="2260984" y="2260983"/>
                </a:lnTo>
                <a:lnTo>
                  <a:pt x="0" y="2260983"/>
                </a:lnTo>
                <a:lnTo>
                  <a:pt x="0" y="0"/>
                </a:lnTo>
                <a:close/>
              </a:path>
            </a:pathLst>
          </a:custGeom>
          <a:blipFill>
            <a:blip r:embed="rId17"/>
            <a:stretch>
              <a:fillRect l="0" t="0" r="0" b="0"/>
            </a:stretch>
          </a:blipFill>
        </p:spPr>
      </p:sp>
      <p:sp>
        <p:nvSpPr>
          <p:cNvPr name="TextBox 48" id="48"/>
          <p:cNvSpPr txBox="true"/>
          <p:nvPr/>
        </p:nvSpPr>
        <p:spPr>
          <a:xfrm rot="0">
            <a:off x="1674281" y="1704538"/>
            <a:ext cx="14939438" cy="1144244"/>
          </a:xfrm>
          <a:prstGeom prst="rect">
            <a:avLst/>
          </a:prstGeom>
        </p:spPr>
        <p:txBody>
          <a:bodyPr anchor="t" rtlCol="false" tIns="0" lIns="0" bIns="0" rIns="0">
            <a:spAutoFit/>
          </a:bodyPr>
          <a:lstStyle/>
          <a:p>
            <a:pPr algn="ctr">
              <a:lnSpc>
                <a:spcPts val="7870"/>
              </a:lnSpc>
            </a:pPr>
            <a:r>
              <a:rPr lang="en-US" sz="6903">
                <a:solidFill>
                  <a:srgbClr val="000000"/>
                </a:solidFill>
                <a:latin typeface="Funtastic"/>
                <a:ea typeface="Funtastic"/>
                <a:cs typeface="Funtastic"/>
                <a:sym typeface="Funtastic"/>
              </a:rPr>
              <a:t>HOW CAN WE ADDRESS THIS ISSUE?</a:t>
            </a:r>
          </a:p>
        </p:txBody>
      </p:sp>
      <p:sp>
        <p:nvSpPr>
          <p:cNvPr name="TextBox 49" id="49"/>
          <p:cNvSpPr txBox="true"/>
          <p:nvPr/>
        </p:nvSpPr>
        <p:spPr>
          <a:xfrm rot="0">
            <a:off x="4809395" y="3216217"/>
            <a:ext cx="8627598" cy="611217"/>
          </a:xfrm>
          <a:prstGeom prst="rect">
            <a:avLst/>
          </a:prstGeom>
        </p:spPr>
        <p:txBody>
          <a:bodyPr anchor="t" rtlCol="false" tIns="0" lIns="0" bIns="0" rIns="0">
            <a:spAutoFit/>
          </a:bodyPr>
          <a:lstStyle/>
          <a:p>
            <a:pPr algn="ctr" marL="0" indent="0" lvl="0">
              <a:lnSpc>
                <a:spcPts val="2351"/>
              </a:lnSpc>
              <a:spcBef>
                <a:spcPct val="0"/>
              </a:spcBef>
            </a:pPr>
            <a:r>
              <a:rPr lang="en-US" b="true" sz="1679">
                <a:solidFill>
                  <a:srgbClr val="000000"/>
                </a:solidFill>
                <a:latin typeface="Poppins Bold"/>
                <a:ea typeface="Poppins Bold"/>
                <a:cs typeface="Poppins Bold"/>
                <a:sym typeface="Poppins Bold"/>
              </a:rPr>
              <a:t>Promote sustainable practices, advanced recycling methods, education, and strict regulations to minimize hazardous waste and ensure safe disposal.</a:t>
            </a:r>
          </a:p>
        </p:txBody>
      </p:sp>
      <p:sp>
        <p:nvSpPr>
          <p:cNvPr name="TextBox 50" id="50"/>
          <p:cNvSpPr txBox="true"/>
          <p:nvPr/>
        </p:nvSpPr>
        <p:spPr>
          <a:xfrm rot="0">
            <a:off x="10435360" y="7139817"/>
            <a:ext cx="2417396" cy="308008"/>
          </a:xfrm>
          <a:prstGeom prst="rect">
            <a:avLst/>
          </a:prstGeom>
        </p:spPr>
        <p:txBody>
          <a:bodyPr anchor="t" rtlCol="false" tIns="0" lIns="0" bIns="0" rIns="0">
            <a:spAutoFit/>
          </a:bodyPr>
          <a:lstStyle/>
          <a:p>
            <a:pPr algn="ctr" marL="0" indent="0" lvl="0">
              <a:lnSpc>
                <a:spcPts val="2347"/>
              </a:lnSpc>
              <a:spcBef>
                <a:spcPct val="0"/>
              </a:spcBef>
            </a:pPr>
            <a:r>
              <a:rPr lang="en-US" b="true" sz="2023">
                <a:solidFill>
                  <a:srgbClr val="38B6FF"/>
                </a:solidFill>
                <a:latin typeface="Poppins Bold"/>
                <a:ea typeface="Poppins Bold"/>
                <a:cs typeface="Poppins Bold"/>
                <a:sym typeface="Poppins Bold"/>
              </a:rPr>
              <a:t>Raise Awareness</a:t>
            </a:r>
          </a:p>
        </p:txBody>
      </p:sp>
      <p:sp>
        <p:nvSpPr>
          <p:cNvPr name="TextBox 51" id="51"/>
          <p:cNvSpPr txBox="true"/>
          <p:nvPr/>
        </p:nvSpPr>
        <p:spPr>
          <a:xfrm rot="0">
            <a:off x="1451719" y="7132427"/>
            <a:ext cx="2417396" cy="308008"/>
          </a:xfrm>
          <a:prstGeom prst="rect">
            <a:avLst/>
          </a:prstGeom>
        </p:spPr>
        <p:txBody>
          <a:bodyPr anchor="t" rtlCol="false" tIns="0" lIns="0" bIns="0" rIns="0">
            <a:spAutoFit/>
          </a:bodyPr>
          <a:lstStyle/>
          <a:p>
            <a:pPr algn="ctr" marL="0" indent="0" lvl="0">
              <a:lnSpc>
                <a:spcPts val="2347"/>
              </a:lnSpc>
              <a:spcBef>
                <a:spcPct val="0"/>
              </a:spcBef>
            </a:pPr>
            <a:r>
              <a:rPr lang="en-US" b="true" sz="2023">
                <a:solidFill>
                  <a:srgbClr val="004AAD"/>
                </a:solidFill>
                <a:latin typeface="Poppins Bold"/>
                <a:ea typeface="Poppins Bold"/>
                <a:cs typeface="Poppins Bold"/>
                <a:sym typeface="Poppins Bold"/>
              </a:rPr>
              <a:t>Reduce Waste</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8650142" y="505419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53429" y="505419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91942" y="7926045"/>
            <a:ext cx="31322026" cy="12187116"/>
          </a:xfrm>
          <a:custGeom>
            <a:avLst/>
            <a:gdLst/>
            <a:ahLst/>
            <a:cxnLst/>
            <a:rect r="r" b="b" t="t" l="l"/>
            <a:pathLst>
              <a:path h="12187116" w="31322026">
                <a:moveTo>
                  <a:pt x="0" y="0"/>
                </a:moveTo>
                <a:lnTo>
                  <a:pt x="31322026" y="0"/>
                </a:lnTo>
                <a:lnTo>
                  <a:pt x="31322026" y="12187115"/>
                </a:lnTo>
                <a:lnTo>
                  <a:pt x="0" y="121871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2325200" y="83197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Freeform 7" id="7"/>
          <p:cNvSpPr/>
          <p:nvPr/>
        </p:nvSpPr>
        <p:spPr>
          <a:xfrm flipH="false" flipV="false" rot="0">
            <a:off x="14241437" y="1153119"/>
            <a:ext cx="7234714" cy="7802142"/>
          </a:xfrm>
          <a:custGeom>
            <a:avLst/>
            <a:gdLst/>
            <a:ahLst/>
            <a:cxnLst/>
            <a:rect r="r" b="b" t="t" l="l"/>
            <a:pathLst>
              <a:path h="7802142" w="7234714">
                <a:moveTo>
                  <a:pt x="0" y="0"/>
                </a:moveTo>
                <a:lnTo>
                  <a:pt x="7234714" y="0"/>
                </a:lnTo>
                <a:lnTo>
                  <a:pt x="7234714" y="7802142"/>
                </a:lnTo>
                <a:lnTo>
                  <a:pt x="0" y="78021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635764" y="831970"/>
            <a:ext cx="5186516" cy="2638640"/>
          </a:xfrm>
          <a:custGeom>
            <a:avLst/>
            <a:gdLst/>
            <a:ahLst/>
            <a:cxnLst/>
            <a:rect r="r" b="b" t="t" l="l"/>
            <a:pathLst>
              <a:path h="2638640" w="5186516">
                <a:moveTo>
                  <a:pt x="0" y="0"/>
                </a:moveTo>
                <a:lnTo>
                  <a:pt x="5186515" y="0"/>
                </a:lnTo>
                <a:lnTo>
                  <a:pt x="5186515" y="2638640"/>
                </a:lnTo>
                <a:lnTo>
                  <a:pt x="0" y="2638640"/>
                </a:lnTo>
                <a:lnTo>
                  <a:pt x="0" y="0"/>
                </a:lnTo>
                <a:close/>
              </a:path>
            </a:pathLst>
          </a:custGeom>
          <a:blipFill>
            <a:blip r:embed="rId7">
              <a:alphaModFix amt="75000"/>
            </a:blip>
            <a:stretch>
              <a:fillRect l="0" t="0" r="0" b="0"/>
            </a:stretch>
          </a:blipFill>
        </p:spPr>
      </p:sp>
      <p:sp>
        <p:nvSpPr>
          <p:cNvPr name="Freeform 9" id="9"/>
          <p:cNvSpPr/>
          <p:nvPr/>
        </p:nvSpPr>
        <p:spPr>
          <a:xfrm flipH="true" flipV="false" rot="0">
            <a:off x="-3844808" y="1153119"/>
            <a:ext cx="7910308" cy="8530725"/>
          </a:xfrm>
          <a:custGeom>
            <a:avLst/>
            <a:gdLst/>
            <a:ahLst/>
            <a:cxnLst/>
            <a:rect r="r" b="b" t="t" l="l"/>
            <a:pathLst>
              <a:path h="8530725" w="7910308">
                <a:moveTo>
                  <a:pt x="7910308" y="0"/>
                </a:moveTo>
                <a:lnTo>
                  <a:pt x="0" y="0"/>
                </a:lnTo>
                <a:lnTo>
                  <a:pt x="0" y="8530724"/>
                </a:lnTo>
                <a:lnTo>
                  <a:pt x="7910308" y="8530724"/>
                </a:lnTo>
                <a:lnTo>
                  <a:pt x="79103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35764" y="3121778"/>
            <a:ext cx="3191781" cy="7165222"/>
          </a:xfrm>
          <a:custGeom>
            <a:avLst/>
            <a:gdLst/>
            <a:ahLst/>
            <a:cxnLst/>
            <a:rect r="r" b="b" t="t" l="l"/>
            <a:pathLst>
              <a:path h="7165222" w="3191781">
                <a:moveTo>
                  <a:pt x="0" y="0"/>
                </a:moveTo>
                <a:lnTo>
                  <a:pt x="3191780" y="0"/>
                </a:lnTo>
                <a:lnTo>
                  <a:pt x="3191780" y="7165222"/>
                </a:lnTo>
                <a:lnTo>
                  <a:pt x="0" y="71652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5472490" y="2986822"/>
            <a:ext cx="12039226" cy="671850"/>
            <a:chOff x="0" y="0"/>
            <a:chExt cx="2909223" cy="162349"/>
          </a:xfrm>
        </p:grpSpPr>
        <p:sp>
          <p:nvSpPr>
            <p:cNvPr name="Freeform 12" id="12"/>
            <p:cNvSpPr/>
            <p:nvPr/>
          </p:nvSpPr>
          <p:spPr>
            <a:xfrm flipH="false" flipV="false" rot="0">
              <a:off x="0" y="0"/>
              <a:ext cx="2909224" cy="162349"/>
            </a:xfrm>
            <a:custGeom>
              <a:avLst/>
              <a:gdLst/>
              <a:ahLst/>
              <a:cxnLst/>
              <a:rect r="r" b="b" t="t" l="l"/>
              <a:pathLst>
                <a:path h="162349" w="2909224">
                  <a:moveTo>
                    <a:pt x="10289" y="0"/>
                  </a:moveTo>
                  <a:lnTo>
                    <a:pt x="2898935" y="0"/>
                  </a:lnTo>
                  <a:cubicBezTo>
                    <a:pt x="2901663" y="0"/>
                    <a:pt x="2904280" y="1084"/>
                    <a:pt x="2906210" y="3014"/>
                  </a:cubicBezTo>
                  <a:cubicBezTo>
                    <a:pt x="2908140" y="4943"/>
                    <a:pt x="2909224" y="7560"/>
                    <a:pt x="2909224" y="10289"/>
                  </a:cubicBezTo>
                  <a:lnTo>
                    <a:pt x="2909224" y="152060"/>
                  </a:lnTo>
                  <a:cubicBezTo>
                    <a:pt x="2909224" y="154789"/>
                    <a:pt x="2908140" y="157406"/>
                    <a:pt x="2906210" y="159336"/>
                  </a:cubicBezTo>
                  <a:cubicBezTo>
                    <a:pt x="2904280" y="161265"/>
                    <a:pt x="2901663" y="162349"/>
                    <a:pt x="2898935" y="162349"/>
                  </a:cubicBezTo>
                  <a:lnTo>
                    <a:pt x="10289" y="162349"/>
                  </a:lnTo>
                  <a:cubicBezTo>
                    <a:pt x="7560" y="162349"/>
                    <a:pt x="4943" y="161265"/>
                    <a:pt x="3014" y="159336"/>
                  </a:cubicBezTo>
                  <a:cubicBezTo>
                    <a:pt x="1084" y="157406"/>
                    <a:pt x="0" y="154789"/>
                    <a:pt x="0" y="15206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13" id="13"/>
            <p:cNvSpPr txBox="true"/>
            <p:nvPr/>
          </p:nvSpPr>
          <p:spPr>
            <a:xfrm>
              <a:off x="0" y="-47625"/>
              <a:ext cx="2909223" cy="209974"/>
            </a:xfrm>
            <a:prstGeom prst="rect">
              <a:avLst/>
            </a:prstGeom>
          </p:spPr>
          <p:txBody>
            <a:bodyPr anchor="ctr" rtlCol="false" tIns="50800" lIns="50800" bIns="50800" rIns="50800"/>
            <a:lstStyle/>
            <a:p>
              <a:pPr algn="ctr">
                <a:lnSpc>
                  <a:spcPts val="3499"/>
                </a:lnSpc>
              </a:pPr>
            </a:p>
          </p:txBody>
        </p:sp>
      </p:grpSp>
      <p:sp>
        <p:nvSpPr>
          <p:cNvPr name="Freeform 14" id="14"/>
          <p:cNvSpPr/>
          <p:nvPr/>
        </p:nvSpPr>
        <p:spPr>
          <a:xfrm flipH="false" flipV="false" rot="0">
            <a:off x="5277624" y="9379276"/>
            <a:ext cx="2497899" cy="1294366"/>
          </a:xfrm>
          <a:custGeom>
            <a:avLst/>
            <a:gdLst/>
            <a:ahLst/>
            <a:cxnLst/>
            <a:rect r="r" b="b" t="t" l="l"/>
            <a:pathLst>
              <a:path h="1294366" w="2497899">
                <a:moveTo>
                  <a:pt x="0" y="0"/>
                </a:moveTo>
                <a:lnTo>
                  <a:pt x="2497900" y="0"/>
                </a:lnTo>
                <a:lnTo>
                  <a:pt x="2497900" y="1294366"/>
                </a:lnTo>
                <a:lnTo>
                  <a:pt x="0" y="1294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3435276" y="9569776"/>
            <a:ext cx="2497899" cy="1294366"/>
          </a:xfrm>
          <a:custGeom>
            <a:avLst/>
            <a:gdLst/>
            <a:ahLst/>
            <a:cxnLst/>
            <a:rect r="r" b="b" t="t" l="l"/>
            <a:pathLst>
              <a:path h="1294366" w="2497899">
                <a:moveTo>
                  <a:pt x="0" y="0"/>
                </a:moveTo>
                <a:lnTo>
                  <a:pt x="2497899" y="0"/>
                </a:lnTo>
                <a:lnTo>
                  <a:pt x="2497899" y="1294366"/>
                </a:lnTo>
                <a:lnTo>
                  <a:pt x="0" y="1294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642693" y="9258300"/>
            <a:ext cx="2497899" cy="1294366"/>
          </a:xfrm>
          <a:custGeom>
            <a:avLst/>
            <a:gdLst/>
            <a:ahLst/>
            <a:cxnLst/>
            <a:rect r="r" b="b" t="t" l="l"/>
            <a:pathLst>
              <a:path h="1294366" w="2497899">
                <a:moveTo>
                  <a:pt x="0" y="0"/>
                </a:moveTo>
                <a:lnTo>
                  <a:pt x="2497899" y="0"/>
                </a:lnTo>
                <a:lnTo>
                  <a:pt x="2497899" y="1294366"/>
                </a:lnTo>
                <a:lnTo>
                  <a:pt x="0" y="129436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7" id="17"/>
          <p:cNvGrpSpPr/>
          <p:nvPr/>
        </p:nvGrpSpPr>
        <p:grpSpPr>
          <a:xfrm rot="0">
            <a:off x="3572439" y="2461651"/>
            <a:ext cx="1705185" cy="170518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4"/>
              <a:stretch>
                <a:fillRect l="0" t="0" r="0" b="0"/>
              </a:stretch>
            </a:blipFill>
          </p:spPr>
        </p:sp>
      </p:grpSp>
      <p:grpSp>
        <p:nvGrpSpPr>
          <p:cNvPr name="Group 19" id="19"/>
          <p:cNvGrpSpPr/>
          <p:nvPr/>
        </p:nvGrpSpPr>
        <p:grpSpPr>
          <a:xfrm rot="0">
            <a:off x="13388845" y="4201597"/>
            <a:ext cx="1705185" cy="170518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5"/>
              <a:stretch>
                <a:fillRect l="0" t="0" r="0" b="0"/>
              </a:stretch>
            </a:blipFill>
          </p:spPr>
        </p:sp>
      </p:grpSp>
      <p:grpSp>
        <p:nvGrpSpPr>
          <p:cNvPr name="Group 21" id="21"/>
          <p:cNvGrpSpPr/>
          <p:nvPr/>
        </p:nvGrpSpPr>
        <p:grpSpPr>
          <a:xfrm rot="0">
            <a:off x="3572439" y="5973450"/>
            <a:ext cx="1705185" cy="170518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0" t="0" r="0" b="0"/>
              </a:stretch>
            </a:blipFill>
          </p:spPr>
        </p:sp>
      </p:grpSp>
      <p:grpSp>
        <p:nvGrpSpPr>
          <p:cNvPr name="Group 23" id="23"/>
          <p:cNvGrpSpPr/>
          <p:nvPr/>
        </p:nvGrpSpPr>
        <p:grpSpPr>
          <a:xfrm rot="0">
            <a:off x="13388845" y="7716967"/>
            <a:ext cx="1705185" cy="170518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0" t="0" r="0" b="0"/>
              </a:stretch>
            </a:blipFill>
          </p:spPr>
        </p:sp>
      </p:grpSp>
      <p:sp>
        <p:nvSpPr>
          <p:cNvPr name="TextBox 25" id="25"/>
          <p:cNvSpPr txBox="true"/>
          <p:nvPr/>
        </p:nvSpPr>
        <p:spPr>
          <a:xfrm rot="0">
            <a:off x="5472490" y="3078242"/>
            <a:ext cx="11858737" cy="405327"/>
          </a:xfrm>
          <a:prstGeom prst="rect">
            <a:avLst/>
          </a:prstGeom>
        </p:spPr>
        <p:txBody>
          <a:bodyPr anchor="t" rtlCol="false" tIns="0" lIns="0" bIns="0" rIns="0">
            <a:spAutoFit/>
          </a:bodyPr>
          <a:lstStyle/>
          <a:p>
            <a:pPr algn="l">
              <a:lnSpc>
                <a:spcPts val="3114"/>
              </a:lnSpc>
              <a:spcBef>
                <a:spcPct val="0"/>
              </a:spcBef>
            </a:pPr>
            <a:r>
              <a:rPr lang="en-US" sz="2224" b="true">
                <a:solidFill>
                  <a:srgbClr val="004AAD"/>
                </a:solidFill>
                <a:latin typeface="Poppins Bold"/>
                <a:ea typeface="Poppins Bold"/>
                <a:cs typeface="Poppins Bold"/>
                <a:sym typeface="Poppins Bold"/>
              </a:rPr>
              <a:t>Adopt sustainable practices to create less hazardous waste.</a:t>
            </a:r>
          </a:p>
        </p:txBody>
      </p:sp>
      <p:grpSp>
        <p:nvGrpSpPr>
          <p:cNvPr name="Group 26" id="26"/>
          <p:cNvGrpSpPr/>
          <p:nvPr/>
        </p:nvGrpSpPr>
        <p:grpSpPr>
          <a:xfrm rot="0">
            <a:off x="5472490" y="6449707"/>
            <a:ext cx="12039226" cy="671850"/>
            <a:chOff x="0" y="0"/>
            <a:chExt cx="2909223" cy="162349"/>
          </a:xfrm>
        </p:grpSpPr>
        <p:sp>
          <p:nvSpPr>
            <p:cNvPr name="Freeform 27" id="27"/>
            <p:cNvSpPr/>
            <p:nvPr/>
          </p:nvSpPr>
          <p:spPr>
            <a:xfrm flipH="false" flipV="false" rot="0">
              <a:off x="0" y="0"/>
              <a:ext cx="2909224" cy="162349"/>
            </a:xfrm>
            <a:custGeom>
              <a:avLst/>
              <a:gdLst/>
              <a:ahLst/>
              <a:cxnLst/>
              <a:rect r="r" b="b" t="t" l="l"/>
              <a:pathLst>
                <a:path h="162349" w="2909224">
                  <a:moveTo>
                    <a:pt x="10289" y="0"/>
                  </a:moveTo>
                  <a:lnTo>
                    <a:pt x="2898935" y="0"/>
                  </a:lnTo>
                  <a:cubicBezTo>
                    <a:pt x="2901663" y="0"/>
                    <a:pt x="2904280" y="1084"/>
                    <a:pt x="2906210" y="3014"/>
                  </a:cubicBezTo>
                  <a:cubicBezTo>
                    <a:pt x="2908140" y="4943"/>
                    <a:pt x="2909224" y="7560"/>
                    <a:pt x="2909224" y="10289"/>
                  </a:cubicBezTo>
                  <a:lnTo>
                    <a:pt x="2909224" y="152060"/>
                  </a:lnTo>
                  <a:cubicBezTo>
                    <a:pt x="2909224" y="154789"/>
                    <a:pt x="2908140" y="157406"/>
                    <a:pt x="2906210" y="159336"/>
                  </a:cubicBezTo>
                  <a:cubicBezTo>
                    <a:pt x="2904280" y="161265"/>
                    <a:pt x="2901663" y="162349"/>
                    <a:pt x="2898935" y="162349"/>
                  </a:cubicBezTo>
                  <a:lnTo>
                    <a:pt x="10289" y="162349"/>
                  </a:lnTo>
                  <a:cubicBezTo>
                    <a:pt x="7560" y="162349"/>
                    <a:pt x="4943" y="161265"/>
                    <a:pt x="3014" y="159336"/>
                  </a:cubicBezTo>
                  <a:cubicBezTo>
                    <a:pt x="1084" y="157406"/>
                    <a:pt x="0" y="154789"/>
                    <a:pt x="0" y="15206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28" id="28"/>
            <p:cNvSpPr txBox="true"/>
            <p:nvPr/>
          </p:nvSpPr>
          <p:spPr>
            <a:xfrm>
              <a:off x="0" y="-47625"/>
              <a:ext cx="2909223" cy="209974"/>
            </a:xfrm>
            <a:prstGeom prst="rect">
              <a:avLst/>
            </a:prstGeom>
          </p:spPr>
          <p:txBody>
            <a:bodyPr anchor="ctr" rtlCol="false" tIns="50800" lIns="50800" bIns="50800" rIns="50800"/>
            <a:lstStyle/>
            <a:p>
              <a:pPr algn="ctr">
                <a:lnSpc>
                  <a:spcPts val="3499"/>
                </a:lnSpc>
              </a:pPr>
            </a:p>
          </p:txBody>
        </p:sp>
      </p:grpSp>
      <p:grpSp>
        <p:nvGrpSpPr>
          <p:cNvPr name="Group 29" id="29"/>
          <p:cNvGrpSpPr/>
          <p:nvPr/>
        </p:nvGrpSpPr>
        <p:grpSpPr>
          <a:xfrm rot="0">
            <a:off x="1066067" y="4715537"/>
            <a:ext cx="12039226" cy="671850"/>
            <a:chOff x="0" y="0"/>
            <a:chExt cx="2909223" cy="162349"/>
          </a:xfrm>
        </p:grpSpPr>
        <p:sp>
          <p:nvSpPr>
            <p:cNvPr name="Freeform 30" id="30"/>
            <p:cNvSpPr/>
            <p:nvPr/>
          </p:nvSpPr>
          <p:spPr>
            <a:xfrm flipH="false" flipV="false" rot="0">
              <a:off x="0" y="0"/>
              <a:ext cx="2909224" cy="162349"/>
            </a:xfrm>
            <a:custGeom>
              <a:avLst/>
              <a:gdLst/>
              <a:ahLst/>
              <a:cxnLst/>
              <a:rect r="r" b="b" t="t" l="l"/>
              <a:pathLst>
                <a:path h="162349" w="2909224">
                  <a:moveTo>
                    <a:pt x="10289" y="0"/>
                  </a:moveTo>
                  <a:lnTo>
                    <a:pt x="2898935" y="0"/>
                  </a:lnTo>
                  <a:cubicBezTo>
                    <a:pt x="2901663" y="0"/>
                    <a:pt x="2904280" y="1084"/>
                    <a:pt x="2906210" y="3014"/>
                  </a:cubicBezTo>
                  <a:cubicBezTo>
                    <a:pt x="2908140" y="4943"/>
                    <a:pt x="2909224" y="7560"/>
                    <a:pt x="2909224" y="10289"/>
                  </a:cubicBezTo>
                  <a:lnTo>
                    <a:pt x="2909224" y="152060"/>
                  </a:lnTo>
                  <a:cubicBezTo>
                    <a:pt x="2909224" y="154789"/>
                    <a:pt x="2908140" y="157406"/>
                    <a:pt x="2906210" y="159336"/>
                  </a:cubicBezTo>
                  <a:cubicBezTo>
                    <a:pt x="2904280" y="161265"/>
                    <a:pt x="2901663" y="162349"/>
                    <a:pt x="2898935" y="162349"/>
                  </a:cubicBezTo>
                  <a:lnTo>
                    <a:pt x="10289" y="162349"/>
                  </a:lnTo>
                  <a:cubicBezTo>
                    <a:pt x="7560" y="162349"/>
                    <a:pt x="4943" y="161265"/>
                    <a:pt x="3014" y="159336"/>
                  </a:cubicBezTo>
                  <a:cubicBezTo>
                    <a:pt x="1084" y="157406"/>
                    <a:pt x="0" y="154789"/>
                    <a:pt x="0" y="15206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31" id="31"/>
            <p:cNvSpPr txBox="true"/>
            <p:nvPr/>
          </p:nvSpPr>
          <p:spPr>
            <a:xfrm>
              <a:off x="0" y="-47625"/>
              <a:ext cx="2909223" cy="209974"/>
            </a:xfrm>
            <a:prstGeom prst="rect">
              <a:avLst/>
            </a:prstGeom>
          </p:spPr>
          <p:txBody>
            <a:bodyPr anchor="ctr" rtlCol="false" tIns="50800" lIns="50800" bIns="50800" rIns="50800"/>
            <a:lstStyle/>
            <a:p>
              <a:pPr algn="ctr">
                <a:lnSpc>
                  <a:spcPts val="3499"/>
                </a:lnSpc>
              </a:pPr>
            </a:p>
          </p:txBody>
        </p:sp>
      </p:grpSp>
      <p:sp>
        <p:nvSpPr>
          <p:cNvPr name="TextBox 32" id="32"/>
          <p:cNvSpPr txBox="true"/>
          <p:nvPr/>
        </p:nvSpPr>
        <p:spPr>
          <a:xfrm rot="0">
            <a:off x="5510590" y="6564007"/>
            <a:ext cx="12939388" cy="364481"/>
          </a:xfrm>
          <a:prstGeom prst="rect">
            <a:avLst/>
          </a:prstGeom>
        </p:spPr>
        <p:txBody>
          <a:bodyPr anchor="t" rtlCol="false" tIns="0" lIns="0" bIns="0" rIns="0">
            <a:spAutoFit/>
          </a:bodyPr>
          <a:lstStyle/>
          <a:p>
            <a:pPr algn="l">
              <a:lnSpc>
                <a:spcPts val="2826"/>
              </a:lnSpc>
              <a:spcBef>
                <a:spcPct val="0"/>
              </a:spcBef>
            </a:pPr>
            <a:r>
              <a:rPr lang="en-US" sz="2018" b="true">
                <a:solidFill>
                  <a:srgbClr val="38B6FF"/>
                </a:solidFill>
                <a:latin typeface="Poppins Bold"/>
                <a:ea typeface="Poppins Bold"/>
                <a:cs typeface="Poppins Bold"/>
                <a:sym typeface="Poppins Bold"/>
              </a:rPr>
              <a:t>Teach people and industries how to handle and dispose of hazardous waste responsibly.</a:t>
            </a:r>
          </a:p>
        </p:txBody>
      </p:sp>
      <p:grpSp>
        <p:nvGrpSpPr>
          <p:cNvPr name="Group 33" id="33"/>
          <p:cNvGrpSpPr/>
          <p:nvPr/>
        </p:nvGrpSpPr>
        <p:grpSpPr>
          <a:xfrm rot="0">
            <a:off x="1028700" y="8193030"/>
            <a:ext cx="12039226" cy="671850"/>
            <a:chOff x="0" y="0"/>
            <a:chExt cx="2909223" cy="162349"/>
          </a:xfrm>
        </p:grpSpPr>
        <p:sp>
          <p:nvSpPr>
            <p:cNvPr name="Freeform 34" id="34"/>
            <p:cNvSpPr/>
            <p:nvPr/>
          </p:nvSpPr>
          <p:spPr>
            <a:xfrm flipH="false" flipV="false" rot="0">
              <a:off x="0" y="0"/>
              <a:ext cx="2909224" cy="162349"/>
            </a:xfrm>
            <a:custGeom>
              <a:avLst/>
              <a:gdLst/>
              <a:ahLst/>
              <a:cxnLst/>
              <a:rect r="r" b="b" t="t" l="l"/>
              <a:pathLst>
                <a:path h="162349" w="2909224">
                  <a:moveTo>
                    <a:pt x="10289" y="0"/>
                  </a:moveTo>
                  <a:lnTo>
                    <a:pt x="2898935" y="0"/>
                  </a:lnTo>
                  <a:cubicBezTo>
                    <a:pt x="2901663" y="0"/>
                    <a:pt x="2904280" y="1084"/>
                    <a:pt x="2906210" y="3014"/>
                  </a:cubicBezTo>
                  <a:cubicBezTo>
                    <a:pt x="2908140" y="4943"/>
                    <a:pt x="2909224" y="7560"/>
                    <a:pt x="2909224" y="10289"/>
                  </a:cubicBezTo>
                  <a:lnTo>
                    <a:pt x="2909224" y="152060"/>
                  </a:lnTo>
                  <a:cubicBezTo>
                    <a:pt x="2909224" y="154789"/>
                    <a:pt x="2908140" y="157406"/>
                    <a:pt x="2906210" y="159336"/>
                  </a:cubicBezTo>
                  <a:cubicBezTo>
                    <a:pt x="2904280" y="161265"/>
                    <a:pt x="2901663" y="162349"/>
                    <a:pt x="2898935" y="162349"/>
                  </a:cubicBezTo>
                  <a:lnTo>
                    <a:pt x="10289" y="162349"/>
                  </a:lnTo>
                  <a:cubicBezTo>
                    <a:pt x="7560" y="162349"/>
                    <a:pt x="4943" y="161265"/>
                    <a:pt x="3014" y="159336"/>
                  </a:cubicBezTo>
                  <a:cubicBezTo>
                    <a:pt x="1084" y="157406"/>
                    <a:pt x="0" y="154789"/>
                    <a:pt x="0" y="152060"/>
                  </a:cubicBezTo>
                  <a:lnTo>
                    <a:pt x="0" y="10289"/>
                  </a:lnTo>
                  <a:cubicBezTo>
                    <a:pt x="0" y="7560"/>
                    <a:pt x="1084" y="4943"/>
                    <a:pt x="3014" y="3014"/>
                  </a:cubicBezTo>
                  <a:cubicBezTo>
                    <a:pt x="4943" y="1084"/>
                    <a:pt x="7560" y="0"/>
                    <a:pt x="10289" y="0"/>
                  </a:cubicBezTo>
                  <a:close/>
                </a:path>
              </a:pathLst>
            </a:custGeom>
            <a:solidFill>
              <a:srgbClr val="FFFFFF"/>
            </a:solidFill>
          </p:spPr>
        </p:sp>
        <p:sp>
          <p:nvSpPr>
            <p:cNvPr name="TextBox 35" id="35"/>
            <p:cNvSpPr txBox="true"/>
            <p:nvPr/>
          </p:nvSpPr>
          <p:spPr>
            <a:xfrm>
              <a:off x="0" y="-47625"/>
              <a:ext cx="2909223" cy="209974"/>
            </a:xfrm>
            <a:prstGeom prst="rect">
              <a:avLst/>
            </a:prstGeom>
          </p:spPr>
          <p:txBody>
            <a:bodyPr anchor="ctr" rtlCol="false" tIns="50800" lIns="50800" bIns="50800" rIns="50800"/>
            <a:lstStyle/>
            <a:p>
              <a:pPr algn="ctr">
                <a:lnSpc>
                  <a:spcPts val="3499"/>
                </a:lnSpc>
              </a:pPr>
            </a:p>
          </p:txBody>
        </p:sp>
      </p:grpSp>
      <p:sp>
        <p:nvSpPr>
          <p:cNvPr name="TextBox 36" id="36"/>
          <p:cNvSpPr txBox="true"/>
          <p:nvPr/>
        </p:nvSpPr>
        <p:spPr>
          <a:xfrm rot="0">
            <a:off x="1209189" y="4817778"/>
            <a:ext cx="11858737" cy="400693"/>
          </a:xfrm>
          <a:prstGeom prst="rect">
            <a:avLst/>
          </a:prstGeom>
        </p:spPr>
        <p:txBody>
          <a:bodyPr anchor="t" rtlCol="false" tIns="0" lIns="0" bIns="0" rIns="0">
            <a:spAutoFit/>
          </a:bodyPr>
          <a:lstStyle/>
          <a:p>
            <a:pPr algn="r">
              <a:lnSpc>
                <a:spcPts val="3114"/>
              </a:lnSpc>
              <a:spcBef>
                <a:spcPct val="0"/>
              </a:spcBef>
            </a:pPr>
            <a:r>
              <a:rPr lang="en-US" b="true" sz="2224">
                <a:solidFill>
                  <a:srgbClr val="5271FF"/>
                </a:solidFill>
                <a:latin typeface="Poppins Bold"/>
                <a:ea typeface="Poppins Bold"/>
                <a:cs typeface="Poppins Bold"/>
                <a:sym typeface="Poppins Bold"/>
              </a:rPr>
              <a:t>Find safer ways to recycle or neutralize harmful substances.</a:t>
            </a:r>
          </a:p>
        </p:txBody>
      </p:sp>
      <p:sp>
        <p:nvSpPr>
          <p:cNvPr name="TextBox 37" id="37"/>
          <p:cNvSpPr txBox="true"/>
          <p:nvPr/>
        </p:nvSpPr>
        <p:spPr>
          <a:xfrm rot="0">
            <a:off x="1156312" y="8302951"/>
            <a:ext cx="11858737" cy="400693"/>
          </a:xfrm>
          <a:prstGeom prst="rect">
            <a:avLst/>
          </a:prstGeom>
        </p:spPr>
        <p:txBody>
          <a:bodyPr anchor="t" rtlCol="false" tIns="0" lIns="0" bIns="0" rIns="0">
            <a:spAutoFit/>
          </a:bodyPr>
          <a:lstStyle/>
          <a:p>
            <a:pPr algn="r">
              <a:lnSpc>
                <a:spcPts val="3114"/>
              </a:lnSpc>
              <a:spcBef>
                <a:spcPct val="0"/>
              </a:spcBef>
            </a:pPr>
            <a:r>
              <a:rPr lang="en-US" b="true" sz="2224">
                <a:solidFill>
                  <a:srgbClr val="5CE1E6"/>
                </a:solidFill>
                <a:latin typeface="Poppins Bold"/>
                <a:ea typeface="Poppins Bold"/>
                <a:cs typeface="Poppins Bold"/>
                <a:sym typeface="Poppins Bold"/>
              </a:rPr>
              <a:t>Enforce stricter rules to prevent improper disposal and illegal dumping.</a:t>
            </a:r>
          </a:p>
        </p:txBody>
      </p:sp>
      <p:sp>
        <p:nvSpPr>
          <p:cNvPr name="TextBox 38" id="38"/>
          <p:cNvSpPr txBox="true"/>
          <p:nvPr/>
        </p:nvSpPr>
        <p:spPr>
          <a:xfrm rot="0">
            <a:off x="1674281" y="1531543"/>
            <a:ext cx="14939438" cy="1144244"/>
          </a:xfrm>
          <a:prstGeom prst="rect">
            <a:avLst/>
          </a:prstGeom>
        </p:spPr>
        <p:txBody>
          <a:bodyPr anchor="t" rtlCol="false" tIns="0" lIns="0" bIns="0" rIns="0">
            <a:spAutoFit/>
          </a:bodyPr>
          <a:lstStyle/>
          <a:p>
            <a:pPr algn="ctr">
              <a:lnSpc>
                <a:spcPts val="7870"/>
              </a:lnSpc>
            </a:pPr>
            <a:r>
              <a:rPr lang="en-US" sz="6903">
                <a:solidFill>
                  <a:srgbClr val="000000"/>
                </a:solidFill>
                <a:latin typeface="Funtastic"/>
                <a:ea typeface="Funtastic"/>
                <a:cs typeface="Funtastic"/>
                <a:sym typeface="Funtastic"/>
              </a:rPr>
              <a:t>HOW CAN WE ADDRESS THIS ISSUE?</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1797" y="6983636"/>
            <a:ext cx="19077134" cy="4385535"/>
          </a:xfrm>
          <a:custGeom>
            <a:avLst/>
            <a:gdLst/>
            <a:ahLst/>
            <a:cxnLst/>
            <a:rect r="r" b="b" t="t" l="l"/>
            <a:pathLst>
              <a:path h="4385535" w="19077134">
                <a:moveTo>
                  <a:pt x="0" y="0"/>
                </a:moveTo>
                <a:lnTo>
                  <a:pt x="19077134" y="0"/>
                </a:lnTo>
                <a:lnTo>
                  <a:pt x="19077134" y="4385534"/>
                </a:lnTo>
                <a:lnTo>
                  <a:pt x="0" y="4385534"/>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8733354" y="3799746"/>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87716" y="3773660"/>
            <a:ext cx="9637858" cy="3248761"/>
          </a:xfrm>
          <a:custGeom>
            <a:avLst/>
            <a:gdLst/>
            <a:ahLst/>
            <a:cxnLst/>
            <a:rect r="r" b="b" t="t" l="l"/>
            <a:pathLst>
              <a:path h="3248761" w="9637858">
                <a:moveTo>
                  <a:pt x="0" y="0"/>
                </a:moveTo>
                <a:lnTo>
                  <a:pt x="9637858" y="0"/>
                </a:lnTo>
                <a:lnTo>
                  <a:pt x="9637858" y="3248761"/>
                </a:lnTo>
                <a:lnTo>
                  <a:pt x="0" y="3248761"/>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0" y="-66083"/>
            <a:ext cx="5186516" cy="2638640"/>
          </a:xfrm>
          <a:custGeom>
            <a:avLst/>
            <a:gdLst/>
            <a:ahLst/>
            <a:cxnLst/>
            <a:rect r="r" b="b" t="t" l="l"/>
            <a:pathLst>
              <a:path h="2638640" w="5186516">
                <a:moveTo>
                  <a:pt x="0" y="0"/>
                </a:moveTo>
                <a:lnTo>
                  <a:pt x="5186516" y="0"/>
                </a:lnTo>
                <a:lnTo>
                  <a:pt x="5186516" y="2638640"/>
                </a:lnTo>
                <a:lnTo>
                  <a:pt x="0" y="2638640"/>
                </a:lnTo>
                <a:lnTo>
                  <a:pt x="0" y="0"/>
                </a:lnTo>
                <a:close/>
              </a:path>
            </a:pathLst>
          </a:custGeom>
          <a:blipFill>
            <a:blip r:embed="rId7">
              <a:alphaModFix amt="75000"/>
            </a:blip>
            <a:stretch>
              <a:fillRect l="0" t="0" r="0" b="0"/>
            </a:stretch>
          </a:blipFill>
        </p:spPr>
      </p:sp>
      <p:sp>
        <p:nvSpPr>
          <p:cNvPr name="Freeform 7" id="7"/>
          <p:cNvSpPr/>
          <p:nvPr/>
        </p:nvSpPr>
        <p:spPr>
          <a:xfrm flipH="false" flipV="false" rot="0">
            <a:off x="-686501" y="299806"/>
            <a:ext cx="2804922" cy="8229600"/>
          </a:xfrm>
          <a:custGeom>
            <a:avLst/>
            <a:gdLst/>
            <a:ahLst/>
            <a:cxnLst/>
            <a:rect r="r" b="b" t="t" l="l"/>
            <a:pathLst>
              <a:path h="8229600" w="2804922">
                <a:moveTo>
                  <a:pt x="0" y="0"/>
                </a:moveTo>
                <a:lnTo>
                  <a:pt x="2804922" y="0"/>
                </a:lnTo>
                <a:lnTo>
                  <a:pt x="2804922" y="8229600"/>
                </a:lnTo>
                <a:lnTo>
                  <a:pt x="0" y="8229600"/>
                </a:lnTo>
                <a:lnTo>
                  <a:pt x="0" y="0"/>
                </a:lnTo>
                <a:close/>
              </a:path>
            </a:pathLst>
          </a:custGeom>
          <a:blipFill>
            <a:blip r:embed="rId8"/>
            <a:stretch>
              <a:fillRect l="0" t="0" r="0" b="0"/>
            </a:stretch>
          </a:blipFill>
        </p:spPr>
      </p:sp>
      <p:sp>
        <p:nvSpPr>
          <p:cNvPr name="Freeform 8" id="8"/>
          <p:cNvSpPr/>
          <p:nvPr/>
        </p:nvSpPr>
        <p:spPr>
          <a:xfrm flipH="true" flipV="false" rot="0">
            <a:off x="12857065" y="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7">
              <a:alphaModFix amt="75000"/>
            </a:blip>
            <a:stretch>
              <a:fillRect l="0" t="0" r="0" b="0"/>
            </a:stretch>
          </a:blipFill>
        </p:spPr>
      </p:sp>
      <p:sp>
        <p:nvSpPr>
          <p:cNvPr name="Freeform 9" id="9"/>
          <p:cNvSpPr/>
          <p:nvPr/>
        </p:nvSpPr>
        <p:spPr>
          <a:xfrm flipH="true" flipV="false" rot="0">
            <a:off x="15856839" y="299806"/>
            <a:ext cx="2804922" cy="8229600"/>
          </a:xfrm>
          <a:custGeom>
            <a:avLst/>
            <a:gdLst/>
            <a:ahLst/>
            <a:cxnLst/>
            <a:rect r="r" b="b" t="t" l="l"/>
            <a:pathLst>
              <a:path h="8229600" w="2804922">
                <a:moveTo>
                  <a:pt x="2804922" y="0"/>
                </a:moveTo>
                <a:lnTo>
                  <a:pt x="0" y="0"/>
                </a:lnTo>
                <a:lnTo>
                  <a:pt x="0" y="8229600"/>
                </a:lnTo>
                <a:lnTo>
                  <a:pt x="2804922" y="8229600"/>
                </a:lnTo>
                <a:lnTo>
                  <a:pt x="2804922" y="0"/>
                </a:lnTo>
                <a:close/>
              </a:path>
            </a:pathLst>
          </a:custGeom>
          <a:blipFill>
            <a:blip r:embed="rId8"/>
            <a:stretch>
              <a:fillRect l="0" t="0" r="0" b="0"/>
            </a:stretch>
          </a:blipFill>
        </p:spPr>
      </p:sp>
      <p:sp>
        <p:nvSpPr>
          <p:cNvPr name="Freeform 10" id="10"/>
          <p:cNvSpPr/>
          <p:nvPr/>
        </p:nvSpPr>
        <p:spPr>
          <a:xfrm flipH="false" flipV="false" rot="0">
            <a:off x="-394567" y="8557981"/>
            <a:ext cx="3525522" cy="1826861"/>
          </a:xfrm>
          <a:custGeom>
            <a:avLst/>
            <a:gdLst/>
            <a:ahLst/>
            <a:cxnLst/>
            <a:rect r="r" b="b" t="t" l="l"/>
            <a:pathLst>
              <a:path h="1826861" w="3525522">
                <a:moveTo>
                  <a:pt x="0" y="0"/>
                </a:moveTo>
                <a:lnTo>
                  <a:pt x="3525522" y="0"/>
                </a:lnTo>
                <a:lnTo>
                  <a:pt x="3525522" y="1826861"/>
                </a:lnTo>
                <a:lnTo>
                  <a:pt x="0" y="18268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false" rot="0">
            <a:off x="15157045" y="8529406"/>
            <a:ext cx="3525522" cy="1826861"/>
          </a:xfrm>
          <a:custGeom>
            <a:avLst/>
            <a:gdLst/>
            <a:ahLst/>
            <a:cxnLst/>
            <a:rect r="r" b="b" t="t" l="l"/>
            <a:pathLst>
              <a:path h="1826861" w="3525522">
                <a:moveTo>
                  <a:pt x="3525522" y="0"/>
                </a:moveTo>
                <a:lnTo>
                  <a:pt x="0" y="0"/>
                </a:lnTo>
                <a:lnTo>
                  <a:pt x="0" y="1826861"/>
                </a:lnTo>
                <a:lnTo>
                  <a:pt x="3525522" y="1826861"/>
                </a:lnTo>
                <a:lnTo>
                  <a:pt x="352552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2" id="12"/>
          <p:cNvGrpSpPr/>
          <p:nvPr/>
        </p:nvGrpSpPr>
        <p:grpSpPr>
          <a:xfrm rot="0">
            <a:off x="4903551" y="4499399"/>
            <a:ext cx="12868936" cy="4972012"/>
            <a:chOff x="0" y="0"/>
            <a:chExt cx="2688397" cy="1038683"/>
          </a:xfrm>
        </p:grpSpPr>
        <p:sp>
          <p:nvSpPr>
            <p:cNvPr name="Freeform 13" id="13"/>
            <p:cNvSpPr/>
            <p:nvPr/>
          </p:nvSpPr>
          <p:spPr>
            <a:xfrm flipH="false" flipV="false" rot="0">
              <a:off x="0" y="0"/>
              <a:ext cx="2688397" cy="1038683"/>
            </a:xfrm>
            <a:custGeom>
              <a:avLst/>
              <a:gdLst/>
              <a:ahLst/>
              <a:cxnLst/>
              <a:rect r="r" b="b" t="t" l="l"/>
              <a:pathLst>
                <a:path h="1038683" w="2688397">
                  <a:moveTo>
                    <a:pt x="18048" y="0"/>
                  </a:moveTo>
                  <a:lnTo>
                    <a:pt x="2670349" y="0"/>
                  </a:lnTo>
                  <a:cubicBezTo>
                    <a:pt x="2680317" y="0"/>
                    <a:pt x="2688397" y="8080"/>
                    <a:pt x="2688397" y="18048"/>
                  </a:cubicBezTo>
                  <a:lnTo>
                    <a:pt x="2688397" y="1020635"/>
                  </a:lnTo>
                  <a:cubicBezTo>
                    <a:pt x="2688397" y="1030603"/>
                    <a:pt x="2680317" y="1038683"/>
                    <a:pt x="2670349" y="1038683"/>
                  </a:cubicBezTo>
                  <a:lnTo>
                    <a:pt x="18048" y="1038683"/>
                  </a:lnTo>
                  <a:cubicBezTo>
                    <a:pt x="8080" y="1038683"/>
                    <a:pt x="0" y="1030603"/>
                    <a:pt x="0" y="1020635"/>
                  </a:cubicBezTo>
                  <a:lnTo>
                    <a:pt x="0" y="18048"/>
                  </a:lnTo>
                  <a:cubicBezTo>
                    <a:pt x="0" y="8080"/>
                    <a:pt x="8080" y="0"/>
                    <a:pt x="18048" y="0"/>
                  </a:cubicBezTo>
                  <a:close/>
                </a:path>
              </a:pathLst>
            </a:custGeom>
            <a:solidFill>
              <a:srgbClr val="FFFFFF"/>
            </a:solidFill>
            <a:ln cap="rnd">
              <a:noFill/>
              <a:prstDash val="solid"/>
              <a:round/>
            </a:ln>
          </p:spPr>
        </p:sp>
        <p:sp>
          <p:nvSpPr>
            <p:cNvPr name="TextBox 14" id="14"/>
            <p:cNvSpPr txBox="true"/>
            <p:nvPr/>
          </p:nvSpPr>
          <p:spPr>
            <a:xfrm>
              <a:off x="0" y="-47625"/>
              <a:ext cx="2688397" cy="1086308"/>
            </a:xfrm>
            <a:prstGeom prst="rect">
              <a:avLst/>
            </a:prstGeom>
          </p:spPr>
          <p:txBody>
            <a:bodyPr anchor="ctr" rtlCol="false" tIns="58105" lIns="58105" bIns="58105" rIns="58105"/>
            <a:lstStyle/>
            <a:p>
              <a:pPr algn="ctr" marL="0" indent="0" lvl="0">
                <a:lnSpc>
                  <a:spcPts val="3499"/>
                </a:lnSpc>
                <a:spcBef>
                  <a:spcPct val="0"/>
                </a:spcBef>
              </a:pPr>
            </a:p>
          </p:txBody>
        </p:sp>
      </p:grpSp>
      <p:grpSp>
        <p:nvGrpSpPr>
          <p:cNvPr name="Group 15" id="15"/>
          <p:cNvGrpSpPr/>
          <p:nvPr/>
        </p:nvGrpSpPr>
        <p:grpSpPr>
          <a:xfrm rot="0">
            <a:off x="1028700" y="4414606"/>
            <a:ext cx="3238210" cy="2987729"/>
            <a:chOff x="0" y="0"/>
            <a:chExt cx="676481" cy="624154"/>
          </a:xfrm>
        </p:grpSpPr>
        <p:sp>
          <p:nvSpPr>
            <p:cNvPr name="Freeform 16" id="16"/>
            <p:cNvSpPr/>
            <p:nvPr/>
          </p:nvSpPr>
          <p:spPr>
            <a:xfrm flipH="false" flipV="false" rot="0">
              <a:off x="0" y="0"/>
              <a:ext cx="676481" cy="624154"/>
            </a:xfrm>
            <a:custGeom>
              <a:avLst/>
              <a:gdLst/>
              <a:ahLst/>
              <a:cxnLst/>
              <a:rect r="r" b="b" t="t" l="l"/>
              <a:pathLst>
                <a:path h="624154" w="676481">
                  <a:moveTo>
                    <a:pt x="71724" y="0"/>
                  </a:moveTo>
                  <a:lnTo>
                    <a:pt x="604757" y="0"/>
                  </a:lnTo>
                  <a:cubicBezTo>
                    <a:pt x="623780" y="0"/>
                    <a:pt x="642023" y="7557"/>
                    <a:pt x="655474" y="21007"/>
                  </a:cubicBezTo>
                  <a:cubicBezTo>
                    <a:pt x="668925" y="34458"/>
                    <a:pt x="676481" y="52702"/>
                    <a:pt x="676481" y="71724"/>
                  </a:cubicBezTo>
                  <a:lnTo>
                    <a:pt x="676481" y="552430"/>
                  </a:lnTo>
                  <a:cubicBezTo>
                    <a:pt x="676481" y="571453"/>
                    <a:pt x="668925" y="589696"/>
                    <a:pt x="655474" y="603147"/>
                  </a:cubicBezTo>
                  <a:cubicBezTo>
                    <a:pt x="642023" y="616598"/>
                    <a:pt x="623780" y="624154"/>
                    <a:pt x="604757" y="624154"/>
                  </a:cubicBezTo>
                  <a:lnTo>
                    <a:pt x="71724" y="624154"/>
                  </a:lnTo>
                  <a:cubicBezTo>
                    <a:pt x="52702" y="624154"/>
                    <a:pt x="34458" y="616598"/>
                    <a:pt x="21007" y="603147"/>
                  </a:cubicBezTo>
                  <a:cubicBezTo>
                    <a:pt x="7557" y="589696"/>
                    <a:pt x="0" y="571453"/>
                    <a:pt x="0" y="552430"/>
                  </a:cubicBezTo>
                  <a:lnTo>
                    <a:pt x="0" y="71724"/>
                  </a:lnTo>
                  <a:cubicBezTo>
                    <a:pt x="0" y="52702"/>
                    <a:pt x="7557" y="34458"/>
                    <a:pt x="21007" y="21007"/>
                  </a:cubicBezTo>
                  <a:cubicBezTo>
                    <a:pt x="34458" y="7557"/>
                    <a:pt x="52702" y="0"/>
                    <a:pt x="71724" y="0"/>
                  </a:cubicBezTo>
                  <a:close/>
                </a:path>
              </a:pathLst>
            </a:custGeom>
            <a:solidFill>
              <a:srgbClr val="FFFFFF"/>
            </a:solidFill>
            <a:ln cap="rnd">
              <a:noFill/>
              <a:prstDash val="solid"/>
              <a:round/>
            </a:ln>
          </p:spPr>
        </p:sp>
        <p:sp>
          <p:nvSpPr>
            <p:cNvPr name="TextBox 17" id="17"/>
            <p:cNvSpPr txBox="true"/>
            <p:nvPr/>
          </p:nvSpPr>
          <p:spPr>
            <a:xfrm>
              <a:off x="0" y="-47625"/>
              <a:ext cx="676481" cy="671779"/>
            </a:xfrm>
            <a:prstGeom prst="rect">
              <a:avLst/>
            </a:prstGeom>
          </p:spPr>
          <p:txBody>
            <a:bodyPr anchor="ctr" rtlCol="false" tIns="58105" lIns="58105" bIns="58105" rIns="58105"/>
            <a:lstStyle/>
            <a:p>
              <a:pPr algn="ctr" marL="0" indent="0" lvl="0">
                <a:lnSpc>
                  <a:spcPts val="3499"/>
                </a:lnSpc>
                <a:spcBef>
                  <a:spcPct val="0"/>
                </a:spcBef>
              </a:pPr>
            </a:p>
          </p:txBody>
        </p:sp>
      </p:grpSp>
      <p:sp>
        <p:nvSpPr>
          <p:cNvPr name="Freeform 18" id="18"/>
          <p:cNvSpPr/>
          <p:nvPr/>
        </p:nvSpPr>
        <p:spPr>
          <a:xfrm flipH="false" flipV="false" rot="0">
            <a:off x="1078925" y="4214349"/>
            <a:ext cx="3187985" cy="3187985"/>
          </a:xfrm>
          <a:custGeom>
            <a:avLst/>
            <a:gdLst/>
            <a:ahLst/>
            <a:cxnLst/>
            <a:rect r="r" b="b" t="t" l="l"/>
            <a:pathLst>
              <a:path h="3187985" w="3187985">
                <a:moveTo>
                  <a:pt x="0" y="0"/>
                </a:moveTo>
                <a:lnTo>
                  <a:pt x="3187985" y="0"/>
                </a:lnTo>
                <a:lnTo>
                  <a:pt x="3187985" y="3187986"/>
                </a:lnTo>
                <a:lnTo>
                  <a:pt x="0" y="3187986"/>
                </a:lnTo>
                <a:lnTo>
                  <a:pt x="0" y="0"/>
                </a:lnTo>
                <a:close/>
              </a:path>
            </a:pathLst>
          </a:custGeom>
          <a:blipFill>
            <a:blip r:embed="rId11"/>
            <a:stretch>
              <a:fillRect l="0" t="0" r="0" b="0"/>
            </a:stretch>
          </a:blipFill>
        </p:spPr>
      </p:sp>
      <p:grpSp>
        <p:nvGrpSpPr>
          <p:cNvPr name="Group 19" id="19"/>
          <p:cNvGrpSpPr/>
          <p:nvPr/>
        </p:nvGrpSpPr>
        <p:grpSpPr>
          <a:xfrm rot="0">
            <a:off x="973418" y="2409739"/>
            <a:ext cx="16799069" cy="1736617"/>
            <a:chOff x="0" y="0"/>
            <a:chExt cx="4059418" cy="419645"/>
          </a:xfrm>
        </p:grpSpPr>
        <p:sp>
          <p:nvSpPr>
            <p:cNvPr name="Freeform 20" id="20"/>
            <p:cNvSpPr/>
            <p:nvPr/>
          </p:nvSpPr>
          <p:spPr>
            <a:xfrm flipH="false" flipV="false" rot="0">
              <a:off x="0" y="0"/>
              <a:ext cx="4059418" cy="419645"/>
            </a:xfrm>
            <a:custGeom>
              <a:avLst/>
              <a:gdLst/>
              <a:ahLst/>
              <a:cxnLst/>
              <a:rect r="r" b="b" t="t" l="l"/>
              <a:pathLst>
                <a:path h="419645" w="4059418">
                  <a:moveTo>
                    <a:pt x="7374" y="0"/>
                  </a:moveTo>
                  <a:lnTo>
                    <a:pt x="4052044" y="0"/>
                  </a:lnTo>
                  <a:cubicBezTo>
                    <a:pt x="4056116" y="0"/>
                    <a:pt x="4059418" y="3301"/>
                    <a:pt x="4059418" y="7374"/>
                  </a:cubicBezTo>
                  <a:lnTo>
                    <a:pt x="4059418" y="412272"/>
                  </a:lnTo>
                  <a:cubicBezTo>
                    <a:pt x="4059418" y="416344"/>
                    <a:pt x="4056116" y="419645"/>
                    <a:pt x="4052044" y="419645"/>
                  </a:cubicBezTo>
                  <a:lnTo>
                    <a:pt x="7374" y="419645"/>
                  </a:lnTo>
                  <a:cubicBezTo>
                    <a:pt x="3301" y="419645"/>
                    <a:pt x="0" y="416344"/>
                    <a:pt x="0" y="412272"/>
                  </a:cubicBezTo>
                  <a:lnTo>
                    <a:pt x="0" y="7374"/>
                  </a:lnTo>
                  <a:cubicBezTo>
                    <a:pt x="0" y="3301"/>
                    <a:pt x="3301" y="0"/>
                    <a:pt x="7374" y="0"/>
                  </a:cubicBezTo>
                  <a:close/>
                </a:path>
              </a:pathLst>
            </a:custGeom>
            <a:gradFill rotWithShape="true">
              <a:gsLst>
                <a:gs pos="0">
                  <a:srgbClr val="0CC0DF">
                    <a:alpha val="100000"/>
                  </a:srgbClr>
                </a:gs>
                <a:gs pos="100000">
                  <a:srgbClr val="FFDE59">
                    <a:alpha val="100000"/>
                  </a:srgbClr>
                </a:gs>
              </a:gsLst>
              <a:lin ang="0"/>
            </a:gradFill>
          </p:spPr>
        </p:sp>
        <p:sp>
          <p:nvSpPr>
            <p:cNvPr name="TextBox 21" id="21"/>
            <p:cNvSpPr txBox="true"/>
            <p:nvPr/>
          </p:nvSpPr>
          <p:spPr>
            <a:xfrm>
              <a:off x="0" y="-47625"/>
              <a:ext cx="4059418" cy="467270"/>
            </a:xfrm>
            <a:prstGeom prst="rect">
              <a:avLst/>
            </a:prstGeom>
          </p:spPr>
          <p:txBody>
            <a:bodyPr anchor="ctr" rtlCol="false" tIns="50800" lIns="50800" bIns="50800" rIns="50800"/>
            <a:lstStyle/>
            <a:p>
              <a:pPr algn="ctr">
                <a:lnSpc>
                  <a:spcPts val="3499"/>
                </a:lnSpc>
              </a:pPr>
            </a:p>
          </p:txBody>
        </p:sp>
      </p:grpSp>
      <p:sp>
        <p:nvSpPr>
          <p:cNvPr name="TextBox 22" id="22"/>
          <p:cNvSpPr txBox="true"/>
          <p:nvPr/>
        </p:nvSpPr>
        <p:spPr>
          <a:xfrm rot="0">
            <a:off x="1508728" y="1243120"/>
            <a:ext cx="15996083" cy="928525"/>
          </a:xfrm>
          <a:prstGeom prst="rect">
            <a:avLst/>
          </a:prstGeom>
        </p:spPr>
        <p:txBody>
          <a:bodyPr anchor="t" rtlCol="false" tIns="0" lIns="0" bIns="0" rIns="0">
            <a:spAutoFit/>
          </a:bodyPr>
          <a:lstStyle/>
          <a:p>
            <a:pPr algn="ctr">
              <a:lnSpc>
                <a:spcPts val="6388"/>
              </a:lnSpc>
            </a:pPr>
            <a:r>
              <a:rPr lang="en-US" sz="5603">
                <a:solidFill>
                  <a:srgbClr val="000000"/>
                </a:solidFill>
                <a:latin typeface="Funtastic"/>
                <a:ea typeface="Funtastic"/>
                <a:cs typeface="Funtastic"/>
                <a:sym typeface="Funtastic"/>
              </a:rPr>
              <a:t>One of the significant solution is:</a:t>
            </a:r>
          </a:p>
        </p:txBody>
      </p:sp>
      <p:sp>
        <p:nvSpPr>
          <p:cNvPr name="TextBox 23" id="23"/>
          <p:cNvSpPr txBox="true"/>
          <p:nvPr/>
        </p:nvSpPr>
        <p:spPr>
          <a:xfrm rot="0">
            <a:off x="5154305" y="4546406"/>
            <a:ext cx="12367429" cy="4667020"/>
          </a:xfrm>
          <a:prstGeom prst="rect">
            <a:avLst/>
          </a:prstGeom>
        </p:spPr>
        <p:txBody>
          <a:bodyPr anchor="t" rtlCol="false" tIns="0" lIns="0" bIns="0" rIns="0">
            <a:spAutoFit/>
          </a:bodyPr>
          <a:lstStyle/>
          <a:p>
            <a:pPr algn="l" marL="0" indent="0" lvl="0">
              <a:lnSpc>
                <a:spcPts val="3687"/>
              </a:lnSpc>
              <a:spcBef>
                <a:spcPct val="0"/>
              </a:spcBef>
            </a:pPr>
            <a:r>
              <a:rPr lang="en-US" b="true" sz="2634">
                <a:solidFill>
                  <a:srgbClr val="000000"/>
                </a:solidFill>
                <a:latin typeface="Poppins Bold"/>
                <a:ea typeface="Poppins Bold"/>
                <a:cs typeface="Poppins Bold"/>
                <a:sym typeface="Poppins Bold"/>
              </a:rPr>
              <a:t>Increasing </a:t>
            </a:r>
            <a:r>
              <a:rPr lang="en-US" b="true" sz="2634">
                <a:solidFill>
                  <a:srgbClr val="00BF63"/>
                </a:solidFill>
                <a:latin typeface="Poppins Bold"/>
                <a:ea typeface="Poppins Bold"/>
                <a:cs typeface="Poppins Bold"/>
                <a:sym typeface="Poppins Bold"/>
              </a:rPr>
              <a:t>TSD (Treatment, Storage, and Disposal)</a:t>
            </a:r>
            <a:r>
              <a:rPr lang="en-US" b="true" sz="2634">
                <a:solidFill>
                  <a:srgbClr val="000000"/>
                </a:solidFill>
                <a:latin typeface="Poppins Bold"/>
                <a:ea typeface="Poppins Bold"/>
                <a:cs typeface="Poppins Bold"/>
                <a:sym typeface="Poppins Bold"/>
              </a:rPr>
              <a:t> facilities is crucial for effective hazardous waste management. By enabling treatment and disposal closer to waste sources, these facilities </a:t>
            </a:r>
            <a:r>
              <a:rPr lang="en-US" b="true" sz="2634">
                <a:solidFill>
                  <a:srgbClr val="00BF63"/>
                </a:solidFill>
                <a:latin typeface="Poppins Bold"/>
                <a:ea typeface="Poppins Bold"/>
                <a:cs typeface="Poppins Bold"/>
                <a:sym typeface="Poppins Bold"/>
              </a:rPr>
              <a:t>reduce transportation needs, costs, and risks</a:t>
            </a:r>
            <a:r>
              <a:rPr lang="en-US" b="true" sz="2634">
                <a:solidFill>
                  <a:srgbClr val="000000"/>
                </a:solidFill>
                <a:latin typeface="Poppins Bold"/>
                <a:ea typeface="Poppins Bold"/>
                <a:cs typeface="Poppins Bold"/>
                <a:sym typeface="Poppins Bold"/>
              </a:rPr>
              <a:t>. Expanding TSD capacity helps regions </a:t>
            </a:r>
            <a:r>
              <a:rPr lang="en-US" b="true" sz="2634">
                <a:solidFill>
                  <a:srgbClr val="004AAD"/>
                </a:solidFill>
                <a:latin typeface="Poppins Bold"/>
                <a:ea typeface="Poppins Bold"/>
                <a:cs typeface="Poppins Bold"/>
                <a:sym typeface="Poppins Bold"/>
              </a:rPr>
              <a:t>manage their growing waste generation</a:t>
            </a:r>
            <a:r>
              <a:rPr lang="en-US" b="true" sz="2634">
                <a:solidFill>
                  <a:srgbClr val="000000"/>
                </a:solidFill>
                <a:latin typeface="Poppins Bold"/>
                <a:ea typeface="Poppins Bold"/>
                <a:cs typeface="Poppins Bold"/>
                <a:sym typeface="Poppins Bold"/>
              </a:rPr>
              <a:t> and </a:t>
            </a:r>
            <a:r>
              <a:rPr lang="en-US" b="true" sz="2634">
                <a:solidFill>
                  <a:srgbClr val="004AAD"/>
                </a:solidFill>
                <a:latin typeface="Poppins Bold"/>
                <a:ea typeface="Poppins Bold"/>
                <a:cs typeface="Poppins Bold"/>
                <a:sym typeface="Poppins Bold"/>
              </a:rPr>
              <a:t>prevents waste accumulation</a:t>
            </a:r>
            <a:r>
              <a:rPr lang="en-US" b="true" sz="2634">
                <a:solidFill>
                  <a:srgbClr val="000000"/>
                </a:solidFill>
                <a:latin typeface="Poppins Bold"/>
                <a:ea typeface="Poppins Bold"/>
                <a:cs typeface="Poppins Bold"/>
                <a:sym typeface="Poppins Bold"/>
              </a:rPr>
              <a:t>. Enhanced facilities ensure safe handling of hazardous materials, </a:t>
            </a:r>
            <a:r>
              <a:rPr lang="en-US" b="true" sz="2634">
                <a:solidFill>
                  <a:srgbClr val="FF3131"/>
                </a:solidFill>
                <a:latin typeface="Poppins Bold"/>
                <a:ea typeface="Poppins Bold"/>
                <a:cs typeface="Poppins Bold"/>
                <a:sym typeface="Poppins Bold"/>
              </a:rPr>
              <a:t>improving community safety</a:t>
            </a:r>
            <a:r>
              <a:rPr lang="en-US" b="true" sz="2634">
                <a:solidFill>
                  <a:srgbClr val="000000"/>
                </a:solidFill>
                <a:latin typeface="Poppins Bold"/>
                <a:ea typeface="Poppins Bold"/>
                <a:cs typeface="Poppins Bold"/>
                <a:sym typeface="Poppins Bold"/>
              </a:rPr>
              <a:t> and </a:t>
            </a:r>
            <a:r>
              <a:rPr lang="en-US" b="true" sz="2634">
                <a:solidFill>
                  <a:srgbClr val="FF3131"/>
                </a:solidFill>
                <a:latin typeface="Poppins Bold"/>
                <a:ea typeface="Poppins Bold"/>
                <a:cs typeface="Poppins Bold"/>
                <a:sym typeface="Poppins Bold"/>
              </a:rPr>
              <a:t>compliance with regulations</a:t>
            </a:r>
            <a:r>
              <a:rPr lang="en-US" b="true" sz="2634">
                <a:solidFill>
                  <a:srgbClr val="000000"/>
                </a:solidFill>
                <a:latin typeface="Poppins Bold"/>
                <a:ea typeface="Poppins Bold"/>
                <a:cs typeface="Poppins Bold"/>
                <a:sym typeface="Poppins Bold"/>
              </a:rPr>
              <a:t>. Lastly, more TSD facilities </a:t>
            </a:r>
            <a:r>
              <a:rPr lang="en-US" b="true" sz="2634">
                <a:solidFill>
                  <a:srgbClr val="5E17EB"/>
                </a:solidFill>
                <a:latin typeface="Poppins Bold"/>
                <a:ea typeface="Poppins Bold"/>
                <a:cs typeface="Poppins Bold"/>
                <a:sym typeface="Poppins Bold"/>
              </a:rPr>
              <a:t>promote recycling</a:t>
            </a:r>
            <a:r>
              <a:rPr lang="en-US" b="true" sz="2634">
                <a:solidFill>
                  <a:srgbClr val="000000"/>
                </a:solidFill>
                <a:latin typeface="Poppins Bold"/>
                <a:ea typeface="Poppins Bold"/>
                <a:cs typeface="Poppins Bold"/>
                <a:sym typeface="Poppins Bold"/>
              </a:rPr>
              <a:t>, </a:t>
            </a:r>
            <a:r>
              <a:rPr lang="en-US" b="true" sz="2634">
                <a:solidFill>
                  <a:srgbClr val="5E17EB"/>
                </a:solidFill>
                <a:latin typeface="Poppins Bold"/>
                <a:ea typeface="Poppins Bold"/>
                <a:cs typeface="Poppins Bold"/>
                <a:sym typeface="Poppins Bold"/>
              </a:rPr>
              <a:t>raise public awareness</a:t>
            </a:r>
            <a:r>
              <a:rPr lang="en-US" b="true" sz="2634">
                <a:solidFill>
                  <a:srgbClr val="000000"/>
                </a:solidFill>
                <a:latin typeface="Poppins Bold"/>
                <a:ea typeface="Poppins Bold"/>
                <a:cs typeface="Poppins Bold"/>
                <a:sym typeface="Poppins Bold"/>
              </a:rPr>
              <a:t> about hazardous waste issues, and </a:t>
            </a:r>
            <a:r>
              <a:rPr lang="en-US" b="true" sz="2634">
                <a:solidFill>
                  <a:srgbClr val="5E17EB"/>
                </a:solidFill>
                <a:latin typeface="Poppins Bold"/>
                <a:ea typeface="Poppins Bold"/>
                <a:cs typeface="Poppins Bold"/>
                <a:sym typeface="Poppins Bold"/>
              </a:rPr>
              <a:t>protect the environment and public health</a:t>
            </a:r>
            <a:r>
              <a:rPr lang="en-US" b="true" sz="2634">
                <a:solidFill>
                  <a:srgbClr val="000000"/>
                </a:solidFill>
                <a:latin typeface="Poppins Bold"/>
                <a:ea typeface="Poppins Bold"/>
                <a:cs typeface="Poppins Bold"/>
                <a:sym typeface="Poppins Bold"/>
              </a:rPr>
              <a:t>. </a:t>
            </a:r>
          </a:p>
        </p:txBody>
      </p:sp>
      <p:sp>
        <p:nvSpPr>
          <p:cNvPr name="TextBox 24" id="24"/>
          <p:cNvSpPr txBox="true"/>
          <p:nvPr/>
        </p:nvSpPr>
        <p:spPr>
          <a:xfrm rot="0">
            <a:off x="1078925" y="2581490"/>
            <a:ext cx="16511596" cy="1432080"/>
          </a:xfrm>
          <a:prstGeom prst="rect">
            <a:avLst/>
          </a:prstGeom>
        </p:spPr>
        <p:txBody>
          <a:bodyPr anchor="t" rtlCol="false" tIns="0" lIns="0" bIns="0" rIns="0">
            <a:spAutoFit/>
          </a:bodyPr>
          <a:lstStyle/>
          <a:p>
            <a:pPr algn="ctr">
              <a:lnSpc>
                <a:spcPts val="5290"/>
              </a:lnSpc>
            </a:pPr>
            <a:r>
              <a:rPr lang="en-US" sz="4640">
                <a:solidFill>
                  <a:srgbClr val="000000"/>
                </a:solidFill>
                <a:latin typeface="Funtastic"/>
                <a:ea typeface="Funtastic"/>
                <a:cs typeface="Funtastic"/>
                <a:sym typeface="Funtastic"/>
              </a:rPr>
              <a:t>IMPROVING OR INCREASING TSD (TREATMENT, STORAGE, AND DISPOSAL) FACILITIES</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0"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028614"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334687" y="6734414"/>
            <a:ext cx="31322026" cy="12187116"/>
          </a:xfrm>
          <a:custGeom>
            <a:avLst/>
            <a:gdLst/>
            <a:ahLst/>
            <a:cxnLst/>
            <a:rect r="r" b="b" t="t" l="l"/>
            <a:pathLst>
              <a:path h="12187116" w="31322026">
                <a:moveTo>
                  <a:pt x="0" y="0"/>
                </a:moveTo>
                <a:lnTo>
                  <a:pt x="31322027" y="0"/>
                </a:lnTo>
                <a:lnTo>
                  <a:pt x="31322027" y="12187116"/>
                </a:lnTo>
                <a:lnTo>
                  <a:pt x="0" y="12187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41630" y="7171072"/>
            <a:ext cx="8115500" cy="3054379"/>
          </a:xfrm>
          <a:custGeom>
            <a:avLst/>
            <a:gdLst/>
            <a:ahLst/>
            <a:cxnLst/>
            <a:rect r="r" b="b" t="t" l="l"/>
            <a:pathLst>
              <a:path h="3054379" w="8115500">
                <a:moveTo>
                  <a:pt x="0" y="0"/>
                </a:moveTo>
                <a:lnTo>
                  <a:pt x="8115500" y="0"/>
                </a:lnTo>
                <a:lnTo>
                  <a:pt x="8115500" y="3054379"/>
                </a:lnTo>
                <a:lnTo>
                  <a:pt x="0" y="30543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3658307" y="-29062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9">
              <a:alphaModFix amt="75000"/>
            </a:blip>
            <a:stretch>
              <a:fillRect l="0" t="0" r="0" b="0"/>
            </a:stretch>
          </a:blipFill>
        </p:spPr>
      </p:sp>
      <p:sp>
        <p:nvSpPr>
          <p:cNvPr name="TextBox 8" id="8"/>
          <p:cNvSpPr txBox="true"/>
          <p:nvPr/>
        </p:nvSpPr>
        <p:spPr>
          <a:xfrm rot="0">
            <a:off x="1028700" y="3132246"/>
            <a:ext cx="7029904" cy="458159"/>
          </a:xfrm>
          <a:prstGeom prst="rect">
            <a:avLst/>
          </a:prstGeom>
        </p:spPr>
        <p:txBody>
          <a:bodyPr anchor="t" rtlCol="false" tIns="0" lIns="0" bIns="0" rIns="0">
            <a:spAutoFit/>
          </a:bodyPr>
          <a:lstStyle/>
          <a:p>
            <a:pPr algn="l" marL="0" indent="0" lvl="0">
              <a:lnSpc>
                <a:spcPts val="3622"/>
              </a:lnSpc>
              <a:spcBef>
                <a:spcPct val="0"/>
              </a:spcBef>
            </a:pPr>
            <a:r>
              <a:rPr lang="en-US" b="true" sz="2587" strike="noStrike" u="none">
                <a:solidFill>
                  <a:srgbClr val="000000"/>
                </a:solidFill>
                <a:latin typeface="Poppins Bold"/>
                <a:ea typeface="Poppins Bold"/>
                <a:cs typeface="Poppins Bold"/>
                <a:sym typeface="Poppins Bold"/>
              </a:rPr>
              <a:t>Environmental sustainability includes:</a:t>
            </a:r>
          </a:p>
        </p:txBody>
      </p:sp>
      <p:sp>
        <p:nvSpPr>
          <p:cNvPr name="Freeform 9" id="9"/>
          <p:cNvSpPr/>
          <p:nvPr/>
        </p:nvSpPr>
        <p:spPr>
          <a:xfrm flipH="true" flipV="false" rot="0">
            <a:off x="-2657288" y="3394662"/>
            <a:ext cx="5314576" cy="5731405"/>
          </a:xfrm>
          <a:custGeom>
            <a:avLst/>
            <a:gdLst/>
            <a:ahLst/>
            <a:cxnLst/>
            <a:rect r="r" b="b" t="t" l="l"/>
            <a:pathLst>
              <a:path h="5731405" w="5314576">
                <a:moveTo>
                  <a:pt x="5314576" y="0"/>
                </a:moveTo>
                <a:lnTo>
                  <a:pt x="0" y="0"/>
                </a:lnTo>
                <a:lnTo>
                  <a:pt x="0" y="5731406"/>
                </a:lnTo>
                <a:lnTo>
                  <a:pt x="5314576" y="5731406"/>
                </a:lnTo>
                <a:lnTo>
                  <a:pt x="53145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0" y="-563449"/>
            <a:ext cx="3129532" cy="1592149"/>
          </a:xfrm>
          <a:custGeom>
            <a:avLst/>
            <a:gdLst/>
            <a:ahLst/>
            <a:cxnLst/>
            <a:rect r="r" b="b" t="t" l="l"/>
            <a:pathLst>
              <a:path h="1592149" w="3129532">
                <a:moveTo>
                  <a:pt x="0" y="0"/>
                </a:moveTo>
                <a:lnTo>
                  <a:pt x="3129532" y="0"/>
                </a:lnTo>
                <a:lnTo>
                  <a:pt x="3129532" y="1592149"/>
                </a:lnTo>
                <a:lnTo>
                  <a:pt x="0" y="1592149"/>
                </a:lnTo>
                <a:lnTo>
                  <a:pt x="0" y="0"/>
                </a:lnTo>
                <a:close/>
              </a:path>
            </a:pathLst>
          </a:custGeom>
          <a:blipFill>
            <a:blip r:embed="rId9">
              <a:alphaModFix amt="75000"/>
            </a:blip>
            <a:stretch>
              <a:fillRect l="0" t="0" r="0" b="0"/>
            </a:stretch>
          </a:blipFill>
        </p:spPr>
      </p:sp>
      <p:sp>
        <p:nvSpPr>
          <p:cNvPr name="Freeform 11" id="11"/>
          <p:cNvSpPr/>
          <p:nvPr/>
        </p:nvSpPr>
        <p:spPr>
          <a:xfrm flipH="true" flipV="false" rot="0">
            <a:off x="17259300" y="7460351"/>
            <a:ext cx="2764615" cy="1432573"/>
          </a:xfrm>
          <a:custGeom>
            <a:avLst/>
            <a:gdLst/>
            <a:ahLst/>
            <a:cxnLst/>
            <a:rect r="r" b="b" t="t" l="l"/>
            <a:pathLst>
              <a:path h="1432573" w="2764615">
                <a:moveTo>
                  <a:pt x="2764615" y="0"/>
                </a:moveTo>
                <a:lnTo>
                  <a:pt x="0" y="0"/>
                </a:lnTo>
                <a:lnTo>
                  <a:pt x="0" y="1432573"/>
                </a:lnTo>
                <a:lnTo>
                  <a:pt x="2764615" y="1432573"/>
                </a:lnTo>
                <a:lnTo>
                  <a:pt x="27646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028700" y="1641388"/>
            <a:ext cx="16706148" cy="8097368"/>
          </a:xfrm>
          <a:custGeom>
            <a:avLst/>
            <a:gdLst/>
            <a:ahLst/>
            <a:cxnLst/>
            <a:rect r="r" b="b" t="t" l="l"/>
            <a:pathLst>
              <a:path h="8097368" w="16706148">
                <a:moveTo>
                  <a:pt x="0" y="0"/>
                </a:moveTo>
                <a:lnTo>
                  <a:pt x="16706148" y="0"/>
                </a:lnTo>
                <a:lnTo>
                  <a:pt x="16706148" y="8097368"/>
                </a:lnTo>
                <a:lnTo>
                  <a:pt x="0" y="8097368"/>
                </a:lnTo>
                <a:lnTo>
                  <a:pt x="0" y="0"/>
                </a:lnTo>
                <a:close/>
              </a:path>
            </a:pathLst>
          </a:custGeom>
          <a:blipFill>
            <a:blip r:embed="rId14"/>
            <a:stretch>
              <a:fillRect l="0" t="0" r="0" b="0"/>
            </a:stretch>
          </a:blipFill>
        </p:spPr>
      </p:sp>
      <p:sp>
        <p:nvSpPr>
          <p:cNvPr name="TextBox 13" id="13"/>
          <p:cNvSpPr txBox="true"/>
          <p:nvPr/>
        </p:nvSpPr>
        <p:spPr>
          <a:xfrm rot="0">
            <a:off x="245351" y="889479"/>
            <a:ext cx="17797298" cy="618559"/>
          </a:xfrm>
          <a:prstGeom prst="rect">
            <a:avLst/>
          </a:prstGeom>
        </p:spPr>
        <p:txBody>
          <a:bodyPr anchor="t" rtlCol="false" tIns="0" lIns="0" bIns="0" rIns="0">
            <a:spAutoFit/>
          </a:bodyPr>
          <a:lstStyle/>
          <a:p>
            <a:pPr algn="ctr" marL="0" indent="0" lvl="0">
              <a:lnSpc>
                <a:spcPts val="4250"/>
              </a:lnSpc>
              <a:spcBef>
                <a:spcPct val="0"/>
              </a:spcBef>
            </a:pPr>
            <a:r>
              <a:rPr lang="en-US" sz="3728">
                <a:solidFill>
                  <a:srgbClr val="000000"/>
                </a:solidFill>
                <a:latin typeface="Funtastic"/>
                <a:ea typeface="Funtastic"/>
                <a:cs typeface="Funtastic"/>
                <a:sym typeface="Funtastic"/>
              </a:rPr>
              <a:t>DATASET OF THE AMOUNT OF GENERATED HAZARDOUS WASTE BY REGION IN 2023</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0"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028614"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334687" y="6734414"/>
            <a:ext cx="31322026" cy="12187116"/>
          </a:xfrm>
          <a:custGeom>
            <a:avLst/>
            <a:gdLst/>
            <a:ahLst/>
            <a:cxnLst/>
            <a:rect r="r" b="b" t="t" l="l"/>
            <a:pathLst>
              <a:path h="12187116" w="31322026">
                <a:moveTo>
                  <a:pt x="0" y="0"/>
                </a:moveTo>
                <a:lnTo>
                  <a:pt x="31322027" y="0"/>
                </a:lnTo>
                <a:lnTo>
                  <a:pt x="31322027" y="12187116"/>
                </a:lnTo>
                <a:lnTo>
                  <a:pt x="0" y="12187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5086250" y="7232621"/>
            <a:ext cx="8115500" cy="3054379"/>
          </a:xfrm>
          <a:custGeom>
            <a:avLst/>
            <a:gdLst/>
            <a:ahLst/>
            <a:cxnLst/>
            <a:rect r="r" b="b" t="t" l="l"/>
            <a:pathLst>
              <a:path h="3054379" w="8115500">
                <a:moveTo>
                  <a:pt x="0" y="0"/>
                </a:moveTo>
                <a:lnTo>
                  <a:pt x="8115500" y="0"/>
                </a:lnTo>
                <a:lnTo>
                  <a:pt x="8115500" y="3054379"/>
                </a:lnTo>
                <a:lnTo>
                  <a:pt x="0" y="30543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3658307" y="-29062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9">
              <a:alphaModFix amt="75000"/>
            </a:blip>
            <a:stretch>
              <a:fillRect l="0" t="0" r="0" b="0"/>
            </a:stretch>
          </a:blipFill>
        </p:spPr>
      </p:sp>
      <p:sp>
        <p:nvSpPr>
          <p:cNvPr name="Freeform 8" id="8"/>
          <p:cNvSpPr/>
          <p:nvPr/>
        </p:nvSpPr>
        <p:spPr>
          <a:xfrm flipH="true" flipV="false" rot="0">
            <a:off x="-2657288" y="3394662"/>
            <a:ext cx="5314576" cy="5731405"/>
          </a:xfrm>
          <a:custGeom>
            <a:avLst/>
            <a:gdLst/>
            <a:ahLst/>
            <a:cxnLst/>
            <a:rect r="r" b="b" t="t" l="l"/>
            <a:pathLst>
              <a:path h="5731405" w="5314576">
                <a:moveTo>
                  <a:pt x="5314576" y="0"/>
                </a:moveTo>
                <a:lnTo>
                  <a:pt x="0" y="0"/>
                </a:lnTo>
                <a:lnTo>
                  <a:pt x="0" y="5731406"/>
                </a:lnTo>
                <a:lnTo>
                  <a:pt x="5314576" y="5731406"/>
                </a:lnTo>
                <a:lnTo>
                  <a:pt x="53145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0" y="-563449"/>
            <a:ext cx="3129532" cy="1592149"/>
          </a:xfrm>
          <a:custGeom>
            <a:avLst/>
            <a:gdLst/>
            <a:ahLst/>
            <a:cxnLst/>
            <a:rect r="r" b="b" t="t" l="l"/>
            <a:pathLst>
              <a:path h="1592149" w="3129532">
                <a:moveTo>
                  <a:pt x="0" y="0"/>
                </a:moveTo>
                <a:lnTo>
                  <a:pt x="3129532" y="0"/>
                </a:lnTo>
                <a:lnTo>
                  <a:pt x="3129532" y="1592149"/>
                </a:lnTo>
                <a:lnTo>
                  <a:pt x="0" y="1592149"/>
                </a:lnTo>
                <a:lnTo>
                  <a:pt x="0" y="0"/>
                </a:lnTo>
                <a:close/>
              </a:path>
            </a:pathLst>
          </a:custGeom>
          <a:blipFill>
            <a:blip r:embed="rId9">
              <a:alphaModFix amt="75000"/>
            </a:blip>
            <a:stretch>
              <a:fillRect l="0" t="0" r="0" b="0"/>
            </a:stretch>
          </a:blipFill>
        </p:spPr>
      </p:sp>
      <p:sp>
        <p:nvSpPr>
          <p:cNvPr name="Freeform 10" id="10"/>
          <p:cNvSpPr/>
          <p:nvPr/>
        </p:nvSpPr>
        <p:spPr>
          <a:xfrm flipH="true" flipV="false" rot="0">
            <a:off x="17259300" y="7460351"/>
            <a:ext cx="2764615" cy="1432573"/>
          </a:xfrm>
          <a:custGeom>
            <a:avLst/>
            <a:gdLst/>
            <a:ahLst/>
            <a:cxnLst/>
            <a:rect r="r" b="b" t="t" l="l"/>
            <a:pathLst>
              <a:path h="1432573" w="2764615">
                <a:moveTo>
                  <a:pt x="2764615" y="0"/>
                </a:moveTo>
                <a:lnTo>
                  <a:pt x="0" y="0"/>
                </a:lnTo>
                <a:lnTo>
                  <a:pt x="0" y="1432573"/>
                </a:lnTo>
                <a:lnTo>
                  <a:pt x="2764615" y="1432573"/>
                </a:lnTo>
                <a:lnTo>
                  <a:pt x="27646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3293495" y="1695425"/>
            <a:ext cx="11701010" cy="8349858"/>
          </a:xfrm>
          <a:custGeom>
            <a:avLst/>
            <a:gdLst/>
            <a:ahLst/>
            <a:cxnLst/>
            <a:rect r="r" b="b" t="t" l="l"/>
            <a:pathLst>
              <a:path h="8349858" w="11701010">
                <a:moveTo>
                  <a:pt x="0" y="0"/>
                </a:moveTo>
                <a:lnTo>
                  <a:pt x="11701010" y="0"/>
                </a:lnTo>
                <a:lnTo>
                  <a:pt x="11701010" y="8349858"/>
                </a:lnTo>
                <a:lnTo>
                  <a:pt x="0" y="8349858"/>
                </a:lnTo>
                <a:lnTo>
                  <a:pt x="0" y="0"/>
                </a:lnTo>
                <a:close/>
              </a:path>
            </a:pathLst>
          </a:custGeom>
          <a:blipFill>
            <a:blip r:embed="rId14"/>
            <a:stretch>
              <a:fillRect l="0" t="0" r="0" b="0"/>
            </a:stretch>
          </a:blipFill>
        </p:spPr>
      </p:sp>
      <p:sp>
        <p:nvSpPr>
          <p:cNvPr name="TextBox 12" id="12"/>
          <p:cNvSpPr txBox="true"/>
          <p:nvPr/>
        </p:nvSpPr>
        <p:spPr>
          <a:xfrm rot="0">
            <a:off x="124172" y="870480"/>
            <a:ext cx="18039657" cy="634444"/>
          </a:xfrm>
          <a:prstGeom prst="rect">
            <a:avLst/>
          </a:prstGeom>
        </p:spPr>
        <p:txBody>
          <a:bodyPr anchor="t" rtlCol="false" tIns="0" lIns="0" bIns="0" rIns="0">
            <a:spAutoFit/>
          </a:bodyPr>
          <a:lstStyle/>
          <a:p>
            <a:pPr algn="ctr" marL="0" indent="0" lvl="0">
              <a:lnSpc>
                <a:spcPts val="4370"/>
              </a:lnSpc>
              <a:spcBef>
                <a:spcPct val="0"/>
              </a:spcBef>
            </a:pPr>
            <a:r>
              <a:rPr lang="en-US" sz="3833">
                <a:solidFill>
                  <a:srgbClr val="000000"/>
                </a:solidFill>
                <a:latin typeface="Funtastic"/>
                <a:ea typeface="Funtastic"/>
                <a:cs typeface="Funtastic"/>
                <a:sym typeface="Funtastic"/>
              </a:rPr>
              <a:t>DATASET OF THE NUMBER OF REGISTERED TSD FACILITIES BY REGION 2014-2023</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0"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028614"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334687" y="6734414"/>
            <a:ext cx="31322026" cy="12187116"/>
          </a:xfrm>
          <a:custGeom>
            <a:avLst/>
            <a:gdLst/>
            <a:ahLst/>
            <a:cxnLst/>
            <a:rect r="r" b="b" t="t" l="l"/>
            <a:pathLst>
              <a:path h="12187116" w="31322026">
                <a:moveTo>
                  <a:pt x="0" y="0"/>
                </a:moveTo>
                <a:lnTo>
                  <a:pt x="31322027" y="0"/>
                </a:lnTo>
                <a:lnTo>
                  <a:pt x="31322027" y="12187116"/>
                </a:lnTo>
                <a:lnTo>
                  <a:pt x="0" y="12187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154929" y="7232621"/>
            <a:ext cx="8115500" cy="3054379"/>
          </a:xfrm>
          <a:custGeom>
            <a:avLst/>
            <a:gdLst/>
            <a:ahLst/>
            <a:cxnLst/>
            <a:rect r="r" b="b" t="t" l="l"/>
            <a:pathLst>
              <a:path h="3054379" w="8115500">
                <a:moveTo>
                  <a:pt x="0" y="0"/>
                </a:moveTo>
                <a:lnTo>
                  <a:pt x="8115500" y="0"/>
                </a:lnTo>
                <a:lnTo>
                  <a:pt x="8115500" y="3054379"/>
                </a:lnTo>
                <a:lnTo>
                  <a:pt x="0" y="30543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3658307" y="-29062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9">
              <a:alphaModFix amt="75000"/>
            </a:blip>
            <a:stretch>
              <a:fillRect l="0" t="0" r="0" b="0"/>
            </a:stretch>
          </a:blipFill>
        </p:spPr>
      </p:sp>
      <p:sp>
        <p:nvSpPr>
          <p:cNvPr name="Freeform 8" id="8"/>
          <p:cNvSpPr/>
          <p:nvPr/>
        </p:nvSpPr>
        <p:spPr>
          <a:xfrm flipH="true" flipV="false" rot="0">
            <a:off x="-2657288" y="3394662"/>
            <a:ext cx="5314576" cy="5731405"/>
          </a:xfrm>
          <a:custGeom>
            <a:avLst/>
            <a:gdLst/>
            <a:ahLst/>
            <a:cxnLst/>
            <a:rect r="r" b="b" t="t" l="l"/>
            <a:pathLst>
              <a:path h="5731405" w="5314576">
                <a:moveTo>
                  <a:pt x="5314576" y="0"/>
                </a:moveTo>
                <a:lnTo>
                  <a:pt x="0" y="0"/>
                </a:lnTo>
                <a:lnTo>
                  <a:pt x="0" y="5731406"/>
                </a:lnTo>
                <a:lnTo>
                  <a:pt x="5314576" y="5731406"/>
                </a:lnTo>
                <a:lnTo>
                  <a:pt x="53145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0" y="-563449"/>
            <a:ext cx="3129532" cy="1592149"/>
          </a:xfrm>
          <a:custGeom>
            <a:avLst/>
            <a:gdLst/>
            <a:ahLst/>
            <a:cxnLst/>
            <a:rect r="r" b="b" t="t" l="l"/>
            <a:pathLst>
              <a:path h="1592149" w="3129532">
                <a:moveTo>
                  <a:pt x="0" y="0"/>
                </a:moveTo>
                <a:lnTo>
                  <a:pt x="3129532" y="0"/>
                </a:lnTo>
                <a:lnTo>
                  <a:pt x="3129532" y="1592149"/>
                </a:lnTo>
                <a:lnTo>
                  <a:pt x="0" y="1592149"/>
                </a:lnTo>
                <a:lnTo>
                  <a:pt x="0" y="0"/>
                </a:lnTo>
                <a:close/>
              </a:path>
            </a:pathLst>
          </a:custGeom>
          <a:blipFill>
            <a:blip r:embed="rId9">
              <a:alphaModFix amt="75000"/>
            </a:blip>
            <a:stretch>
              <a:fillRect l="0" t="0" r="0" b="0"/>
            </a:stretch>
          </a:blipFill>
        </p:spPr>
      </p:sp>
      <p:sp>
        <p:nvSpPr>
          <p:cNvPr name="Freeform 10" id="10"/>
          <p:cNvSpPr/>
          <p:nvPr/>
        </p:nvSpPr>
        <p:spPr>
          <a:xfrm flipH="true" flipV="false" rot="0">
            <a:off x="17259300" y="7460351"/>
            <a:ext cx="2764615" cy="1432573"/>
          </a:xfrm>
          <a:custGeom>
            <a:avLst/>
            <a:gdLst/>
            <a:ahLst/>
            <a:cxnLst/>
            <a:rect r="r" b="b" t="t" l="l"/>
            <a:pathLst>
              <a:path h="1432573" w="2764615">
                <a:moveTo>
                  <a:pt x="2764615" y="0"/>
                </a:moveTo>
                <a:lnTo>
                  <a:pt x="0" y="0"/>
                </a:lnTo>
                <a:lnTo>
                  <a:pt x="0" y="1432573"/>
                </a:lnTo>
                <a:lnTo>
                  <a:pt x="2764615" y="1432573"/>
                </a:lnTo>
                <a:lnTo>
                  <a:pt x="27646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471959" y="1645899"/>
            <a:ext cx="17344083" cy="8300595"/>
          </a:xfrm>
          <a:custGeom>
            <a:avLst/>
            <a:gdLst/>
            <a:ahLst/>
            <a:cxnLst/>
            <a:rect r="r" b="b" t="t" l="l"/>
            <a:pathLst>
              <a:path h="8300595" w="17344083">
                <a:moveTo>
                  <a:pt x="0" y="0"/>
                </a:moveTo>
                <a:lnTo>
                  <a:pt x="17344082" y="0"/>
                </a:lnTo>
                <a:lnTo>
                  <a:pt x="17344082" y="8300595"/>
                </a:lnTo>
                <a:lnTo>
                  <a:pt x="0" y="8300595"/>
                </a:lnTo>
                <a:lnTo>
                  <a:pt x="0" y="0"/>
                </a:lnTo>
                <a:close/>
              </a:path>
            </a:pathLst>
          </a:custGeom>
          <a:blipFill>
            <a:blip r:embed="rId14"/>
            <a:stretch>
              <a:fillRect l="0" t="0" r="0" b="0"/>
            </a:stretch>
          </a:blipFill>
        </p:spPr>
      </p:sp>
      <p:sp>
        <p:nvSpPr>
          <p:cNvPr name="TextBox 12" id="12"/>
          <p:cNvSpPr txBox="true"/>
          <p:nvPr/>
        </p:nvSpPr>
        <p:spPr>
          <a:xfrm rot="0">
            <a:off x="-9525" y="855963"/>
            <a:ext cx="18414957" cy="599436"/>
          </a:xfrm>
          <a:prstGeom prst="rect">
            <a:avLst/>
          </a:prstGeom>
        </p:spPr>
        <p:txBody>
          <a:bodyPr anchor="t" rtlCol="false" tIns="0" lIns="0" bIns="0" rIns="0">
            <a:spAutoFit/>
          </a:bodyPr>
          <a:lstStyle/>
          <a:p>
            <a:pPr algn="ctr" marL="0" indent="0" lvl="0">
              <a:lnSpc>
                <a:spcPts val="4177"/>
              </a:lnSpc>
              <a:spcBef>
                <a:spcPct val="0"/>
              </a:spcBef>
            </a:pPr>
            <a:r>
              <a:rPr lang="en-US" sz="3664">
                <a:solidFill>
                  <a:srgbClr val="000000"/>
                </a:solidFill>
                <a:latin typeface="Funtastic"/>
                <a:ea typeface="Funtastic"/>
                <a:cs typeface="Funtastic"/>
                <a:sym typeface="Funtastic"/>
              </a:rPr>
              <a:t>DATASET OF THE PHILIPPINE MAP WITH GEOMETRY AND REGIONAL DIVISIONS ADDED</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0"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028614" y="391653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334687" y="6734414"/>
            <a:ext cx="31322026" cy="12187116"/>
          </a:xfrm>
          <a:custGeom>
            <a:avLst/>
            <a:gdLst/>
            <a:ahLst/>
            <a:cxnLst/>
            <a:rect r="r" b="b" t="t" l="l"/>
            <a:pathLst>
              <a:path h="12187116" w="31322026">
                <a:moveTo>
                  <a:pt x="0" y="0"/>
                </a:moveTo>
                <a:lnTo>
                  <a:pt x="31322027" y="0"/>
                </a:lnTo>
                <a:lnTo>
                  <a:pt x="31322027" y="12187116"/>
                </a:lnTo>
                <a:lnTo>
                  <a:pt x="0" y="1218711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64348" y="7232621"/>
            <a:ext cx="8115500" cy="3054379"/>
          </a:xfrm>
          <a:custGeom>
            <a:avLst/>
            <a:gdLst/>
            <a:ahLst/>
            <a:cxnLst/>
            <a:rect r="r" b="b" t="t" l="l"/>
            <a:pathLst>
              <a:path h="3054379" w="8115500">
                <a:moveTo>
                  <a:pt x="0" y="0"/>
                </a:moveTo>
                <a:lnTo>
                  <a:pt x="8115500" y="0"/>
                </a:lnTo>
                <a:lnTo>
                  <a:pt x="8115500" y="3054379"/>
                </a:lnTo>
                <a:lnTo>
                  <a:pt x="0" y="30543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3658307" y="-290620"/>
            <a:ext cx="5186516" cy="2638640"/>
          </a:xfrm>
          <a:custGeom>
            <a:avLst/>
            <a:gdLst/>
            <a:ahLst/>
            <a:cxnLst/>
            <a:rect r="r" b="b" t="t" l="l"/>
            <a:pathLst>
              <a:path h="2638640" w="5186516">
                <a:moveTo>
                  <a:pt x="5186516" y="0"/>
                </a:moveTo>
                <a:lnTo>
                  <a:pt x="0" y="0"/>
                </a:lnTo>
                <a:lnTo>
                  <a:pt x="0" y="2638640"/>
                </a:lnTo>
                <a:lnTo>
                  <a:pt x="5186516" y="2638640"/>
                </a:lnTo>
                <a:lnTo>
                  <a:pt x="5186516" y="0"/>
                </a:lnTo>
                <a:close/>
              </a:path>
            </a:pathLst>
          </a:custGeom>
          <a:blipFill>
            <a:blip r:embed="rId9">
              <a:alphaModFix amt="75000"/>
            </a:blip>
            <a:stretch>
              <a:fillRect l="0" t="0" r="0" b="0"/>
            </a:stretch>
          </a:blipFill>
        </p:spPr>
      </p:sp>
      <p:sp>
        <p:nvSpPr>
          <p:cNvPr name="Freeform 8" id="8"/>
          <p:cNvSpPr/>
          <p:nvPr/>
        </p:nvSpPr>
        <p:spPr>
          <a:xfrm flipH="true" flipV="false" rot="0">
            <a:off x="-2657288" y="3394662"/>
            <a:ext cx="5314576" cy="5731405"/>
          </a:xfrm>
          <a:custGeom>
            <a:avLst/>
            <a:gdLst/>
            <a:ahLst/>
            <a:cxnLst/>
            <a:rect r="r" b="b" t="t" l="l"/>
            <a:pathLst>
              <a:path h="5731405" w="5314576">
                <a:moveTo>
                  <a:pt x="5314576" y="0"/>
                </a:moveTo>
                <a:lnTo>
                  <a:pt x="0" y="0"/>
                </a:lnTo>
                <a:lnTo>
                  <a:pt x="0" y="5731406"/>
                </a:lnTo>
                <a:lnTo>
                  <a:pt x="5314576" y="5731406"/>
                </a:lnTo>
                <a:lnTo>
                  <a:pt x="53145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0" y="-563449"/>
            <a:ext cx="3129532" cy="1592149"/>
          </a:xfrm>
          <a:custGeom>
            <a:avLst/>
            <a:gdLst/>
            <a:ahLst/>
            <a:cxnLst/>
            <a:rect r="r" b="b" t="t" l="l"/>
            <a:pathLst>
              <a:path h="1592149" w="3129532">
                <a:moveTo>
                  <a:pt x="0" y="0"/>
                </a:moveTo>
                <a:lnTo>
                  <a:pt x="3129532" y="0"/>
                </a:lnTo>
                <a:lnTo>
                  <a:pt x="3129532" y="1592149"/>
                </a:lnTo>
                <a:lnTo>
                  <a:pt x="0" y="1592149"/>
                </a:lnTo>
                <a:lnTo>
                  <a:pt x="0" y="0"/>
                </a:lnTo>
                <a:close/>
              </a:path>
            </a:pathLst>
          </a:custGeom>
          <a:blipFill>
            <a:blip r:embed="rId9">
              <a:alphaModFix amt="75000"/>
            </a:blip>
            <a:stretch>
              <a:fillRect l="0" t="0" r="0" b="0"/>
            </a:stretch>
          </a:blipFill>
        </p:spPr>
      </p:sp>
      <p:sp>
        <p:nvSpPr>
          <p:cNvPr name="Freeform 10" id="10"/>
          <p:cNvSpPr/>
          <p:nvPr/>
        </p:nvSpPr>
        <p:spPr>
          <a:xfrm flipH="true" flipV="false" rot="0">
            <a:off x="17259300" y="7460351"/>
            <a:ext cx="2764615" cy="1432573"/>
          </a:xfrm>
          <a:custGeom>
            <a:avLst/>
            <a:gdLst/>
            <a:ahLst/>
            <a:cxnLst/>
            <a:rect r="r" b="b" t="t" l="l"/>
            <a:pathLst>
              <a:path h="1432573" w="2764615">
                <a:moveTo>
                  <a:pt x="2764615" y="0"/>
                </a:moveTo>
                <a:lnTo>
                  <a:pt x="0" y="0"/>
                </a:lnTo>
                <a:lnTo>
                  <a:pt x="0" y="1432573"/>
                </a:lnTo>
                <a:lnTo>
                  <a:pt x="2764615" y="1432573"/>
                </a:lnTo>
                <a:lnTo>
                  <a:pt x="27646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028700" y="4648078"/>
            <a:ext cx="7644918" cy="3677357"/>
          </a:xfrm>
          <a:custGeom>
            <a:avLst/>
            <a:gdLst/>
            <a:ahLst/>
            <a:cxnLst/>
            <a:rect r="r" b="b" t="t" l="l"/>
            <a:pathLst>
              <a:path h="3677357" w="7644918">
                <a:moveTo>
                  <a:pt x="0" y="0"/>
                </a:moveTo>
                <a:lnTo>
                  <a:pt x="7644918" y="0"/>
                </a:lnTo>
                <a:lnTo>
                  <a:pt x="7644918" y="3677357"/>
                </a:lnTo>
                <a:lnTo>
                  <a:pt x="0" y="3677357"/>
                </a:lnTo>
                <a:lnTo>
                  <a:pt x="0" y="0"/>
                </a:lnTo>
                <a:close/>
              </a:path>
            </a:pathLst>
          </a:custGeom>
          <a:blipFill>
            <a:blip r:embed="rId14"/>
            <a:stretch>
              <a:fillRect l="0" t="0" r="0" b="0"/>
            </a:stretch>
          </a:blipFill>
        </p:spPr>
      </p:sp>
      <p:sp>
        <p:nvSpPr>
          <p:cNvPr name="Freeform 12" id="12"/>
          <p:cNvSpPr/>
          <p:nvPr/>
        </p:nvSpPr>
        <p:spPr>
          <a:xfrm flipH="false" flipV="false" rot="0">
            <a:off x="1028700" y="8407071"/>
            <a:ext cx="7644918" cy="1142394"/>
          </a:xfrm>
          <a:custGeom>
            <a:avLst/>
            <a:gdLst/>
            <a:ahLst/>
            <a:cxnLst/>
            <a:rect r="r" b="b" t="t" l="l"/>
            <a:pathLst>
              <a:path h="1142394" w="7644918">
                <a:moveTo>
                  <a:pt x="0" y="0"/>
                </a:moveTo>
                <a:lnTo>
                  <a:pt x="7644918" y="0"/>
                </a:lnTo>
                <a:lnTo>
                  <a:pt x="7644918" y="1142394"/>
                </a:lnTo>
                <a:lnTo>
                  <a:pt x="0" y="1142394"/>
                </a:lnTo>
                <a:lnTo>
                  <a:pt x="0" y="0"/>
                </a:lnTo>
                <a:close/>
              </a:path>
            </a:pathLst>
          </a:custGeom>
          <a:blipFill>
            <a:blip r:embed="rId15"/>
            <a:stretch>
              <a:fillRect l="0" t="0" r="0" b="0"/>
            </a:stretch>
          </a:blipFill>
        </p:spPr>
      </p:sp>
      <p:sp>
        <p:nvSpPr>
          <p:cNvPr name="Freeform 13" id="13"/>
          <p:cNvSpPr/>
          <p:nvPr/>
        </p:nvSpPr>
        <p:spPr>
          <a:xfrm flipH="false" flipV="false" rot="0">
            <a:off x="8833149" y="1575629"/>
            <a:ext cx="8426151" cy="3678688"/>
          </a:xfrm>
          <a:custGeom>
            <a:avLst/>
            <a:gdLst/>
            <a:ahLst/>
            <a:cxnLst/>
            <a:rect r="r" b="b" t="t" l="l"/>
            <a:pathLst>
              <a:path h="3678688" w="8426151">
                <a:moveTo>
                  <a:pt x="0" y="0"/>
                </a:moveTo>
                <a:lnTo>
                  <a:pt x="8426151" y="0"/>
                </a:lnTo>
                <a:lnTo>
                  <a:pt x="8426151" y="3678687"/>
                </a:lnTo>
                <a:lnTo>
                  <a:pt x="0" y="3678687"/>
                </a:lnTo>
                <a:lnTo>
                  <a:pt x="0" y="0"/>
                </a:lnTo>
                <a:close/>
              </a:path>
            </a:pathLst>
          </a:custGeom>
          <a:blipFill>
            <a:blip r:embed="rId16"/>
            <a:stretch>
              <a:fillRect l="0" t="0" r="0" b="0"/>
            </a:stretch>
          </a:blipFill>
        </p:spPr>
      </p:sp>
      <p:sp>
        <p:nvSpPr>
          <p:cNvPr name="Freeform 14" id="14"/>
          <p:cNvSpPr/>
          <p:nvPr/>
        </p:nvSpPr>
        <p:spPr>
          <a:xfrm flipH="false" flipV="false" rot="0">
            <a:off x="8833149" y="5477130"/>
            <a:ext cx="8426151" cy="4092296"/>
          </a:xfrm>
          <a:custGeom>
            <a:avLst/>
            <a:gdLst/>
            <a:ahLst/>
            <a:cxnLst/>
            <a:rect r="r" b="b" t="t" l="l"/>
            <a:pathLst>
              <a:path h="4092296" w="8426151">
                <a:moveTo>
                  <a:pt x="0" y="0"/>
                </a:moveTo>
                <a:lnTo>
                  <a:pt x="8426151" y="0"/>
                </a:lnTo>
                <a:lnTo>
                  <a:pt x="8426151" y="4092295"/>
                </a:lnTo>
                <a:lnTo>
                  <a:pt x="0" y="4092295"/>
                </a:lnTo>
                <a:lnTo>
                  <a:pt x="0" y="0"/>
                </a:lnTo>
                <a:close/>
              </a:path>
            </a:pathLst>
          </a:custGeom>
          <a:blipFill>
            <a:blip r:embed="rId17"/>
            <a:stretch>
              <a:fillRect l="0" t="0" r="0" b="0"/>
            </a:stretch>
          </a:blipFill>
        </p:spPr>
      </p:sp>
      <p:sp>
        <p:nvSpPr>
          <p:cNvPr name="Freeform 15" id="15"/>
          <p:cNvSpPr/>
          <p:nvPr/>
        </p:nvSpPr>
        <p:spPr>
          <a:xfrm flipH="false" flipV="false" rot="0">
            <a:off x="1028700" y="1625885"/>
            <a:ext cx="7644918" cy="2876306"/>
          </a:xfrm>
          <a:custGeom>
            <a:avLst/>
            <a:gdLst/>
            <a:ahLst/>
            <a:cxnLst/>
            <a:rect r="r" b="b" t="t" l="l"/>
            <a:pathLst>
              <a:path h="2876306" w="7644918">
                <a:moveTo>
                  <a:pt x="0" y="0"/>
                </a:moveTo>
                <a:lnTo>
                  <a:pt x="7644918" y="0"/>
                </a:lnTo>
                <a:lnTo>
                  <a:pt x="7644918" y="2876306"/>
                </a:lnTo>
                <a:lnTo>
                  <a:pt x="0" y="2876306"/>
                </a:lnTo>
                <a:lnTo>
                  <a:pt x="0" y="0"/>
                </a:lnTo>
                <a:close/>
              </a:path>
            </a:pathLst>
          </a:custGeom>
          <a:blipFill>
            <a:blip r:embed="rId18"/>
            <a:stretch>
              <a:fillRect l="0" t="0" r="0" b="0"/>
            </a:stretch>
          </a:blipFill>
        </p:spPr>
      </p:sp>
      <p:sp>
        <p:nvSpPr>
          <p:cNvPr name="TextBox 16" id="16"/>
          <p:cNvSpPr txBox="true"/>
          <p:nvPr/>
        </p:nvSpPr>
        <p:spPr>
          <a:xfrm rot="0">
            <a:off x="124172" y="870480"/>
            <a:ext cx="18039657" cy="634444"/>
          </a:xfrm>
          <a:prstGeom prst="rect">
            <a:avLst/>
          </a:prstGeom>
        </p:spPr>
        <p:txBody>
          <a:bodyPr anchor="t" rtlCol="false" tIns="0" lIns="0" bIns="0" rIns="0">
            <a:spAutoFit/>
          </a:bodyPr>
          <a:lstStyle/>
          <a:p>
            <a:pPr algn="ctr" marL="0" indent="0" lvl="0">
              <a:lnSpc>
                <a:spcPts val="4370"/>
              </a:lnSpc>
              <a:spcBef>
                <a:spcPct val="0"/>
              </a:spcBef>
            </a:pPr>
            <a:r>
              <a:rPr lang="en-US" sz="3833">
                <a:solidFill>
                  <a:srgbClr val="000000"/>
                </a:solidFill>
                <a:latin typeface="Funtastic"/>
                <a:ea typeface="Funtastic"/>
                <a:cs typeface="Funtastic"/>
                <a:sym typeface="Funtastic"/>
              </a:rPr>
              <a:t>FILTERED AND MERGED DATASET</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315059"/>
            <a:ext cx="19077134" cy="4385535"/>
          </a:xfrm>
          <a:custGeom>
            <a:avLst/>
            <a:gdLst/>
            <a:ahLst/>
            <a:cxnLst/>
            <a:rect r="r" b="b" t="t" l="l"/>
            <a:pathLst>
              <a:path h="4385535" w="19077134">
                <a:moveTo>
                  <a:pt x="0" y="0"/>
                </a:moveTo>
                <a:lnTo>
                  <a:pt x="19077134" y="0"/>
                </a:lnTo>
                <a:lnTo>
                  <a:pt x="19077134" y="4385535"/>
                </a:lnTo>
                <a:lnTo>
                  <a:pt x="0" y="4385535"/>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6219"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65605"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3978863" y="-635974"/>
            <a:ext cx="9406070" cy="10143801"/>
          </a:xfrm>
          <a:custGeom>
            <a:avLst/>
            <a:gdLst/>
            <a:ahLst/>
            <a:cxnLst/>
            <a:rect r="r" b="b" t="t" l="l"/>
            <a:pathLst>
              <a:path h="10143801" w="9406070">
                <a:moveTo>
                  <a:pt x="9406069" y="0"/>
                </a:moveTo>
                <a:lnTo>
                  <a:pt x="0" y="0"/>
                </a:lnTo>
                <a:lnTo>
                  <a:pt x="0" y="10143800"/>
                </a:lnTo>
                <a:lnTo>
                  <a:pt x="9406069" y="10143800"/>
                </a:lnTo>
                <a:lnTo>
                  <a:pt x="9406069"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52699" y="2804212"/>
            <a:ext cx="5892580" cy="5298125"/>
            <a:chOff x="0" y="0"/>
            <a:chExt cx="1230995" cy="1106810"/>
          </a:xfrm>
        </p:grpSpPr>
        <p:sp>
          <p:nvSpPr>
            <p:cNvPr name="Freeform 8" id="8"/>
            <p:cNvSpPr/>
            <p:nvPr/>
          </p:nvSpPr>
          <p:spPr>
            <a:xfrm flipH="false" flipV="false" rot="0">
              <a:off x="0" y="0"/>
              <a:ext cx="1230995" cy="1106810"/>
            </a:xfrm>
            <a:custGeom>
              <a:avLst/>
              <a:gdLst/>
              <a:ahLst/>
              <a:cxnLst/>
              <a:rect r="r" b="b" t="t" l="l"/>
              <a:pathLst>
                <a:path h="1106810" w="1230995">
                  <a:moveTo>
                    <a:pt x="39415" y="0"/>
                  </a:moveTo>
                  <a:lnTo>
                    <a:pt x="1191580" y="0"/>
                  </a:lnTo>
                  <a:cubicBezTo>
                    <a:pt x="1202033" y="0"/>
                    <a:pt x="1212059" y="4153"/>
                    <a:pt x="1219450" y="11544"/>
                  </a:cubicBezTo>
                  <a:cubicBezTo>
                    <a:pt x="1226842" y="18936"/>
                    <a:pt x="1230995" y="28962"/>
                    <a:pt x="1230995" y="39415"/>
                  </a:cubicBezTo>
                  <a:lnTo>
                    <a:pt x="1230995" y="1067394"/>
                  </a:lnTo>
                  <a:cubicBezTo>
                    <a:pt x="1230995" y="1089163"/>
                    <a:pt x="1213348" y="1106810"/>
                    <a:pt x="1191580" y="1106810"/>
                  </a:cubicBezTo>
                  <a:lnTo>
                    <a:pt x="39415" y="1106810"/>
                  </a:lnTo>
                  <a:cubicBezTo>
                    <a:pt x="17647" y="1106810"/>
                    <a:pt x="0" y="1089163"/>
                    <a:pt x="0" y="1067394"/>
                  </a:cubicBezTo>
                  <a:lnTo>
                    <a:pt x="0" y="39415"/>
                  </a:lnTo>
                  <a:cubicBezTo>
                    <a:pt x="0" y="17647"/>
                    <a:pt x="17647" y="0"/>
                    <a:pt x="39415" y="0"/>
                  </a:cubicBezTo>
                  <a:close/>
                </a:path>
              </a:pathLst>
            </a:custGeom>
            <a:solidFill>
              <a:srgbClr val="FFFFFF"/>
            </a:solidFill>
          </p:spPr>
        </p:sp>
        <p:sp>
          <p:nvSpPr>
            <p:cNvPr name="TextBox 9" id="9"/>
            <p:cNvSpPr txBox="true"/>
            <p:nvPr/>
          </p:nvSpPr>
          <p:spPr>
            <a:xfrm>
              <a:off x="0" y="-47625"/>
              <a:ext cx="1230995" cy="1154435"/>
            </a:xfrm>
            <a:prstGeom prst="rect">
              <a:avLst/>
            </a:prstGeom>
          </p:spPr>
          <p:txBody>
            <a:bodyPr anchor="ctr" rtlCol="false" tIns="58105" lIns="58105" bIns="58105" rIns="58105"/>
            <a:lstStyle/>
            <a:p>
              <a:pPr algn="ctr">
                <a:lnSpc>
                  <a:spcPts val="3499"/>
                </a:lnSpc>
              </a:pPr>
            </a:p>
          </p:txBody>
        </p:sp>
      </p:grpSp>
      <p:sp>
        <p:nvSpPr>
          <p:cNvPr name="Freeform 10" id="10"/>
          <p:cNvSpPr/>
          <p:nvPr/>
        </p:nvSpPr>
        <p:spPr>
          <a:xfrm flipH="true" flipV="false" rot="0">
            <a:off x="9910546" y="504015"/>
            <a:ext cx="6613676" cy="3364708"/>
          </a:xfrm>
          <a:custGeom>
            <a:avLst/>
            <a:gdLst/>
            <a:ahLst/>
            <a:cxnLst/>
            <a:rect r="r" b="b" t="t" l="l"/>
            <a:pathLst>
              <a:path h="3364708" w="6613676">
                <a:moveTo>
                  <a:pt x="6613676" y="0"/>
                </a:moveTo>
                <a:lnTo>
                  <a:pt x="0" y="0"/>
                </a:lnTo>
                <a:lnTo>
                  <a:pt x="0" y="3364708"/>
                </a:lnTo>
                <a:lnTo>
                  <a:pt x="6613676" y="3364708"/>
                </a:lnTo>
                <a:lnTo>
                  <a:pt x="6613676" y="0"/>
                </a:lnTo>
                <a:close/>
              </a:path>
            </a:pathLst>
          </a:custGeom>
          <a:blipFill>
            <a:blip r:embed="rId9">
              <a:alphaModFix amt="75000"/>
            </a:blip>
            <a:stretch>
              <a:fillRect l="-29229" t="0" r="0" b="-29229"/>
            </a:stretch>
          </a:blipFill>
        </p:spPr>
      </p:sp>
      <p:sp>
        <p:nvSpPr>
          <p:cNvPr name="Freeform 11" id="11"/>
          <p:cNvSpPr/>
          <p:nvPr/>
        </p:nvSpPr>
        <p:spPr>
          <a:xfrm flipH="false" flipV="false" rot="0">
            <a:off x="-834939" y="290116"/>
            <a:ext cx="3727279" cy="1896253"/>
          </a:xfrm>
          <a:custGeom>
            <a:avLst/>
            <a:gdLst/>
            <a:ahLst/>
            <a:cxnLst/>
            <a:rect r="r" b="b" t="t" l="l"/>
            <a:pathLst>
              <a:path h="1896253" w="3727279">
                <a:moveTo>
                  <a:pt x="0" y="0"/>
                </a:moveTo>
                <a:lnTo>
                  <a:pt x="3727278" y="0"/>
                </a:lnTo>
                <a:lnTo>
                  <a:pt x="3727278" y="1896253"/>
                </a:lnTo>
                <a:lnTo>
                  <a:pt x="0" y="1896253"/>
                </a:lnTo>
                <a:lnTo>
                  <a:pt x="0" y="0"/>
                </a:lnTo>
                <a:close/>
              </a:path>
            </a:pathLst>
          </a:custGeom>
          <a:blipFill>
            <a:blip r:embed="rId9">
              <a:alphaModFix amt="75000"/>
            </a:blip>
            <a:stretch>
              <a:fillRect l="0" t="0" r="0" b="0"/>
            </a:stretch>
          </a:blipFill>
        </p:spPr>
      </p:sp>
      <p:sp>
        <p:nvSpPr>
          <p:cNvPr name="Freeform 12" id="12"/>
          <p:cNvSpPr/>
          <p:nvPr/>
        </p:nvSpPr>
        <p:spPr>
          <a:xfrm flipH="true" flipV="false" rot="0">
            <a:off x="7761693" y="9099353"/>
            <a:ext cx="2764615" cy="1432573"/>
          </a:xfrm>
          <a:custGeom>
            <a:avLst/>
            <a:gdLst/>
            <a:ahLst/>
            <a:cxnLst/>
            <a:rect r="r" b="b" t="t" l="l"/>
            <a:pathLst>
              <a:path h="1432573" w="2764615">
                <a:moveTo>
                  <a:pt x="2764614" y="0"/>
                </a:moveTo>
                <a:lnTo>
                  <a:pt x="0" y="0"/>
                </a:lnTo>
                <a:lnTo>
                  <a:pt x="0" y="1432573"/>
                </a:lnTo>
                <a:lnTo>
                  <a:pt x="2764614" y="1432573"/>
                </a:lnTo>
                <a:lnTo>
                  <a:pt x="276461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11234276" y="8442230"/>
            <a:ext cx="7053724" cy="1844770"/>
          </a:xfrm>
          <a:custGeom>
            <a:avLst/>
            <a:gdLst/>
            <a:ahLst/>
            <a:cxnLst/>
            <a:rect r="r" b="b" t="t" l="l"/>
            <a:pathLst>
              <a:path h="1844770" w="7053724">
                <a:moveTo>
                  <a:pt x="0" y="0"/>
                </a:moveTo>
                <a:lnTo>
                  <a:pt x="7053724" y="0"/>
                </a:lnTo>
                <a:lnTo>
                  <a:pt x="7053724" y="1844770"/>
                </a:lnTo>
                <a:lnTo>
                  <a:pt x="0" y="1844770"/>
                </a:lnTo>
                <a:lnTo>
                  <a:pt x="0" y="0"/>
                </a:lnTo>
                <a:close/>
              </a:path>
            </a:pathLst>
          </a:custGeom>
          <a:blipFill>
            <a:blip r:embed="rId12"/>
            <a:stretch>
              <a:fillRect l="0" t="0" r="0" b="0"/>
            </a:stretch>
          </a:blipFill>
        </p:spPr>
      </p:sp>
      <p:sp>
        <p:nvSpPr>
          <p:cNvPr name="Freeform 14" id="14"/>
          <p:cNvSpPr/>
          <p:nvPr/>
        </p:nvSpPr>
        <p:spPr>
          <a:xfrm flipH="false" flipV="false" rot="0">
            <a:off x="6160777" y="2102284"/>
            <a:ext cx="11925335" cy="6673219"/>
          </a:xfrm>
          <a:custGeom>
            <a:avLst/>
            <a:gdLst/>
            <a:ahLst/>
            <a:cxnLst/>
            <a:rect r="r" b="b" t="t" l="l"/>
            <a:pathLst>
              <a:path h="6673219" w="11925335">
                <a:moveTo>
                  <a:pt x="0" y="0"/>
                </a:moveTo>
                <a:lnTo>
                  <a:pt x="11925335" y="0"/>
                </a:lnTo>
                <a:lnTo>
                  <a:pt x="11925335" y="6673219"/>
                </a:lnTo>
                <a:lnTo>
                  <a:pt x="0" y="6673219"/>
                </a:lnTo>
                <a:lnTo>
                  <a:pt x="0" y="0"/>
                </a:lnTo>
                <a:close/>
              </a:path>
            </a:pathLst>
          </a:custGeom>
          <a:blipFill>
            <a:blip r:embed="rId13"/>
            <a:stretch>
              <a:fillRect l="0" t="0" r="0" b="0"/>
            </a:stretch>
          </a:blipFill>
        </p:spPr>
      </p:sp>
      <p:sp>
        <p:nvSpPr>
          <p:cNvPr name="TextBox 15" id="15"/>
          <p:cNvSpPr txBox="true"/>
          <p:nvPr/>
        </p:nvSpPr>
        <p:spPr>
          <a:xfrm rot="0">
            <a:off x="493348" y="780704"/>
            <a:ext cx="17794652" cy="848403"/>
          </a:xfrm>
          <a:prstGeom prst="rect">
            <a:avLst/>
          </a:prstGeom>
        </p:spPr>
        <p:txBody>
          <a:bodyPr anchor="t" rtlCol="false" tIns="0" lIns="0" bIns="0" rIns="0">
            <a:spAutoFit/>
          </a:bodyPr>
          <a:lstStyle/>
          <a:p>
            <a:pPr algn="l" marL="0" indent="0" lvl="0">
              <a:lnSpc>
                <a:spcPts val="5897"/>
              </a:lnSpc>
              <a:spcBef>
                <a:spcPct val="0"/>
              </a:spcBef>
            </a:pPr>
            <a:r>
              <a:rPr lang="en-US" sz="5173">
                <a:solidFill>
                  <a:srgbClr val="000000"/>
                </a:solidFill>
                <a:latin typeface="Funtastic"/>
                <a:ea typeface="Funtastic"/>
                <a:cs typeface="Funtastic"/>
                <a:sym typeface="Funtastic"/>
              </a:rPr>
              <a:t>TOTAL AMOUNT OF HAZARDOUS WASTE BY TYPE (2023)</a:t>
            </a:r>
          </a:p>
        </p:txBody>
      </p:sp>
      <p:sp>
        <p:nvSpPr>
          <p:cNvPr name="TextBox 16" id="16"/>
          <p:cNvSpPr txBox="true"/>
          <p:nvPr/>
        </p:nvSpPr>
        <p:spPr>
          <a:xfrm rot="0">
            <a:off x="239718" y="2812858"/>
            <a:ext cx="5718542" cy="5214157"/>
          </a:xfrm>
          <a:prstGeom prst="rect">
            <a:avLst/>
          </a:prstGeom>
        </p:spPr>
        <p:txBody>
          <a:bodyPr anchor="t" rtlCol="false" tIns="0" lIns="0" bIns="0" rIns="0">
            <a:spAutoFit/>
          </a:bodyPr>
          <a:lstStyle/>
          <a:p>
            <a:pPr algn="ctr" marL="0" indent="0" lvl="0">
              <a:lnSpc>
                <a:spcPts val="2930"/>
              </a:lnSpc>
              <a:spcBef>
                <a:spcPct val="0"/>
              </a:spcBef>
            </a:pPr>
            <a:r>
              <a:rPr lang="en-US" b="true" sz="2093">
                <a:solidFill>
                  <a:srgbClr val="000000"/>
                </a:solidFill>
                <a:latin typeface="Poppins Bold"/>
                <a:ea typeface="Poppins Bold"/>
                <a:cs typeface="Poppins Bold"/>
                <a:sym typeface="Poppins Bold"/>
              </a:rPr>
              <a:t>The </a:t>
            </a:r>
            <a:r>
              <a:rPr lang="en-US" b="true" sz="2093" i="true">
                <a:solidFill>
                  <a:srgbClr val="000000"/>
                </a:solidFill>
                <a:latin typeface="Poppins Bold Italics"/>
                <a:ea typeface="Poppins Bold Italics"/>
                <a:cs typeface="Poppins Bold Italics"/>
                <a:sym typeface="Poppins Bold Italics"/>
              </a:rPr>
              <a:t>amount of hazardous waste generated in the Philippines in 2023</a:t>
            </a:r>
            <a:r>
              <a:rPr lang="en-US" b="true" sz="2093">
                <a:solidFill>
                  <a:srgbClr val="000000"/>
                </a:solidFill>
                <a:latin typeface="Poppins Bold"/>
                <a:ea typeface="Poppins Bold"/>
                <a:cs typeface="Poppins Bold"/>
                <a:sym typeface="Poppins Bold"/>
              </a:rPr>
              <a:t>, categorized by type depicts the waste category with the highest amount is </a:t>
            </a:r>
            <a:r>
              <a:rPr lang="en-US" b="true" sz="2093">
                <a:solidFill>
                  <a:srgbClr val="5CE1E6"/>
                </a:solidFill>
                <a:latin typeface="Poppins Bold"/>
                <a:ea typeface="Poppins Bold"/>
                <a:cs typeface="Poppins Bold"/>
                <a:sym typeface="Poppins Bold"/>
              </a:rPr>
              <a:t>Oil</a:t>
            </a:r>
            <a:r>
              <a:rPr lang="en-US" b="true" sz="2093">
                <a:solidFill>
                  <a:srgbClr val="000000"/>
                </a:solidFill>
                <a:latin typeface="Poppins Bold"/>
                <a:ea typeface="Poppins Bold"/>
                <a:cs typeface="Poppins Bold"/>
                <a:sym typeface="Poppins Bold"/>
              </a:rPr>
              <a:t>, with a total of 76,328.12 tons, followed by </a:t>
            </a:r>
            <a:r>
              <a:rPr lang="en-US" b="true" sz="2093">
                <a:solidFill>
                  <a:srgbClr val="00BF63"/>
                </a:solidFill>
                <a:latin typeface="Poppins Bold"/>
                <a:ea typeface="Poppins Bold"/>
                <a:cs typeface="Poppins Bold"/>
                <a:sym typeface="Poppins Bold"/>
              </a:rPr>
              <a:t>Miscellaneous Wastes </a:t>
            </a:r>
            <a:r>
              <a:rPr lang="en-US" b="true" sz="2093">
                <a:solidFill>
                  <a:srgbClr val="000000"/>
                </a:solidFill>
                <a:latin typeface="Poppins Bold"/>
                <a:ea typeface="Poppins Bold"/>
                <a:cs typeface="Poppins Bold"/>
                <a:sym typeface="Poppins Bold"/>
              </a:rPr>
              <a:t>(45,586.91 tons). The waste category with the lowest amount is </a:t>
            </a:r>
            <a:r>
              <a:rPr lang="en-US" b="true" sz="2093">
                <a:solidFill>
                  <a:srgbClr val="004AAD"/>
                </a:solidFill>
                <a:latin typeface="Poppins Bold"/>
                <a:ea typeface="Poppins Bold"/>
                <a:cs typeface="Poppins Bold"/>
                <a:sym typeface="Poppins Bold"/>
              </a:rPr>
              <a:t>Organic Chemicals</a:t>
            </a:r>
            <a:r>
              <a:rPr lang="en-US" b="true" sz="2093">
                <a:solidFill>
                  <a:srgbClr val="000000"/>
                </a:solidFill>
                <a:latin typeface="Poppins Bold"/>
                <a:ea typeface="Poppins Bold"/>
                <a:cs typeface="Poppins Bold"/>
                <a:sym typeface="Poppins Bold"/>
              </a:rPr>
              <a:t>, with only 619.05 tons. The data suggests that the majority of hazardous waste generated in the Philippines comes from</a:t>
            </a:r>
            <a:r>
              <a:rPr lang="en-US" b="true" sz="2093" u="sng">
                <a:solidFill>
                  <a:srgbClr val="000000"/>
                </a:solidFill>
                <a:latin typeface="Poppins Bold"/>
                <a:ea typeface="Poppins Bold"/>
                <a:cs typeface="Poppins Bold"/>
                <a:sym typeface="Poppins Bold"/>
              </a:rPr>
              <a:t> industrial activities</a:t>
            </a:r>
            <a:r>
              <a:rPr lang="en-US" b="true" sz="2093">
                <a:solidFill>
                  <a:srgbClr val="000000"/>
                </a:solidFill>
                <a:latin typeface="Poppins Bold"/>
                <a:ea typeface="Poppins Bold"/>
                <a:cs typeface="Poppins Bold"/>
                <a:sym typeface="Poppins Bold"/>
              </a:rPr>
              <a:t>, particularly those related to oil and gas extraction, manufacturing, and construction.</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315059"/>
            <a:ext cx="19077134" cy="4385535"/>
          </a:xfrm>
          <a:custGeom>
            <a:avLst/>
            <a:gdLst/>
            <a:ahLst/>
            <a:cxnLst/>
            <a:rect r="r" b="b" t="t" l="l"/>
            <a:pathLst>
              <a:path h="4385535" w="19077134">
                <a:moveTo>
                  <a:pt x="0" y="0"/>
                </a:moveTo>
                <a:lnTo>
                  <a:pt x="19077134" y="0"/>
                </a:lnTo>
                <a:lnTo>
                  <a:pt x="19077134" y="4385535"/>
                </a:lnTo>
                <a:lnTo>
                  <a:pt x="0" y="4385535"/>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6219"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65605"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4562570" y="-501237"/>
            <a:ext cx="9406070" cy="10143801"/>
          </a:xfrm>
          <a:custGeom>
            <a:avLst/>
            <a:gdLst/>
            <a:ahLst/>
            <a:cxnLst/>
            <a:rect r="r" b="b" t="t" l="l"/>
            <a:pathLst>
              <a:path h="10143801" w="9406070">
                <a:moveTo>
                  <a:pt x="9406070" y="0"/>
                </a:moveTo>
                <a:lnTo>
                  <a:pt x="0" y="0"/>
                </a:lnTo>
                <a:lnTo>
                  <a:pt x="0" y="10143801"/>
                </a:lnTo>
                <a:lnTo>
                  <a:pt x="9406070" y="10143801"/>
                </a:lnTo>
                <a:lnTo>
                  <a:pt x="940607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2609476" y="3574099"/>
            <a:ext cx="5498013" cy="4837257"/>
            <a:chOff x="0" y="0"/>
            <a:chExt cx="1148568" cy="1010532"/>
          </a:xfrm>
        </p:grpSpPr>
        <p:sp>
          <p:nvSpPr>
            <p:cNvPr name="Freeform 8" id="8"/>
            <p:cNvSpPr/>
            <p:nvPr/>
          </p:nvSpPr>
          <p:spPr>
            <a:xfrm flipH="false" flipV="false" rot="0">
              <a:off x="0" y="0"/>
              <a:ext cx="1148568" cy="1010532"/>
            </a:xfrm>
            <a:custGeom>
              <a:avLst/>
              <a:gdLst/>
              <a:ahLst/>
              <a:cxnLst/>
              <a:rect r="r" b="b" t="t" l="l"/>
              <a:pathLst>
                <a:path h="1010532" w="1148568">
                  <a:moveTo>
                    <a:pt x="42244" y="0"/>
                  </a:moveTo>
                  <a:lnTo>
                    <a:pt x="1106324" y="0"/>
                  </a:lnTo>
                  <a:cubicBezTo>
                    <a:pt x="1117527" y="0"/>
                    <a:pt x="1128272" y="4451"/>
                    <a:pt x="1136195" y="12373"/>
                  </a:cubicBezTo>
                  <a:cubicBezTo>
                    <a:pt x="1144117" y="20295"/>
                    <a:pt x="1148568" y="31040"/>
                    <a:pt x="1148568" y="42244"/>
                  </a:cubicBezTo>
                  <a:lnTo>
                    <a:pt x="1148568" y="968288"/>
                  </a:lnTo>
                  <a:cubicBezTo>
                    <a:pt x="1148568" y="991618"/>
                    <a:pt x="1129654" y="1010532"/>
                    <a:pt x="1106324" y="1010532"/>
                  </a:cubicBezTo>
                  <a:lnTo>
                    <a:pt x="42244" y="1010532"/>
                  </a:lnTo>
                  <a:cubicBezTo>
                    <a:pt x="31040" y="1010532"/>
                    <a:pt x="20295" y="1006081"/>
                    <a:pt x="12373" y="998159"/>
                  </a:cubicBezTo>
                  <a:cubicBezTo>
                    <a:pt x="4451" y="990236"/>
                    <a:pt x="0" y="979491"/>
                    <a:pt x="0" y="968288"/>
                  </a:cubicBezTo>
                  <a:lnTo>
                    <a:pt x="0" y="42244"/>
                  </a:lnTo>
                  <a:cubicBezTo>
                    <a:pt x="0" y="18913"/>
                    <a:pt x="18913" y="0"/>
                    <a:pt x="42244" y="0"/>
                  </a:cubicBezTo>
                  <a:close/>
                </a:path>
              </a:pathLst>
            </a:custGeom>
            <a:solidFill>
              <a:srgbClr val="FFFFFF"/>
            </a:solidFill>
          </p:spPr>
        </p:sp>
        <p:sp>
          <p:nvSpPr>
            <p:cNvPr name="TextBox 9" id="9"/>
            <p:cNvSpPr txBox="true"/>
            <p:nvPr/>
          </p:nvSpPr>
          <p:spPr>
            <a:xfrm>
              <a:off x="0" y="-47625"/>
              <a:ext cx="1148568" cy="1058157"/>
            </a:xfrm>
            <a:prstGeom prst="rect">
              <a:avLst/>
            </a:prstGeom>
          </p:spPr>
          <p:txBody>
            <a:bodyPr anchor="ctr" rtlCol="false" tIns="58105" lIns="58105" bIns="58105" rIns="58105"/>
            <a:lstStyle/>
            <a:p>
              <a:pPr algn="ctr">
                <a:lnSpc>
                  <a:spcPts val="3499"/>
                </a:lnSpc>
              </a:pPr>
            </a:p>
          </p:txBody>
        </p:sp>
      </p:grpSp>
      <p:sp>
        <p:nvSpPr>
          <p:cNvPr name="Freeform 10" id="10"/>
          <p:cNvSpPr/>
          <p:nvPr/>
        </p:nvSpPr>
        <p:spPr>
          <a:xfrm flipH="true" flipV="false" rot="0">
            <a:off x="9910546" y="504015"/>
            <a:ext cx="6613676" cy="3364708"/>
          </a:xfrm>
          <a:custGeom>
            <a:avLst/>
            <a:gdLst/>
            <a:ahLst/>
            <a:cxnLst/>
            <a:rect r="r" b="b" t="t" l="l"/>
            <a:pathLst>
              <a:path h="3364708" w="6613676">
                <a:moveTo>
                  <a:pt x="6613676" y="0"/>
                </a:moveTo>
                <a:lnTo>
                  <a:pt x="0" y="0"/>
                </a:lnTo>
                <a:lnTo>
                  <a:pt x="0" y="3364708"/>
                </a:lnTo>
                <a:lnTo>
                  <a:pt x="6613676" y="3364708"/>
                </a:lnTo>
                <a:lnTo>
                  <a:pt x="6613676" y="0"/>
                </a:lnTo>
                <a:close/>
              </a:path>
            </a:pathLst>
          </a:custGeom>
          <a:blipFill>
            <a:blip r:embed="rId9">
              <a:alphaModFix amt="75000"/>
            </a:blip>
            <a:stretch>
              <a:fillRect l="-29229" t="0" r="0" b="-29229"/>
            </a:stretch>
          </a:blipFill>
        </p:spPr>
      </p:sp>
      <p:sp>
        <p:nvSpPr>
          <p:cNvPr name="Freeform 11" id="11"/>
          <p:cNvSpPr/>
          <p:nvPr/>
        </p:nvSpPr>
        <p:spPr>
          <a:xfrm flipH="false" flipV="false" rot="0">
            <a:off x="-834939" y="290116"/>
            <a:ext cx="3727279" cy="1896253"/>
          </a:xfrm>
          <a:custGeom>
            <a:avLst/>
            <a:gdLst/>
            <a:ahLst/>
            <a:cxnLst/>
            <a:rect r="r" b="b" t="t" l="l"/>
            <a:pathLst>
              <a:path h="1896253" w="3727279">
                <a:moveTo>
                  <a:pt x="0" y="0"/>
                </a:moveTo>
                <a:lnTo>
                  <a:pt x="3727278" y="0"/>
                </a:lnTo>
                <a:lnTo>
                  <a:pt x="3727278" y="1896253"/>
                </a:lnTo>
                <a:lnTo>
                  <a:pt x="0" y="1896253"/>
                </a:lnTo>
                <a:lnTo>
                  <a:pt x="0" y="0"/>
                </a:lnTo>
                <a:close/>
              </a:path>
            </a:pathLst>
          </a:custGeom>
          <a:blipFill>
            <a:blip r:embed="rId9">
              <a:alphaModFix amt="75000"/>
            </a:blip>
            <a:stretch>
              <a:fillRect l="0" t="0" r="0" b="0"/>
            </a:stretch>
          </a:blipFill>
        </p:spPr>
      </p:sp>
      <p:sp>
        <p:nvSpPr>
          <p:cNvPr name="Freeform 12" id="12"/>
          <p:cNvSpPr/>
          <p:nvPr/>
        </p:nvSpPr>
        <p:spPr>
          <a:xfrm flipH="true" flipV="false" rot="0">
            <a:off x="-394567" y="8926278"/>
            <a:ext cx="2764615" cy="1432573"/>
          </a:xfrm>
          <a:custGeom>
            <a:avLst/>
            <a:gdLst/>
            <a:ahLst/>
            <a:cxnLst/>
            <a:rect r="r" b="b" t="t" l="l"/>
            <a:pathLst>
              <a:path h="1432573" w="2764615">
                <a:moveTo>
                  <a:pt x="2764615" y="0"/>
                </a:moveTo>
                <a:lnTo>
                  <a:pt x="0" y="0"/>
                </a:lnTo>
                <a:lnTo>
                  <a:pt x="0" y="1432573"/>
                </a:lnTo>
                <a:lnTo>
                  <a:pt x="2764615" y="1432573"/>
                </a:lnTo>
                <a:lnTo>
                  <a:pt x="2764615"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163660" y="8585441"/>
            <a:ext cx="7053724" cy="1844770"/>
          </a:xfrm>
          <a:custGeom>
            <a:avLst/>
            <a:gdLst/>
            <a:ahLst/>
            <a:cxnLst/>
            <a:rect r="r" b="b" t="t" l="l"/>
            <a:pathLst>
              <a:path h="1844770" w="7053724">
                <a:moveTo>
                  <a:pt x="0" y="0"/>
                </a:moveTo>
                <a:lnTo>
                  <a:pt x="7053724" y="0"/>
                </a:lnTo>
                <a:lnTo>
                  <a:pt x="7053724" y="1844770"/>
                </a:lnTo>
                <a:lnTo>
                  <a:pt x="0" y="1844770"/>
                </a:lnTo>
                <a:lnTo>
                  <a:pt x="0" y="0"/>
                </a:lnTo>
                <a:close/>
              </a:path>
            </a:pathLst>
          </a:custGeom>
          <a:blipFill>
            <a:blip r:embed="rId12"/>
            <a:stretch>
              <a:fillRect l="0" t="0" r="0" b="0"/>
            </a:stretch>
          </a:blipFill>
        </p:spPr>
      </p:sp>
      <p:sp>
        <p:nvSpPr>
          <p:cNvPr name="Freeform 14" id="14"/>
          <p:cNvSpPr/>
          <p:nvPr/>
        </p:nvSpPr>
        <p:spPr>
          <a:xfrm flipH="false" flipV="false" rot="0">
            <a:off x="493348" y="1714867"/>
            <a:ext cx="11938615" cy="8197849"/>
          </a:xfrm>
          <a:custGeom>
            <a:avLst/>
            <a:gdLst/>
            <a:ahLst/>
            <a:cxnLst/>
            <a:rect r="r" b="b" t="t" l="l"/>
            <a:pathLst>
              <a:path h="8197849" w="11938615">
                <a:moveTo>
                  <a:pt x="0" y="0"/>
                </a:moveTo>
                <a:lnTo>
                  <a:pt x="11938614" y="0"/>
                </a:lnTo>
                <a:lnTo>
                  <a:pt x="11938614" y="8197849"/>
                </a:lnTo>
                <a:lnTo>
                  <a:pt x="0" y="8197849"/>
                </a:lnTo>
                <a:lnTo>
                  <a:pt x="0" y="0"/>
                </a:lnTo>
                <a:close/>
              </a:path>
            </a:pathLst>
          </a:custGeom>
          <a:blipFill>
            <a:blip r:embed="rId13"/>
            <a:stretch>
              <a:fillRect l="0" t="0" r="0" b="0"/>
            </a:stretch>
          </a:blipFill>
        </p:spPr>
      </p:sp>
      <p:sp>
        <p:nvSpPr>
          <p:cNvPr name="TextBox 15" id="15"/>
          <p:cNvSpPr txBox="true"/>
          <p:nvPr/>
        </p:nvSpPr>
        <p:spPr>
          <a:xfrm rot="0">
            <a:off x="493348" y="780704"/>
            <a:ext cx="17794652" cy="849045"/>
          </a:xfrm>
          <a:prstGeom prst="rect">
            <a:avLst/>
          </a:prstGeom>
        </p:spPr>
        <p:txBody>
          <a:bodyPr anchor="t" rtlCol="false" tIns="0" lIns="0" bIns="0" rIns="0">
            <a:spAutoFit/>
          </a:bodyPr>
          <a:lstStyle/>
          <a:p>
            <a:pPr algn="ctr" marL="0" indent="0" lvl="0">
              <a:lnSpc>
                <a:spcPts val="5897"/>
              </a:lnSpc>
              <a:spcBef>
                <a:spcPct val="0"/>
              </a:spcBef>
            </a:pPr>
            <a:r>
              <a:rPr lang="en-US" sz="5173">
                <a:solidFill>
                  <a:srgbClr val="000000"/>
                </a:solidFill>
                <a:latin typeface="Funtastic"/>
                <a:ea typeface="Funtastic"/>
                <a:cs typeface="Funtastic"/>
                <a:sym typeface="Funtastic"/>
              </a:rPr>
              <a:t>PERCENTAGE OF HARZARDOUS WASTE BY TYPE (2023)</a:t>
            </a:r>
          </a:p>
        </p:txBody>
      </p:sp>
      <p:sp>
        <p:nvSpPr>
          <p:cNvPr name="TextBox 16" id="16"/>
          <p:cNvSpPr txBox="true"/>
          <p:nvPr/>
        </p:nvSpPr>
        <p:spPr>
          <a:xfrm rot="0">
            <a:off x="12609476" y="3710268"/>
            <a:ext cx="5498013" cy="4498244"/>
          </a:xfrm>
          <a:prstGeom prst="rect">
            <a:avLst/>
          </a:prstGeom>
        </p:spPr>
        <p:txBody>
          <a:bodyPr anchor="t" rtlCol="false" tIns="0" lIns="0" bIns="0" rIns="0">
            <a:spAutoFit/>
          </a:bodyPr>
          <a:lstStyle/>
          <a:p>
            <a:pPr algn="ctr" marL="0" indent="0" lvl="0">
              <a:lnSpc>
                <a:spcPts val="3000"/>
              </a:lnSpc>
              <a:spcBef>
                <a:spcPct val="0"/>
              </a:spcBef>
            </a:pPr>
            <a:r>
              <a:rPr lang="en-US" b="true" sz="2143">
                <a:solidFill>
                  <a:srgbClr val="000000"/>
                </a:solidFill>
                <a:latin typeface="Poppins Bold"/>
                <a:ea typeface="Poppins Bold"/>
                <a:cs typeface="Poppins Bold"/>
                <a:sym typeface="Poppins Bold"/>
              </a:rPr>
              <a:t>The </a:t>
            </a:r>
            <a:r>
              <a:rPr lang="en-US" b="true" sz="2143" i="true">
                <a:solidFill>
                  <a:srgbClr val="000000"/>
                </a:solidFill>
                <a:latin typeface="Poppins Bold Italics"/>
                <a:ea typeface="Poppins Bold Italics"/>
                <a:cs typeface="Poppins Bold Italics"/>
                <a:sym typeface="Poppins Bold Italics"/>
              </a:rPr>
              <a:t>hazardous waste percentage</a:t>
            </a:r>
            <a:r>
              <a:rPr lang="en-US" b="true" sz="2143">
                <a:solidFill>
                  <a:srgbClr val="000000"/>
                </a:solidFill>
                <a:latin typeface="Poppins Bold"/>
                <a:ea typeface="Poppins Bold"/>
                <a:cs typeface="Poppins Bold"/>
                <a:sym typeface="Poppins Bold"/>
              </a:rPr>
              <a:t> breakdown reveals that </a:t>
            </a:r>
            <a:r>
              <a:rPr lang="en-US" b="true" sz="2143">
                <a:solidFill>
                  <a:srgbClr val="8C52FF"/>
                </a:solidFill>
                <a:latin typeface="Poppins Bold"/>
                <a:ea typeface="Poppins Bold"/>
                <a:cs typeface="Poppins Bold"/>
                <a:sym typeface="Poppins Bold"/>
              </a:rPr>
              <a:t>Oil </a:t>
            </a:r>
            <a:r>
              <a:rPr lang="en-US" b="true" sz="2143">
                <a:solidFill>
                  <a:srgbClr val="000000"/>
                </a:solidFill>
                <a:latin typeface="Poppins Bold"/>
                <a:ea typeface="Poppins Bold"/>
                <a:cs typeface="Poppins Bold"/>
                <a:sym typeface="Poppins Bold"/>
              </a:rPr>
              <a:t>constitutes the highest percentage of hazardous waste generated, accounting for 32.0%. Conversely, </a:t>
            </a:r>
            <a:r>
              <a:rPr lang="en-US" b="true" sz="2143">
                <a:solidFill>
                  <a:srgbClr val="B5805D"/>
                </a:solidFill>
                <a:latin typeface="Poppins Bold"/>
                <a:ea typeface="Poppins Bold"/>
                <a:cs typeface="Poppins Bold"/>
                <a:sym typeface="Poppins Bold"/>
              </a:rPr>
              <a:t>Organic chemicals</a:t>
            </a:r>
            <a:r>
              <a:rPr lang="en-US" b="true" sz="2143">
                <a:solidFill>
                  <a:srgbClr val="000000"/>
                </a:solidFill>
                <a:latin typeface="Poppins Bold"/>
                <a:ea typeface="Poppins Bold"/>
                <a:cs typeface="Poppins Bold"/>
                <a:sym typeface="Poppins Bold"/>
              </a:rPr>
              <a:t>, </a:t>
            </a:r>
            <a:r>
              <a:rPr lang="en-US" b="true" sz="2143">
                <a:solidFill>
                  <a:srgbClr val="5271FF"/>
                </a:solidFill>
                <a:latin typeface="Poppins Bold"/>
                <a:ea typeface="Poppins Bold"/>
                <a:cs typeface="Poppins Bold"/>
                <a:sym typeface="Poppins Bold"/>
              </a:rPr>
              <a:t>Wastes with cyanide</a:t>
            </a:r>
            <a:r>
              <a:rPr lang="en-US" b="true" sz="2143">
                <a:solidFill>
                  <a:srgbClr val="000000"/>
                </a:solidFill>
                <a:latin typeface="Poppins Bold"/>
                <a:ea typeface="Poppins Bold"/>
                <a:cs typeface="Poppins Bold"/>
                <a:sym typeface="Poppins Bold"/>
              </a:rPr>
              <a:t>, and </a:t>
            </a:r>
            <a:r>
              <a:rPr lang="en-US" b="true" sz="2143">
                <a:solidFill>
                  <a:srgbClr val="00BF63"/>
                </a:solidFill>
                <a:latin typeface="Poppins Bold"/>
                <a:ea typeface="Poppins Bold"/>
                <a:cs typeface="Poppins Bold"/>
                <a:sym typeface="Poppins Bold"/>
              </a:rPr>
              <a:t>Reactive chemical wastes</a:t>
            </a:r>
            <a:r>
              <a:rPr lang="en-US" b="true" sz="2143">
                <a:solidFill>
                  <a:srgbClr val="000000"/>
                </a:solidFill>
                <a:latin typeface="Poppins Bold"/>
                <a:ea typeface="Poppins Bold"/>
                <a:cs typeface="Poppins Bold"/>
                <a:sym typeface="Poppins Bold"/>
              </a:rPr>
              <a:t> represent the lowest percentage, contributing only 0.3% to the total hazardous waste. This data is </a:t>
            </a:r>
            <a:r>
              <a:rPr lang="en-US" b="true" sz="2143" u="sng">
                <a:solidFill>
                  <a:srgbClr val="000000"/>
                </a:solidFill>
                <a:latin typeface="Poppins Bold"/>
                <a:ea typeface="Poppins Bold"/>
                <a:cs typeface="Poppins Bold"/>
                <a:sym typeface="Poppins Bold"/>
              </a:rPr>
              <a:t>consistent </a:t>
            </a:r>
            <a:r>
              <a:rPr lang="en-US" b="true" sz="2143">
                <a:solidFill>
                  <a:srgbClr val="000000"/>
                </a:solidFill>
                <a:latin typeface="Poppins Bold"/>
                <a:ea typeface="Poppins Bold"/>
                <a:cs typeface="Poppins Bold"/>
                <a:sym typeface="Poppins Bold"/>
              </a:rPr>
              <a:t>with the information presented in the accompanying bar graph.</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315059"/>
            <a:ext cx="19077134" cy="4385535"/>
          </a:xfrm>
          <a:custGeom>
            <a:avLst/>
            <a:gdLst/>
            <a:ahLst/>
            <a:cxnLst/>
            <a:rect r="r" b="b" t="t" l="l"/>
            <a:pathLst>
              <a:path h="4385535" w="19077134">
                <a:moveTo>
                  <a:pt x="0" y="0"/>
                </a:moveTo>
                <a:lnTo>
                  <a:pt x="19077134" y="0"/>
                </a:lnTo>
                <a:lnTo>
                  <a:pt x="19077134" y="4385535"/>
                </a:lnTo>
                <a:lnTo>
                  <a:pt x="0" y="4385535"/>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6219"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65605"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52699" y="2804212"/>
            <a:ext cx="5892580" cy="5298125"/>
            <a:chOff x="0" y="0"/>
            <a:chExt cx="1230995" cy="1106810"/>
          </a:xfrm>
        </p:grpSpPr>
        <p:sp>
          <p:nvSpPr>
            <p:cNvPr name="Freeform 7" id="7"/>
            <p:cNvSpPr/>
            <p:nvPr/>
          </p:nvSpPr>
          <p:spPr>
            <a:xfrm flipH="false" flipV="false" rot="0">
              <a:off x="0" y="0"/>
              <a:ext cx="1230995" cy="1106810"/>
            </a:xfrm>
            <a:custGeom>
              <a:avLst/>
              <a:gdLst/>
              <a:ahLst/>
              <a:cxnLst/>
              <a:rect r="r" b="b" t="t" l="l"/>
              <a:pathLst>
                <a:path h="1106810" w="1230995">
                  <a:moveTo>
                    <a:pt x="39415" y="0"/>
                  </a:moveTo>
                  <a:lnTo>
                    <a:pt x="1191580" y="0"/>
                  </a:lnTo>
                  <a:cubicBezTo>
                    <a:pt x="1202033" y="0"/>
                    <a:pt x="1212059" y="4153"/>
                    <a:pt x="1219450" y="11544"/>
                  </a:cubicBezTo>
                  <a:cubicBezTo>
                    <a:pt x="1226842" y="18936"/>
                    <a:pt x="1230995" y="28962"/>
                    <a:pt x="1230995" y="39415"/>
                  </a:cubicBezTo>
                  <a:lnTo>
                    <a:pt x="1230995" y="1067394"/>
                  </a:lnTo>
                  <a:cubicBezTo>
                    <a:pt x="1230995" y="1089163"/>
                    <a:pt x="1213348" y="1106810"/>
                    <a:pt x="1191580" y="1106810"/>
                  </a:cubicBezTo>
                  <a:lnTo>
                    <a:pt x="39415" y="1106810"/>
                  </a:lnTo>
                  <a:cubicBezTo>
                    <a:pt x="17647" y="1106810"/>
                    <a:pt x="0" y="1089163"/>
                    <a:pt x="0" y="1067394"/>
                  </a:cubicBezTo>
                  <a:lnTo>
                    <a:pt x="0" y="39415"/>
                  </a:lnTo>
                  <a:cubicBezTo>
                    <a:pt x="0" y="17647"/>
                    <a:pt x="17647" y="0"/>
                    <a:pt x="39415" y="0"/>
                  </a:cubicBezTo>
                  <a:close/>
                </a:path>
              </a:pathLst>
            </a:custGeom>
            <a:solidFill>
              <a:srgbClr val="FFFFFF"/>
            </a:solidFill>
          </p:spPr>
        </p:sp>
        <p:sp>
          <p:nvSpPr>
            <p:cNvPr name="TextBox 8" id="8"/>
            <p:cNvSpPr txBox="true"/>
            <p:nvPr/>
          </p:nvSpPr>
          <p:spPr>
            <a:xfrm>
              <a:off x="0" y="-47625"/>
              <a:ext cx="1230995" cy="1154435"/>
            </a:xfrm>
            <a:prstGeom prst="rect">
              <a:avLst/>
            </a:prstGeom>
          </p:spPr>
          <p:txBody>
            <a:bodyPr anchor="ctr" rtlCol="false" tIns="58105" lIns="58105" bIns="58105" rIns="58105"/>
            <a:lstStyle/>
            <a:p>
              <a:pPr algn="ctr">
                <a:lnSpc>
                  <a:spcPts val="3499"/>
                </a:lnSpc>
              </a:pPr>
            </a:p>
          </p:txBody>
        </p:sp>
      </p:grpSp>
      <p:sp>
        <p:nvSpPr>
          <p:cNvPr name="Freeform 9" id="9"/>
          <p:cNvSpPr/>
          <p:nvPr/>
        </p:nvSpPr>
        <p:spPr>
          <a:xfrm flipH="true" flipV="false" rot="0">
            <a:off x="9910546" y="504015"/>
            <a:ext cx="6613676" cy="3364708"/>
          </a:xfrm>
          <a:custGeom>
            <a:avLst/>
            <a:gdLst/>
            <a:ahLst/>
            <a:cxnLst/>
            <a:rect r="r" b="b" t="t" l="l"/>
            <a:pathLst>
              <a:path h="3364708" w="6613676">
                <a:moveTo>
                  <a:pt x="6613676" y="0"/>
                </a:moveTo>
                <a:lnTo>
                  <a:pt x="0" y="0"/>
                </a:lnTo>
                <a:lnTo>
                  <a:pt x="0" y="3364708"/>
                </a:lnTo>
                <a:lnTo>
                  <a:pt x="6613676" y="3364708"/>
                </a:lnTo>
                <a:lnTo>
                  <a:pt x="6613676" y="0"/>
                </a:lnTo>
                <a:close/>
              </a:path>
            </a:pathLst>
          </a:custGeom>
          <a:blipFill>
            <a:blip r:embed="rId7">
              <a:alphaModFix amt="75000"/>
            </a:blip>
            <a:stretch>
              <a:fillRect l="-29229" t="0" r="0" b="-29229"/>
            </a:stretch>
          </a:blipFill>
        </p:spPr>
      </p:sp>
      <p:sp>
        <p:nvSpPr>
          <p:cNvPr name="Freeform 10" id="10"/>
          <p:cNvSpPr/>
          <p:nvPr/>
        </p:nvSpPr>
        <p:spPr>
          <a:xfrm flipH="true" flipV="false" rot="0">
            <a:off x="13821956" y="-635974"/>
            <a:ext cx="9406070" cy="10143801"/>
          </a:xfrm>
          <a:custGeom>
            <a:avLst/>
            <a:gdLst/>
            <a:ahLst/>
            <a:cxnLst/>
            <a:rect r="r" b="b" t="t" l="l"/>
            <a:pathLst>
              <a:path h="10143801" w="9406070">
                <a:moveTo>
                  <a:pt x="9406070" y="0"/>
                </a:moveTo>
                <a:lnTo>
                  <a:pt x="0" y="0"/>
                </a:lnTo>
                <a:lnTo>
                  <a:pt x="0" y="10143800"/>
                </a:lnTo>
                <a:lnTo>
                  <a:pt x="9406070" y="10143800"/>
                </a:lnTo>
                <a:lnTo>
                  <a:pt x="940607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834939" y="290116"/>
            <a:ext cx="3727279" cy="1896253"/>
          </a:xfrm>
          <a:custGeom>
            <a:avLst/>
            <a:gdLst/>
            <a:ahLst/>
            <a:cxnLst/>
            <a:rect r="r" b="b" t="t" l="l"/>
            <a:pathLst>
              <a:path h="1896253" w="3727279">
                <a:moveTo>
                  <a:pt x="0" y="0"/>
                </a:moveTo>
                <a:lnTo>
                  <a:pt x="3727278" y="0"/>
                </a:lnTo>
                <a:lnTo>
                  <a:pt x="3727278" y="1896253"/>
                </a:lnTo>
                <a:lnTo>
                  <a:pt x="0" y="1896253"/>
                </a:lnTo>
                <a:lnTo>
                  <a:pt x="0" y="0"/>
                </a:lnTo>
                <a:close/>
              </a:path>
            </a:pathLst>
          </a:custGeom>
          <a:blipFill>
            <a:blip r:embed="rId7">
              <a:alphaModFix amt="75000"/>
            </a:blip>
            <a:stretch>
              <a:fillRect l="0" t="0" r="0" b="0"/>
            </a:stretch>
          </a:blipFill>
        </p:spPr>
      </p:sp>
      <p:sp>
        <p:nvSpPr>
          <p:cNvPr name="Freeform 12" id="12"/>
          <p:cNvSpPr/>
          <p:nvPr/>
        </p:nvSpPr>
        <p:spPr>
          <a:xfrm flipH="true" flipV="false" rot="0">
            <a:off x="15876993" y="8971573"/>
            <a:ext cx="2764615" cy="1432573"/>
          </a:xfrm>
          <a:custGeom>
            <a:avLst/>
            <a:gdLst/>
            <a:ahLst/>
            <a:cxnLst/>
            <a:rect r="r" b="b" t="t" l="l"/>
            <a:pathLst>
              <a:path h="1432573" w="2764615">
                <a:moveTo>
                  <a:pt x="2764614" y="0"/>
                </a:moveTo>
                <a:lnTo>
                  <a:pt x="0" y="0"/>
                </a:lnTo>
                <a:lnTo>
                  <a:pt x="0" y="1432573"/>
                </a:lnTo>
                <a:lnTo>
                  <a:pt x="2764614" y="1432573"/>
                </a:lnTo>
                <a:lnTo>
                  <a:pt x="276461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634523" y="8723923"/>
            <a:ext cx="7053724" cy="1844770"/>
          </a:xfrm>
          <a:custGeom>
            <a:avLst/>
            <a:gdLst/>
            <a:ahLst/>
            <a:cxnLst/>
            <a:rect r="r" b="b" t="t" l="l"/>
            <a:pathLst>
              <a:path h="1844770" w="7053724">
                <a:moveTo>
                  <a:pt x="0" y="0"/>
                </a:moveTo>
                <a:lnTo>
                  <a:pt x="7053725" y="0"/>
                </a:lnTo>
                <a:lnTo>
                  <a:pt x="7053725" y="1844770"/>
                </a:lnTo>
                <a:lnTo>
                  <a:pt x="0" y="1844770"/>
                </a:lnTo>
                <a:lnTo>
                  <a:pt x="0" y="0"/>
                </a:lnTo>
                <a:close/>
              </a:path>
            </a:pathLst>
          </a:custGeom>
          <a:blipFill>
            <a:blip r:embed="rId12"/>
            <a:stretch>
              <a:fillRect l="0" t="0" r="0" b="0"/>
            </a:stretch>
          </a:blipFill>
        </p:spPr>
      </p:sp>
      <p:sp>
        <p:nvSpPr>
          <p:cNvPr name="Freeform 14" id="14"/>
          <p:cNvSpPr/>
          <p:nvPr/>
        </p:nvSpPr>
        <p:spPr>
          <a:xfrm flipH="false" flipV="false" rot="0">
            <a:off x="6160777" y="2458850"/>
            <a:ext cx="11977696" cy="5988848"/>
          </a:xfrm>
          <a:custGeom>
            <a:avLst/>
            <a:gdLst/>
            <a:ahLst/>
            <a:cxnLst/>
            <a:rect r="r" b="b" t="t" l="l"/>
            <a:pathLst>
              <a:path h="5988848" w="11977696">
                <a:moveTo>
                  <a:pt x="0" y="0"/>
                </a:moveTo>
                <a:lnTo>
                  <a:pt x="11977696" y="0"/>
                </a:lnTo>
                <a:lnTo>
                  <a:pt x="11977696" y="5988848"/>
                </a:lnTo>
                <a:lnTo>
                  <a:pt x="0" y="5988848"/>
                </a:lnTo>
                <a:lnTo>
                  <a:pt x="0" y="0"/>
                </a:lnTo>
                <a:close/>
              </a:path>
            </a:pathLst>
          </a:custGeom>
          <a:blipFill>
            <a:blip r:embed="rId13"/>
            <a:stretch>
              <a:fillRect l="0" t="0" r="0" b="0"/>
            </a:stretch>
          </a:blipFill>
        </p:spPr>
      </p:sp>
      <p:sp>
        <p:nvSpPr>
          <p:cNvPr name="TextBox 15" id="15"/>
          <p:cNvSpPr txBox="true"/>
          <p:nvPr/>
        </p:nvSpPr>
        <p:spPr>
          <a:xfrm rot="0">
            <a:off x="230960" y="1171568"/>
            <a:ext cx="18069291" cy="761313"/>
          </a:xfrm>
          <a:prstGeom prst="rect">
            <a:avLst/>
          </a:prstGeom>
        </p:spPr>
        <p:txBody>
          <a:bodyPr anchor="t" rtlCol="false" tIns="0" lIns="0" bIns="0" rIns="0">
            <a:spAutoFit/>
          </a:bodyPr>
          <a:lstStyle/>
          <a:p>
            <a:pPr algn="l" marL="0" indent="0" lvl="0">
              <a:lnSpc>
                <a:spcPts val="5240"/>
              </a:lnSpc>
              <a:spcBef>
                <a:spcPct val="0"/>
              </a:spcBef>
            </a:pPr>
            <a:r>
              <a:rPr lang="en-US" sz="4596">
                <a:solidFill>
                  <a:srgbClr val="000000"/>
                </a:solidFill>
                <a:latin typeface="Funtastic"/>
                <a:ea typeface="Funtastic"/>
                <a:cs typeface="Funtastic"/>
                <a:sym typeface="Funtastic"/>
              </a:rPr>
              <a:t>TOTAL HAZARDOUS WASTE BY REGION IN THE PHILIPPINES (2023)</a:t>
            </a:r>
          </a:p>
        </p:txBody>
      </p:sp>
      <p:sp>
        <p:nvSpPr>
          <p:cNvPr name="TextBox 16" id="16"/>
          <p:cNvSpPr txBox="true"/>
          <p:nvPr/>
        </p:nvSpPr>
        <p:spPr>
          <a:xfrm rot="0">
            <a:off x="298762" y="3000841"/>
            <a:ext cx="5600454" cy="4809429"/>
          </a:xfrm>
          <a:prstGeom prst="rect">
            <a:avLst/>
          </a:prstGeom>
        </p:spPr>
        <p:txBody>
          <a:bodyPr anchor="t" rtlCol="false" tIns="0" lIns="0" bIns="0" rIns="0">
            <a:spAutoFit/>
          </a:bodyPr>
          <a:lstStyle/>
          <a:p>
            <a:pPr algn="ctr" marL="0" indent="0" lvl="0">
              <a:lnSpc>
                <a:spcPts val="3188"/>
              </a:lnSpc>
              <a:spcBef>
                <a:spcPct val="0"/>
              </a:spcBef>
            </a:pPr>
            <a:r>
              <a:rPr lang="en-US" b="true" sz="2277">
                <a:solidFill>
                  <a:srgbClr val="000000"/>
                </a:solidFill>
                <a:latin typeface="Poppins Bold"/>
                <a:ea typeface="Poppins Bold"/>
                <a:cs typeface="Poppins Bold"/>
                <a:sym typeface="Poppins Bold"/>
              </a:rPr>
              <a:t>The </a:t>
            </a:r>
            <a:r>
              <a:rPr lang="en-US" b="true" sz="2277" i="true">
                <a:solidFill>
                  <a:srgbClr val="000000"/>
                </a:solidFill>
                <a:latin typeface="Poppins Bold Italics"/>
                <a:ea typeface="Poppins Bold Italics"/>
                <a:cs typeface="Poppins Bold Italics"/>
                <a:sym typeface="Poppins Bold Italics"/>
              </a:rPr>
              <a:t>highest amount of hazardous waste </a:t>
            </a:r>
            <a:r>
              <a:rPr lang="en-US" b="true" sz="2277">
                <a:solidFill>
                  <a:srgbClr val="000000"/>
                </a:solidFill>
                <a:latin typeface="Poppins Bold"/>
                <a:ea typeface="Poppins Bold"/>
                <a:cs typeface="Poppins Bold"/>
                <a:sym typeface="Poppins Bold"/>
              </a:rPr>
              <a:t>is found in </a:t>
            </a:r>
            <a:r>
              <a:rPr lang="en-US" b="true" sz="2277">
                <a:solidFill>
                  <a:srgbClr val="DD4629"/>
                </a:solidFill>
                <a:latin typeface="Poppins Bold"/>
                <a:ea typeface="Poppins Bold"/>
                <a:cs typeface="Poppins Bold"/>
                <a:sym typeface="Poppins Bold"/>
              </a:rPr>
              <a:t>Region IV-A (CALABARZON),</a:t>
            </a:r>
            <a:r>
              <a:rPr lang="en-US" b="true" sz="2277">
                <a:solidFill>
                  <a:srgbClr val="000000"/>
                </a:solidFill>
                <a:latin typeface="Poppins Bold"/>
                <a:ea typeface="Poppins Bold"/>
                <a:cs typeface="Poppins Bold"/>
                <a:sym typeface="Poppins Bold"/>
              </a:rPr>
              <a:t> with a total of 111612.97 tons. This is significantly higher than other regions. The lowest amount of hazardous waste is found in </a:t>
            </a:r>
            <a:r>
              <a:rPr lang="en-US" b="true" sz="2277">
                <a:solidFill>
                  <a:srgbClr val="00BF63"/>
                </a:solidFill>
                <a:latin typeface="Poppins Bold"/>
                <a:ea typeface="Poppins Bold"/>
                <a:cs typeface="Poppins Bold"/>
                <a:sym typeface="Poppins Bold"/>
              </a:rPr>
              <a:t>Region X (Northern Mindanao)</a:t>
            </a:r>
            <a:r>
              <a:rPr lang="en-US" b="true" sz="2277">
                <a:solidFill>
                  <a:srgbClr val="000000"/>
                </a:solidFill>
                <a:latin typeface="Poppins Bold"/>
                <a:ea typeface="Poppins Bold"/>
                <a:cs typeface="Poppins Bold"/>
                <a:sym typeface="Poppins Bold"/>
              </a:rPr>
              <a:t>, with a total of 402.27 tons. This indicates a </a:t>
            </a:r>
            <a:r>
              <a:rPr lang="en-US" b="true" sz="2277" u="sng">
                <a:solidFill>
                  <a:srgbClr val="000000"/>
                </a:solidFill>
                <a:latin typeface="Poppins Bold"/>
                <a:ea typeface="Poppins Bold"/>
                <a:cs typeface="Poppins Bold"/>
                <a:sym typeface="Poppins Bold"/>
              </a:rPr>
              <a:t>considerable disparity in the generation and management</a:t>
            </a:r>
            <a:r>
              <a:rPr lang="en-US" b="true" sz="2277">
                <a:solidFill>
                  <a:srgbClr val="000000"/>
                </a:solidFill>
                <a:latin typeface="Poppins Bold"/>
                <a:ea typeface="Poppins Bold"/>
                <a:cs typeface="Poppins Bold"/>
                <a:sym typeface="Poppins Bold"/>
              </a:rPr>
              <a:t> of hazardous waste across the different regions.</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315059"/>
            <a:ext cx="19077134" cy="4385535"/>
          </a:xfrm>
          <a:custGeom>
            <a:avLst/>
            <a:gdLst/>
            <a:ahLst/>
            <a:cxnLst/>
            <a:rect r="r" b="b" t="t" l="l"/>
            <a:pathLst>
              <a:path h="4385535" w="19077134">
                <a:moveTo>
                  <a:pt x="0" y="0"/>
                </a:moveTo>
                <a:lnTo>
                  <a:pt x="19077134" y="0"/>
                </a:lnTo>
                <a:lnTo>
                  <a:pt x="19077134" y="4385535"/>
                </a:lnTo>
                <a:lnTo>
                  <a:pt x="0" y="4385535"/>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6219"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65605"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3821956" y="-635974"/>
            <a:ext cx="9406070" cy="10143801"/>
          </a:xfrm>
          <a:custGeom>
            <a:avLst/>
            <a:gdLst/>
            <a:ahLst/>
            <a:cxnLst/>
            <a:rect r="r" b="b" t="t" l="l"/>
            <a:pathLst>
              <a:path h="10143801" w="9406070">
                <a:moveTo>
                  <a:pt x="9406070" y="0"/>
                </a:moveTo>
                <a:lnTo>
                  <a:pt x="0" y="0"/>
                </a:lnTo>
                <a:lnTo>
                  <a:pt x="0" y="10143800"/>
                </a:lnTo>
                <a:lnTo>
                  <a:pt x="9406070" y="10143800"/>
                </a:lnTo>
                <a:lnTo>
                  <a:pt x="940607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9910546" y="504015"/>
            <a:ext cx="6613676" cy="3364708"/>
          </a:xfrm>
          <a:custGeom>
            <a:avLst/>
            <a:gdLst/>
            <a:ahLst/>
            <a:cxnLst/>
            <a:rect r="r" b="b" t="t" l="l"/>
            <a:pathLst>
              <a:path h="3364708" w="6613676">
                <a:moveTo>
                  <a:pt x="6613676" y="0"/>
                </a:moveTo>
                <a:lnTo>
                  <a:pt x="0" y="0"/>
                </a:lnTo>
                <a:lnTo>
                  <a:pt x="0" y="3364708"/>
                </a:lnTo>
                <a:lnTo>
                  <a:pt x="6613676" y="3364708"/>
                </a:lnTo>
                <a:lnTo>
                  <a:pt x="6613676" y="0"/>
                </a:lnTo>
                <a:close/>
              </a:path>
            </a:pathLst>
          </a:custGeom>
          <a:blipFill>
            <a:blip r:embed="rId9">
              <a:alphaModFix amt="75000"/>
            </a:blip>
            <a:stretch>
              <a:fillRect l="-29229" t="0" r="0" b="-29229"/>
            </a:stretch>
          </a:blipFill>
        </p:spPr>
      </p:sp>
      <p:sp>
        <p:nvSpPr>
          <p:cNvPr name="Freeform 8" id="8"/>
          <p:cNvSpPr/>
          <p:nvPr/>
        </p:nvSpPr>
        <p:spPr>
          <a:xfrm flipH="false" flipV="false" rot="0">
            <a:off x="-834939" y="290116"/>
            <a:ext cx="3727279" cy="1896253"/>
          </a:xfrm>
          <a:custGeom>
            <a:avLst/>
            <a:gdLst/>
            <a:ahLst/>
            <a:cxnLst/>
            <a:rect r="r" b="b" t="t" l="l"/>
            <a:pathLst>
              <a:path h="1896253" w="3727279">
                <a:moveTo>
                  <a:pt x="0" y="0"/>
                </a:moveTo>
                <a:lnTo>
                  <a:pt x="3727278" y="0"/>
                </a:lnTo>
                <a:lnTo>
                  <a:pt x="3727278" y="1896253"/>
                </a:lnTo>
                <a:lnTo>
                  <a:pt x="0" y="1896253"/>
                </a:lnTo>
                <a:lnTo>
                  <a:pt x="0" y="0"/>
                </a:lnTo>
                <a:close/>
              </a:path>
            </a:pathLst>
          </a:custGeom>
          <a:blipFill>
            <a:blip r:embed="rId9">
              <a:alphaModFix amt="75000"/>
            </a:blip>
            <a:stretch>
              <a:fillRect l="0" t="0" r="0" b="0"/>
            </a:stretch>
          </a:blipFill>
        </p:spPr>
      </p:sp>
      <p:sp>
        <p:nvSpPr>
          <p:cNvPr name="Freeform 9" id="9"/>
          <p:cNvSpPr/>
          <p:nvPr/>
        </p:nvSpPr>
        <p:spPr>
          <a:xfrm flipH="true" flipV="false" rot="0">
            <a:off x="-353607" y="9196429"/>
            <a:ext cx="2764615" cy="1432573"/>
          </a:xfrm>
          <a:custGeom>
            <a:avLst/>
            <a:gdLst/>
            <a:ahLst/>
            <a:cxnLst/>
            <a:rect r="r" b="b" t="t" l="l"/>
            <a:pathLst>
              <a:path h="1432573" w="2764615">
                <a:moveTo>
                  <a:pt x="2764614" y="0"/>
                </a:moveTo>
                <a:lnTo>
                  <a:pt x="0" y="0"/>
                </a:lnTo>
                <a:lnTo>
                  <a:pt x="0" y="1432573"/>
                </a:lnTo>
                <a:lnTo>
                  <a:pt x="2764614" y="1432573"/>
                </a:lnTo>
                <a:lnTo>
                  <a:pt x="276461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10841029" y="8442230"/>
            <a:ext cx="7053724" cy="1844770"/>
          </a:xfrm>
          <a:custGeom>
            <a:avLst/>
            <a:gdLst/>
            <a:ahLst/>
            <a:cxnLst/>
            <a:rect r="r" b="b" t="t" l="l"/>
            <a:pathLst>
              <a:path h="1844770" w="7053724">
                <a:moveTo>
                  <a:pt x="0" y="0"/>
                </a:moveTo>
                <a:lnTo>
                  <a:pt x="7053724" y="0"/>
                </a:lnTo>
                <a:lnTo>
                  <a:pt x="7053724" y="1844770"/>
                </a:lnTo>
                <a:lnTo>
                  <a:pt x="0" y="1844770"/>
                </a:lnTo>
                <a:lnTo>
                  <a:pt x="0" y="0"/>
                </a:lnTo>
                <a:close/>
              </a:path>
            </a:pathLst>
          </a:custGeom>
          <a:blipFill>
            <a:blip r:embed="rId12"/>
            <a:stretch>
              <a:fillRect l="0" t="0" r="0" b="0"/>
            </a:stretch>
          </a:blipFill>
        </p:spPr>
      </p:sp>
      <p:sp>
        <p:nvSpPr>
          <p:cNvPr name="Freeform 11" id="11"/>
          <p:cNvSpPr/>
          <p:nvPr/>
        </p:nvSpPr>
        <p:spPr>
          <a:xfrm flipH="false" flipV="false" rot="0">
            <a:off x="1326496" y="1163625"/>
            <a:ext cx="15635009" cy="8749090"/>
          </a:xfrm>
          <a:custGeom>
            <a:avLst/>
            <a:gdLst/>
            <a:ahLst/>
            <a:cxnLst/>
            <a:rect r="r" b="b" t="t" l="l"/>
            <a:pathLst>
              <a:path h="8749090" w="15635009">
                <a:moveTo>
                  <a:pt x="0" y="0"/>
                </a:moveTo>
                <a:lnTo>
                  <a:pt x="15635008" y="0"/>
                </a:lnTo>
                <a:lnTo>
                  <a:pt x="15635008" y="8749091"/>
                </a:lnTo>
                <a:lnTo>
                  <a:pt x="0" y="8749091"/>
                </a:lnTo>
                <a:lnTo>
                  <a:pt x="0" y="0"/>
                </a:lnTo>
                <a:close/>
              </a:path>
            </a:pathLst>
          </a:custGeom>
          <a:blipFill>
            <a:blip r:embed="rId13"/>
            <a:stretch>
              <a:fillRect l="0" t="0" r="0" b="0"/>
            </a:stretch>
          </a:blipFill>
        </p:spPr>
      </p:sp>
      <p:sp>
        <p:nvSpPr>
          <p:cNvPr name="TextBox 12" id="12"/>
          <p:cNvSpPr txBox="true"/>
          <p:nvPr/>
        </p:nvSpPr>
        <p:spPr>
          <a:xfrm rot="0">
            <a:off x="246674" y="286908"/>
            <a:ext cx="17794652" cy="741792"/>
          </a:xfrm>
          <a:prstGeom prst="rect">
            <a:avLst/>
          </a:prstGeom>
        </p:spPr>
        <p:txBody>
          <a:bodyPr anchor="t" rtlCol="false" tIns="0" lIns="0" bIns="0" rIns="0">
            <a:spAutoFit/>
          </a:bodyPr>
          <a:lstStyle/>
          <a:p>
            <a:pPr algn="ctr" marL="0" indent="0" lvl="0">
              <a:lnSpc>
                <a:spcPts val="5160"/>
              </a:lnSpc>
              <a:spcBef>
                <a:spcPct val="0"/>
              </a:spcBef>
            </a:pPr>
            <a:r>
              <a:rPr lang="en-US" sz="4527">
                <a:solidFill>
                  <a:srgbClr val="000000"/>
                </a:solidFill>
                <a:latin typeface="Funtastic"/>
                <a:ea typeface="Funtastic"/>
                <a:cs typeface="Funtastic"/>
                <a:sym typeface="Funtastic"/>
              </a:rPr>
              <a:t>DISTRIBUTION OF HIGHEST HAZARDOUS WASTE BY REGION (2023)</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394567" y="7315059"/>
            <a:ext cx="19077134" cy="4385535"/>
          </a:xfrm>
          <a:custGeom>
            <a:avLst/>
            <a:gdLst/>
            <a:ahLst/>
            <a:cxnLst/>
            <a:rect r="r" b="b" t="t" l="l"/>
            <a:pathLst>
              <a:path h="4385535" w="19077134">
                <a:moveTo>
                  <a:pt x="0" y="0"/>
                </a:moveTo>
                <a:lnTo>
                  <a:pt x="19077134" y="0"/>
                </a:lnTo>
                <a:lnTo>
                  <a:pt x="19077134" y="4385535"/>
                </a:lnTo>
                <a:lnTo>
                  <a:pt x="0" y="4385535"/>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6219"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9265605" y="419387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13821956" y="-635974"/>
            <a:ext cx="9406070" cy="10143801"/>
          </a:xfrm>
          <a:custGeom>
            <a:avLst/>
            <a:gdLst/>
            <a:ahLst/>
            <a:cxnLst/>
            <a:rect r="r" b="b" t="t" l="l"/>
            <a:pathLst>
              <a:path h="10143801" w="9406070">
                <a:moveTo>
                  <a:pt x="9406070" y="0"/>
                </a:moveTo>
                <a:lnTo>
                  <a:pt x="0" y="0"/>
                </a:lnTo>
                <a:lnTo>
                  <a:pt x="0" y="10143800"/>
                </a:lnTo>
                <a:lnTo>
                  <a:pt x="9406070" y="10143800"/>
                </a:lnTo>
                <a:lnTo>
                  <a:pt x="940607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151862" y="943450"/>
            <a:ext cx="16107438" cy="8314850"/>
            <a:chOff x="0" y="0"/>
            <a:chExt cx="3364939" cy="1737022"/>
          </a:xfrm>
        </p:grpSpPr>
        <p:sp>
          <p:nvSpPr>
            <p:cNvPr name="Freeform 8" id="8"/>
            <p:cNvSpPr/>
            <p:nvPr/>
          </p:nvSpPr>
          <p:spPr>
            <a:xfrm flipH="false" flipV="false" rot="0">
              <a:off x="0" y="0"/>
              <a:ext cx="3364940" cy="1737021"/>
            </a:xfrm>
            <a:custGeom>
              <a:avLst/>
              <a:gdLst/>
              <a:ahLst/>
              <a:cxnLst/>
              <a:rect r="r" b="b" t="t" l="l"/>
              <a:pathLst>
                <a:path h="1737021" w="3364940">
                  <a:moveTo>
                    <a:pt x="14419" y="0"/>
                  </a:moveTo>
                  <a:lnTo>
                    <a:pt x="3350520" y="0"/>
                  </a:lnTo>
                  <a:cubicBezTo>
                    <a:pt x="3354344" y="0"/>
                    <a:pt x="3358012" y="1519"/>
                    <a:pt x="3360716" y="4223"/>
                  </a:cubicBezTo>
                  <a:cubicBezTo>
                    <a:pt x="3363420" y="6927"/>
                    <a:pt x="3364940" y="10595"/>
                    <a:pt x="3364940" y="14419"/>
                  </a:cubicBezTo>
                  <a:lnTo>
                    <a:pt x="3364940" y="1722602"/>
                  </a:lnTo>
                  <a:cubicBezTo>
                    <a:pt x="3364940" y="1726426"/>
                    <a:pt x="3363420" y="1730094"/>
                    <a:pt x="3360716" y="1732798"/>
                  </a:cubicBezTo>
                  <a:cubicBezTo>
                    <a:pt x="3358012" y="1735502"/>
                    <a:pt x="3354344" y="1737021"/>
                    <a:pt x="3350520" y="1737021"/>
                  </a:cubicBezTo>
                  <a:lnTo>
                    <a:pt x="14419" y="1737021"/>
                  </a:lnTo>
                  <a:cubicBezTo>
                    <a:pt x="10595" y="1737021"/>
                    <a:pt x="6927" y="1735502"/>
                    <a:pt x="4223" y="1732798"/>
                  </a:cubicBezTo>
                  <a:cubicBezTo>
                    <a:pt x="1519" y="1730094"/>
                    <a:pt x="0" y="1726426"/>
                    <a:pt x="0" y="1722602"/>
                  </a:cubicBezTo>
                  <a:lnTo>
                    <a:pt x="0" y="14419"/>
                  </a:lnTo>
                  <a:cubicBezTo>
                    <a:pt x="0" y="10595"/>
                    <a:pt x="1519" y="6927"/>
                    <a:pt x="4223" y="4223"/>
                  </a:cubicBezTo>
                  <a:cubicBezTo>
                    <a:pt x="6927" y="1519"/>
                    <a:pt x="10595" y="0"/>
                    <a:pt x="14419" y="0"/>
                  </a:cubicBezTo>
                  <a:close/>
                </a:path>
              </a:pathLst>
            </a:custGeom>
            <a:solidFill>
              <a:srgbClr val="FFFFFF"/>
            </a:solidFill>
          </p:spPr>
        </p:sp>
        <p:sp>
          <p:nvSpPr>
            <p:cNvPr name="TextBox 9" id="9"/>
            <p:cNvSpPr txBox="true"/>
            <p:nvPr/>
          </p:nvSpPr>
          <p:spPr>
            <a:xfrm>
              <a:off x="0" y="-47625"/>
              <a:ext cx="3364939" cy="1784647"/>
            </a:xfrm>
            <a:prstGeom prst="rect">
              <a:avLst/>
            </a:prstGeom>
          </p:spPr>
          <p:txBody>
            <a:bodyPr anchor="ctr" rtlCol="false" tIns="58105" lIns="58105" bIns="58105" rIns="58105"/>
            <a:lstStyle/>
            <a:p>
              <a:pPr algn="ctr">
                <a:lnSpc>
                  <a:spcPts val="3499"/>
                </a:lnSpc>
              </a:pPr>
            </a:p>
          </p:txBody>
        </p:sp>
      </p:grpSp>
      <p:sp>
        <p:nvSpPr>
          <p:cNvPr name="Freeform 10" id="10"/>
          <p:cNvSpPr/>
          <p:nvPr/>
        </p:nvSpPr>
        <p:spPr>
          <a:xfrm flipH="true" flipV="false" rot="0">
            <a:off x="9910546" y="504015"/>
            <a:ext cx="6613676" cy="3364708"/>
          </a:xfrm>
          <a:custGeom>
            <a:avLst/>
            <a:gdLst/>
            <a:ahLst/>
            <a:cxnLst/>
            <a:rect r="r" b="b" t="t" l="l"/>
            <a:pathLst>
              <a:path h="3364708" w="6613676">
                <a:moveTo>
                  <a:pt x="6613676" y="0"/>
                </a:moveTo>
                <a:lnTo>
                  <a:pt x="0" y="0"/>
                </a:lnTo>
                <a:lnTo>
                  <a:pt x="0" y="3364708"/>
                </a:lnTo>
                <a:lnTo>
                  <a:pt x="6613676" y="3364708"/>
                </a:lnTo>
                <a:lnTo>
                  <a:pt x="6613676" y="0"/>
                </a:lnTo>
                <a:close/>
              </a:path>
            </a:pathLst>
          </a:custGeom>
          <a:blipFill>
            <a:blip r:embed="rId9">
              <a:alphaModFix amt="75000"/>
            </a:blip>
            <a:stretch>
              <a:fillRect l="-29229" t="0" r="0" b="-29229"/>
            </a:stretch>
          </a:blipFill>
        </p:spPr>
      </p:sp>
      <p:sp>
        <p:nvSpPr>
          <p:cNvPr name="Freeform 11" id="11"/>
          <p:cNvSpPr/>
          <p:nvPr/>
        </p:nvSpPr>
        <p:spPr>
          <a:xfrm flipH="false" flipV="false" rot="0">
            <a:off x="-834939" y="290116"/>
            <a:ext cx="3727279" cy="1896253"/>
          </a:xfrm>
          <a:custGeom>
            <a:avLst/>
            <a:gdLst/>
            <a:ahLst/>
            <a:cxnLst/>
            <a:rect r="r" b="b" t="t" l="l"/>
            <a:pathLst>
              <a:path h="1896253" w="3727279">
                <a:moveTo>
                  <a:pt x="0" y="0"/>
                </a:moveTo>
                <a:lnTo>
                  <a:pt x="3727278" y="0"/>
                </a:lnTo>
                <a:lnTo>
                  <a:pt x="3727278" y="1896253"/>
                </a:lnTo>
                <a:lnTo>
                  <a:pt x="0" y="1896253"/>
                </a:lnTo>
                <a:lnTo>
                  <a:pt x="0" y="0"/>
                </a:lnTo>
                <a:close/>
              </a:path>
            </a:pathLst>
          </a:custGeom>
          <a:blipFill>
            <a:blip r:embed="rId9">
              <a:alphaModFix amt="75000"/>
            </a:blip>
            <a:stretch>
              <a:fillRect l="0" t="0" r="0" b="0"/>
            </a:stretch>
          </a:blipFill>
        </p:spPr>
      </p:sp>
      <p:sp>
        <p:nvSpPr>
          <p:cNvPr name="Freeform 12" id="12"/>
          <p:cNvSpPr/>
          <p:nvPr/>
        </p:nvSpPr>
        <p:spPr>
          <a:xfrm flipH="true" flipV="false" rot="0">
            <a:off x="-353607" y="9196429"/>
            <a:ext cx="2764615" cy="1432573"/>
          </a:xfrm>
          <a:custGeom>
            <a:avLst/>
            <a:gdLst/>
            <a:ahLst/>
            <a:cxnLst/>
            <a:rect r="r" b="b" t="t" l="l"/>
            <a:pathLst>
              <a:path h="1432573" w="2764615">
                <a:moveTo>
                  <a:pt x="2764614" y="0"/>
                </a:moveTo>
                <a:lnTo>
                  <a:pt x="0" y="0"/>
                </a:lnTo>
                <a:lnTo>
                  <a:pt x="0" y="1432573"/>
                </a:lnTo>
                <a:lnTo>
                  <a:pt x="2764614" y="1432573"/>
                </a:lnTo>
                <a:lnTo>
                  <a:pt x="2764614"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2633915" y="8720179"/>
            <a:ext cx="7053724" cy="1844770"/>
          </a:xfrm>
          <a:custGeom>
            <a:avLst/>
            <a:gdLst/>
            <a:ahLst/>
            <a:cxnLst/>
            <a:rect r="r" b="b" t="t" l="l"/>
            <a:pathLst>
              <a:path h="1844770" w="7053724">
                <a:moveTo>
                  <a:pt x="0" y="0"/>
                </a:moveTo>
                <a:lnTo>
                  <a:pt x="7053724" y="0"/>
                </a:lnTo>
                <a:lnTo>
                  <a:pt x="7053724" y="1844770"/>
                </a:lnTo>
                <a:lnTo>
                  <a:pt x="0" y="1844770"/>
                </a:lnTo>
                <a:lnTo>
                  <a:pt x="0" y="0"/>
                </a:lnTo>
                <a:close/>
              </a:path>
            </a:pathLst>
          </a:custGeom>
          <a:blipFill>
            <a:blip r:embed="rId12"/>
            <a:stretch>
              <a:fillRect l="0" t="0" r="0" b="0"/>
            </a:stretch>
          </a:blipFill>
        </p:spPr>
      </p:sp>
      <p:sp>
        <p:nvSpPr>
          <p:cNvPr name="TextBox 14" id="14"/>
          <p:cNvSpPr txBox="true"/>
          <p:nvPr/>
        </p:nvSpPr>
        <p:spPr>
          <a:xfrm rot="0">
            <a:off x="1508628" y="1171568"/>
            <a:ext cx="15623896" cy="8165506"/>
          </a:xfrm>
          <a:prstGeom prst="rect">
            <a:avLst/>
          </a:prstGeom>
        </p:spPr>
        <p:txBody>
          <a:bodyPr anchor="t" rtlCol="false" tIns="0" lIns="0" bIns="0" rIns="0">
            <a:spAutoFit/>
          </a:bodyPr>
          <a:lstStyle/>
          <a:p>
            <a:pPr algn="l">
              <a:lnSpc>
                <a:spcPts val="3382"/>
              </a:lnSpc>
            </a:pPr>
            <a:r>
              <a:rPr lang="en-US" sz="2415" b="true">
                <a:solidFill>
                  <a:srgbClr val="004AAD"/>
                </a:solidFill>
                <a:latin typeface="Poppins Bold"/>
                <a:ea typeface="Poppins Bold"/>
                <a:cs typeface="Poppins Bold"/>
                <a:sym typeface="Poppins Bold"/>
              </a:rPr>
              <a:t>Region IV-A (CALABARZON)</a:t>
            </a:r>
          </a:p>
          <a:p>
            <a:pPr algn="l">
              <a:lnSpc>
                <a:spcPts val="3382"/>
              </a:lnSpc>
            </a:pPr>
            <a:r>
              <a:rPr lang="en-US" sz="2415" b="true">
                <a:solidFill>
                  <a:srgbClr val="000000"/>
                </a:solidFill>
                <a:latin typeface="Poppins Bold"/>
                <a:ea typeface="Poppins Bold"/>
                <a:cs typeface="Poppins Bold"/>
                <a:sym typeface="Poppins Bold"/>
              </a:rPr>
              <a:t>This region has the highest amount of hazardous waste, with a total of </a:t>
            </a:r>
            <a:r>
              <a:rPr lang="en-US" sz="2415" b="true">
                <a:solidFill>
                  <a:srgbClr val="004AAD"/>
                </a:solidFill>
                <a:latin typeface="Poppins Bold"/>
                <a:ea typeface="Poppins Bold"/>
                <a:cs typeface="Poppins Bold"/>
                <a:sym typeface="Poppins Bold"/>
              </a:rPr>
              <a:t>67,272.42 tons</a:t>
            </a:r>
            <a:r>
              <a:rPr lang="en-US" sz="2415" b="true">
                <a:solidFill>
                  <a:srgbClr val="000000"/>
                </a:solidFill>
                <a:latin typeface="Poppins Bold"/>
                <a:ea typeface="Poppins Bold"/>
                <a:cs typeface="Poppins Bold"/>
                <a:sym typeface="Poppins Bold"/>
              </a:rPr>
              <a:t>.</a:t>
            </a:r>
          </a:p>
          <a:p>
            <a:pPr algn="l">
              <a:lnSpc>
                <a:spcPts val="3382"/>
              </a:lnSpc>
            </a:pPr>
            <a:r>
              <a:rPr lang="en-US" sz="2415" b="true">
                <a:solidFill>
                  <a:srgbClr val="000000"/>
                </a:solidFill>
                <a:latin typeface="Poppins Bold"/>
                <a:ea typeface="Poppins Bold"/>
                <a:cs typeface="Poppins Bold"/>
                <a:sym typeface="Poppins Bold"/>
              </a:rPr>
              <a:t>The most common type of hazardous waste is </a:t>
            </a:r>
            <a:r>
              <a:rPr lang="en-US" sz="2415" b="true">
                <a:solidFill>
                  <a:srgbClr val="004AAD"/>
                </a:solidFill>
                <a:latin typeface="Poppins Bold"/>
                <a:ea typeface="Poppins Bold"/>
                <a:cs typeface="Poppins Bold"/>
                <a:sym typeface="Poppins Bold"/>
              </a:rPr>
              <a:t>oil</a:t>
            </a:r>
            <a:r>
              <a:rPr lang="en-US" sz="2415" b="true">
                <a:solidFill>
                  <a:srgbClr val="000000"/>
                </a:solidFill>
                <a:latin typeface="Poppins Bold"/>
                <a:ea typeface="Poppins Bold"/>
                <a:cs typeface="Poppins Bold"/>
                <a:sym typeface="Poppins Bold"/>
              </a:rPr>
              <a:t>, followed by </a:t>
            </a:r>
            <a:r>
              <a:rPr lang="en-US" sz="2415" b="true">
                <a:solidFill>
                  <a:srgbClr val="004AAD"/>
                </a:solidFill>
                <a:latin typeface="Poppins Bold"/>
                <a:ea typeface="Poppins Bold"/>
                <a:cs typeface="Poppins Bold"/>
                <a:sym typeface="Poppins Bold"/>
              </a:rPr>
              <a:t>coatings and chemical substances</a:t>
            </a:r>
            <a:r>
              <a:rPr lang="en-US" sz="2415" b="true">
                <a:solidFill>
                  <a:srgbClr val="000000"/>
                </a:solidFill>
                <a:latin typeface="Poppins Bold"/>
                <a:ea typeface="Poppins Bold"/>
                <a:cs typeface="Poppins Bold"/>
                <a:sym typeface="Poppins Bold"/>
              </a:rPr>
              <a:t>.</a:t>
            </a:r>
          </a:p>
          <a:p>
            <a:pPr algn="l">
              <a:lnSpc>
                <a:spcPts val="3382"/>
              </a:lnSpc>
            </a:pPr>
          </a:p>
          <a:p>
            <a:pPr algn="l">
              <a:lnSpc>
                <a:spcPts val="3382"/>
              </a:lnSpc>
            </a:pPr>
            <a:r>
              <a:rPr lang="en-US" sz="2415" b="true">
                <a:solidFill>
                  <a:srgbClr val="5271FF"/>
                </a:solidFill>
                <a:latin typeface="Poppins Bold"/>
                <a:ea typeface="Poppins Bold"/>
                <a:cs typeface="Poppins Bold"/>
                <a:sym typeface="Poppins Bold"/>
              </a:rPr>
              <a:t>National Capital Region (NCR)</a:t>
            </a:r>
          </a:p>
          <a:p>
            <a:pPr algn="l">
              <a:lnSpc>
                <a:spcPts val="3382"/>
              </a:lnSpc>
            </a:pPr>
            <a:r>
              <a:rPr lang="en-US" sz="2415" b="true">
                <a:solidFill>
                  <a:srgbClr val="000000"/>
                </a:solidFill>
                <a:latin typeface="Poppins Bold"/>
                <a:ea typeface="Poppins Bold"/>
                <a:cs typeface="Poppins Bold"/>
                <a:sym typeface="Poppins Bold"/>
              </a:rPr>
              <a:t>The region has a high concentration of </a:t>
            </a:r>
            <a:r>
              <a:rPr lang="en-US" b="true" sz="2415">
                <a:solidFill>
                  <a:srgbClr val="000000"/>
                </a:solidFill>
                <a:latin typeface="Poppins Bold"/>
                <a:ea typeface="Poppins Bold"/>
                <a:cs typeface="Poppins Bold"/>
                <a:sym typeface="Poppins Bold"/>
              </a:rPr>
              <a:t>hazardous waste</a:t>
            </a:r>
            <a:r>
              <a:rPr lang="en-US" sz="2415" b="true">
                <a:solidFill>
                  <a:srgbClr val="000000"/>
                </a:solidFill>
                <a:latin typeface="Poppins Bold"/>
                <a:ea typeface="Poppins Bold"/>
                <a:cs typeface="Poppins Bold"/>
                <a:sym typeface="Poppins Bold"/>
              </a:rPr>
              <a:t>,</a:t>
            </a:r>
            <a:r>
              <a:rPr lang="en-US" b="true" sz="2415">
                <a:solidFill>
                  <a:srgbClr val="000000"/>
                </a:solidFill>
                <a:latin typeface="Poppins Bold"/>
                <a:ea typeface="Poppins Bold"/>
                <a:cs typeface="Poppins Bold"/>
                <a:sym typeface="Poppins Bold"/>
              </a:rPr>
              <a:t> </a:t>
            </a:r>
            <a:r>
              <a:rPr lang="en-US" sz="2415" b="true">
                <a:solidFill>
                  <a:srgbClr val="000000"/>
                </a:solidFill>
                <a:latin typeface="Poppins Bold"/>
                <a:ea typeface="Poppins Bold"/>
                <a:cs typeface="Poppins Bold"/>
                <a:sym typeface="Poppins Bold"/>
              </a:rPr>
              <a:t>with a total of</a:t>
            </a:r>
            <a:r>
              <a:rPr lang="en-US" sz="2415" b="true">
                <a:solidFill>
                  <a:srgbClr val="5271FF"/>
                </a:solidFill>
                <a:latin typeface="Poppins Bold"/>
                <a:ea typeface="Poppins Bold"/>
                <a:cs typeface="Poppins Bold"/>
                <a:sym typeface="Poppins Bold"/>
              </a:rPr>
              <a:t> 17,299.78 tons</a:t>
            </a:r>
            <a:r>
              <a:rPr lang="en-US" sz="2415" b="true">
                <a:solidFill>
                  <a:srgbClr val="000000"/>
                </a:solidFill>
                <a:latin typeface="Poppins Bold"/>
                <a:ea typeface="Poppins Bold"/>
                <a:cs typeface="Poppins Bold"/>
                <a:sym typeface="Poppins Bold"/>
              </a:rPr>
              <a:t>.</a:t>
            </a:r>
          </a:p>
          <a:p>
            <a:pPr algn="l">
              <a:lnSpc>
                <a:spcPts val="3382"/>
              </a:lnSpc>
            </a:pPr>
            <a:r>
              <a:rPr lang="en-US" sz="2415" b="true">
                <a:solidFill>
                  <a:srgbClr val="000000"/>
                </a:solidFill>
                <a:latin typeface="Poppins Bold"/>
                <a:ea typeface="Poppins Bold"/>
                <a:cs typeface="Poppins Bold"/>
                <a:sym typeface="Poppins Bold"/>
              </a:rPr>
              <a:t>Th</a:t>
            </a:r>
            <a:r>
              <a:rPr lang="en-US" sz="2415" b="true">
                <a:solidFill>
                  <a:srgbClr val="000000"/>
                </a:solidFill>
                <a:latin typeface="Poppins Bold"/>
                <a:ea typeface="Poppins Bold"/>
                <a:cs typeface="Poppins Bold"/>
                <a:sym typeface="Poppins Bold"/>
              </a:rPr>
              <a:t>e</a:t>
            </a:r>
            <a:r>
              <a:rPr lang="en-US" sz="2415" b="true">
                <a:solidFill>
                  <a:srgbClr val="000000"/>
                </a:solidFill>
                <a:latin typeface="Poppins Bold"/>
                <a:ea typeface="Poppins Bold"/>
                <a:cs typeface="Poppins Bold"/>
                <a:sym typeface="Poppins Bold"/>
              </a:rPr>
              <a:t> most </a:t>
            </a:r>
            <a:r>
              <a:rPr lang="en-US" sz="2415" b="true">
                <a:solidFill>
                  <a:srgbClr val="000000"/>
                </a:solidFill>
                <a:latin typeface="Poppins Bold"/>
                <a:ea typeface="Poppins Bold"/>
                <a:cs typeface="Poppins Bold"/>
                <a:sym typeface="Poppins Bold"/>
              </a:rPr>
              <a:t>c</a:t>
            </a:r>
            <a:r>
              <a:rPr lang="en-US" sz="2415" b="true">
                <a:solidFill>
                  <a:srgbClr val="000000"/>
                </a:solidFill>
                <a:latin typeface="Poppins Bold"/>
                <a:ea typeface="Poppins Bold"/>
                <a:cs typeface="Poppins Bold"/>
                <a:sym typeface="Poppins Bold"/>
              </a:rPr>
              <a:t>ommo</a:t>
            </a:r>
            <a:r>
              <a:rPr lang="en-US" sz="2415" b="true">
                <a:solidFill>
                  <a:srgbClr val="000000"/>
                </a:solidFill>
                <a:latin typeface="Poppins Bold"/>
                <a:ea typeface="Poppins Bold"/>
                <a:cs typeface="Poppins Bold"/>
                <a:sym typeface="Poppins Bold"/>
              </a:rPr>
              <a:t>n</a:t>
            </a:r>
            <a:r>
              <a:rPr lang="en-US" sz="2415" b="true">
                <a:solidFill>
                  <a:srgbClr val="000000"/>
                </a:solidFill>
                <a:latin typeface="Poppins Bold"/>
                <a:ea typeface="Poppins Bold"/>
                <a:cs typeface="Poppins Bold"/>
                <a:sym typeface="Poppins Bold"/>
              </a:rPr>
              <a:t> </a:t>
            </a:r>
            <a:r>
              <a:rPr lang="en-US" sz="2415" b="true">
                <a:solidFill>
                  <a:srgbClr val="000000"/>
                </a:solidFill>
                <a:latin typeface="Poppins Bold"/>
                <a:ea typeface="Poppins Bold"/>
                <a:cs typeface="Poppins Bold"/>
                <a:sym typeface="Poppins Bold"/>
              </a:rPr>
              <a:t>t</a:t>
            </a:r>
            <a:r>
              <a:rPr lang="en-US" sz="2415" b="true">
                <a:solidFill>
                  <a:srgbClr val="000000"/>
                </a:solidFill>
                <a:latin typeface="Poppins Bold"/>
                <a:ea typeface="Poppins Bold"/>
                <a:cs typeface="Poppins Bold"/>
                <a:sym typeface="Poppins Bold"/>
              </a:rPr>
              <a:t>yp</a:t>
            </a:r>
            <a:r>
              <a:rPr lang="en-US" sz="2415" b="true">
                <a:solidFill>
                  <a:srgbClr val="000000"/>
                </a:solidFill>
                <a:latin typeface="Poppins Bold"/>
                <a:ea typeface="Poppins Bold"/>
                <a:cs typeface="Poppins Bold"/>
                <a:sym typeface="Poppins Bold"/>
              </a:rPr>
              <a:t>e</a:t>
            </a:r>
            <a:r>
              <a:rPr lang="en-US" sz="2415" b="true">
                <a:solidFill>
                  <a:srgbClr val="000000"/>
                </a:solidFill>
                <a:latin typeface="Poppins Bold"/>
                <a:ea typeface="Poppins Bold"/>
                <a:cs typeface="Poppins Bold"/>
                <a:sym typeface="Poppins Bold"/>
              </a:rPr>
              <a:t> of hazardous waste is </a:t>
            </a:r>
            <a:r>
              <a:rPr lang="en-US" sz="2415" b="true">
                <a:solidFill>
                  <a:srgbClr val="5271FF"/>
                </a:solidFill>
                <a:latin typeface="Poppins Bold"/>
                <a:ea typeface="Poppins Bold"/>
                <a:cs typeface="Poppins Bold"/>
                <a:sym typeface="Poppins Bold"/>
              </a:rPr>
              <a:t>miscellaneous wastes</a:t>
            </a:r>
            <a:r>
              <a:rPr lang="en-US" sz="2415" b="true">
                <a:solidFill>
                  <a:srgbClr val="000000"/>
                </a:solidFill>
                <a:latin typeface="Poppins Bold"/>
                <a:ea typeface="Poppins Bold"/>
                <a:cs typeface="Poppins Bold"/>
                <a:sym typeface="Poppins Bold"/>
              </a:rPr>
              <a:t>, fol</a:t>
            </a:r>
            <a:r>
              <a:rPr lang="en-US" sz="2415" b="true">
                <a:solidFill>
                  <a:srgbClr val="000000"/>
                </a:solidFill>
                <a:latin typeface="Poppins Bold"/>
                <a:ea typeface="Poppins Bold"/>
                <a:cs typeface="Poppins Bold"/>
                <a:sym typeface="Poppins Bold"/>
              </a:rPr>
              <a:t>l</a:t>
            </a:r>
            <a:r>
              <a:rPr lang="en-US" sz="2415" b="true">
                <a:solidFill>
                  <a:srgbClr val="000000"/>
                </a:solidFill>
                <a:latin typeface="Poppins Bold"/>
                <a:ea typeface="Poppins Bold"/>
                <a:cs typeface="Poppins Bold"/>
                <a:sym typeface="Poppins Bold"/>
              </a:rPr>
              <a:t>owed</a:t>
            </a:r>
            <a:r>
              <a:rPr lang="en-US" sz="2415" b="true">
                <a:solidFill>
                  <a:srgbClr val="000000"/>
                </a:solidFill>
                <a:latin typeface="Poppins Bold"/>
                <a:ea typeface="Poppins Bold"/>
                <a:cs typeface="Poppins Bold"/>
                <a:sym typeface="Poppins Bold"/>
              </a:rPr>
              <a:t> </a:t>
            </a:r>
            <a:r>
              <a:rPr lang="en-US" sz="2415" b="true">
                <a:solidFill>
                  <a:srgbClr val="000000"/>
                </a:solidFill>
                <a:latin typeface="Poppins Bold"/>
                <a:ea typeface="Poppins Bold"/>
                <a:cs typeface="Poppins Bold"/>
                <a:sym typeface="Poppins Bold"/>
              </a:rPr>
              <a:t>by </a:t>
            </a:r>
            <a:r>
              <a:rPr lang="en-US" sz="2415" b="true">
                <a:solidFill>
                  <a:srgbClr val="5271FF"/>
                </a:solidFill>
                <a:latin typeface="Poppins Bold"/>
                <a:ea typeface="Poppins Bold"/>
                <a:cs typeface="Poppins Bold"/>
                <a:sym typeface="Poppins Bold"/>
              </a:rPr>
              <a:t>stabilized wastes</a:t>
            </a:r>
            <a:r>
              <a:rPr lang="en-US" sz="2415" b="true">
                <a:solidFill>
                  <a:srgbClr val="000000"/>
                </a:solidFill>
                <a:latin typeface="Poppins Bold"/>
                <a:ea typeface="Poppins Bold"/>
                <a:cs typeface="Poppins Bold"/>
                <a:sym typeface="Poppins Bold"/>
              </a:rPr>
              <a:t>.</a:t>
            </a:r>
          </a:p>
          <a:p>
            <a:pPr algn="l">
              <a:lnSpc>
                <a:spcPts val="3382"/>
              </a:lnSpc>
            </a:pPr>
          </a:p>
          <a:p>
            <a:pPr algn="l">
              <a:lnSpc>
                <a:spcPts val="3382"/>
              </a:lnSpc>
            </a:pPr>
            <a:r>
              <a:rPr lang="en-US" sz="2415" b="true">
                <a:solidFill>
                  <a:srgbClr val="38B6FF"/>
                </a:solidFill>
                <a:latin typeface="Poppins Bold"/>
                <a:ea typeface="Poppins Bold"/>
                <a:cs typeface="Poppins Bold"/>
                <a:sym typeface="Poppins Bold"/>
              </a:rPr>
              <a:t>Region III (Central Luzon)</a:t>
            </a:r>
          </a:p>
          <a:p>
            <a:pPr algn="l">
              <a:lnSpc>
                <a:spcPts val="3382"/>
              </a:lnSpc>
            </a:pPr>
            <a:r>
              <a:rPr lang="en-US" sz="2415" b="true">
                <a:solidFill>
                  <a:srgbClr val="000000"/>
                </a:solidFill>
                <a:latin typeface="Poppins Bold"/>
                <a:ea typeface="Poppins Bold"/>
                <a:cs typeface="Poppins Bold"/>
                <a:sym typeface="Poppins Bold"/>
              </a:rPr>
              <a:t>The region has a relatively low </a:t>
            </a:r>
            <a:r>
              <a:rPr lang="en-US" sz="2415" b="true">
                <a:solidFill>
                  <a:srgbClr val="000000"/>
                </a:solidFill>
                <a:latin typeface="Poppins Bold"/>
                <a:ea typeface="Poppins Bold"/>
                <a:cs typeface="Poppins Bold"/>
                <a:sym typeface="Poppins Bold"/>
              </a:rPr>
              <a:t>a</a:t>
            </a:r>
            <a:r>
              <a:rPr lang="en-US" sz="2415" b="true">
                <a:solidFill>
                  <a:srgbClr val="000000"/>
                </a:solidFill>
                <a:latin typeface="Poppins Bold"/>
                <a:ea typeface="Poppins Bold"/>
                <a:cs typeface="Poppins Bold"/>
                <a:sym typeface="Poppins Bold"/>
              </a:rPr>
              <a:t>mou</a:t>
            </a:r>
            <a:r>
              <a:rPr lang="en-US" sz="2415" b="true">
                <a:solidFill>
                  <a:srgbClr val="000000"/>
                </a:solidFill>
                <a:latin typeface="Poppins Bold"/>
                <a:ea typeface="Poppins Bold"/>
                <a:cs typeface="Poppins Bold"/>
                <a:sym typeface="Poppins Bold"/>
              </a:rPr>
              <a:t>n</a:t>
            </a:r>
            <a:r>
              <a:rPr lang="en-US" sz="2415" b="true">
                <a:solidFill>
                  <a:srgbClr val="000000"/>
                </a:solidFill>
                <a:latin typeface="Poppins Bold"/>
                <a:ea typeface="Poppins Bold"/>
                <a:cs typeface="Poppins Bold"/>
                <a:sym typeface="Poppins Bold"/>
              </a:rPr>
              <a:t>t</a:t>
            </a:r>
            <a:r>
              <a:rPr lang="en-US" sz="2415" b="true">
                <a:solidFill>
                  <a:srgbClr val="000000"/>
                </a:solidFill>
                <a:latin typeface="Poppins Bold"/>
                <a:ea typeface="Poppins Bold"/>
                <a:cs typeface="Poppins Bold"/>
                <a:sym typeface="Poppins Bold"/>
              </a:rPr>
              <a:t> </a:t>
            </a:r>
            <a:r>
              <a:rPr lang="en-US" sz="2415" b="true">
                <a:solidFill>
                  <a:srgbClr val="000000"/>
                </a:solidFill>
                <a:latin typeface="Poppins Bold"/>
                <a:ea typeface="Poppins Bold"/>
                <a:cs typeface="Poppins Bold"/>
                <a:sym typeface="Poppins Bold"/>
              </a:rPr>
              <a:t>of </a:t>
            </a:r>
            <a:r>
              <a:rPr lang="en-US" sz="2415" b="true">
                <a:solidFill>
                  <a:srgbClr val="000000"/>
                </a:solidFill>
                <a:latin typeface="Poppins Bold"/>
                <a:ea typeface="Poppins Bold"/>
                <a:cs typeface="Poppins Bold"/>
                <a:sym typeface="Poppins Bold"/>
              </a:rPr>
              <a:t>ha</a:t>
            </a:r>
            <a:r>
              <a:rPr lang="en-US" sz="2415" b="true">
                <a:solidFill>
                  <a:srgbClr val="000000"/>
                </a:solidFill>
                <a:latin typeface="Poppins Bold"/>
                <a:ea typeface="Poppins Bold"/>
                <a:cs typeface="Poppins Bold"/>
                <a:sym typeface="Poppins Bold"/>
              </a:rPr>
              <a:t>zardou</a:t>
            </a:r>
            <a:r>
              <a:rPr lang="en-US" sz="2415" b="true">
                <a:solidFill>
                  <a:srgbClr val="000000"/>
                </a:solidFill>
                <a:latin typeface="Poppins Bold"/>
                <a:ea typeface="Poppins Bold"/>
                <a:cs typeface="Poppins Bold"/>
                <a:sym typeface="Poppins Bold"/>
              </a:rPr>
              <a:t>s</a:t>
            </a:r>
            <a:r>
              <a:rPr lang="en-US" sz="2415" b="true">
                <a:solidFill>
                  <a:srgbClr val="000000"/>
                </a:solidFill>
                <a:latin typeface="Poppins Bold"/>
                <a:ea typeface="Poppins Bold"/>
                <a:cs typeface="Poppins Bold"/>
                <a:sym typeface="Poppins Bold"/>
              </a:rPr>
              <a:t> w</a:t>
            </a:r>
            <a:r>
              <a:rPr lang="en-US" sz="2415" b="true">
                <a:solidFill>
                  <a:srgbClr val="000000"/>
                </a:solidFill>
                <a:latin typeface="Poppins Bold"/>
                <a:ea typeface="Poppins Bold"/>
                <a:cs typeface="Poppins Bold"/>
                <a:sym typeface="Poppins Bold"/>
              </a:rPr>
              <a:t>aste</a:t>
            </a:r>
            <a:r>
              <a:rPr lang="en-US" sz="2415" b="true">
                <a:solidFill>
                  <a:srgbClr val="000000"/>
                </a:solidFill>
                <a:latin typeface="Poppins Bold"/>
                <a:ea typeface="Poppins Bold"/>
                <a:cs typeface="Poppins Bold"/>
                <a:sym typeface="Poppins Bold"/>
              </a:rPr>
              <a:t>,</a:t>
            </a:r>
            <a:r>
              <a:rPr lang="en-US" sz="2415" b="true">
                <a:solidFill>
                  <a:srgbClr val="000000"/>
                </a:solidFill>
                <a:latin typeface="Poppins Bold"/>
                <a:ea typeface="Poppins Bold"/>
                <a:cs typeface="Poppins Bold"/>
                <a:sym typeface="Poppins Bold"/>
              </a:rPr>
              <a:t> with </a:t>
            </a:r>
            <a:r>
              <a:rPr lang="en-US" sz="2415" b="true">
                <a:solidFill>
                  <a:srgbClr val="000000"/>
                </a:solidFill>
                <a:latin typeface="Poppins Bold"/>
                <a:ea typeface="Poppins Bold"/>
                <a:cs typeface="Poppins Bold"/>
                <a:sym typeface="Poppins Bold"/>
              </a:rPr>
              <a:t>a tot</a:t>
            </a:r>
            <a:r>
              <a:rPr lang="en-US" sz="2415" b="true">
                <a:solidFill>
                  <a:srgbClr val="000000"/>
                </a:solidFill>
                <a:latin typeface="Poppins Bold"/>
                <a:ea typeface="Poppins Bold"/>
                <a:cs typeface="Poppins Bold"/>
                <a:sym typeface="Poppins Bold"/>
              </a:rPr>
              <a:t>a</a:t>
            </a:r>
            <a:r>
              <a:rPr lang="en-US" sz="2415" b="true">
                <a:solidFill>
                  <a:srgbClr val="000000"/>
                </a:solidFill>
                <a:latin typeface="Poppins Bold"/>
                <a:ea typeface="Poppins Bold"/>
                <a:cs typeface="Poppins Bold"/>
                <a:sym typeface="Poppins Bold"/>
              </a:rPr>
              <a:t>l of </a:t>
            </a:r>
            <a:r>
              <a:rPr lang="en-US" sz="2415" b="true">
                <a:solidFill>
                  <a:srgbClr val="38B6FF"/>
                </a:solidFill>
                <a:latin typeface="Poppins Bold"/>
                <a:ea typeface="Poppins Bold"/>
                <a:cs typeface="Poppins Bold"/>
                <a:sym typeface="Poppins Bold"/>
              </a:rPr>
              <a:t>12,242.23 tons</a:t>
            </a:r>
            <a:r>
              <a:rPr lang="en-US" sz="2415" b="true">
                <a:solidFill>
                  <a:srgbClr val="000000"/>
                </a:solidFill>
                <a:latin typeface="Poppins Bold"/>
                <a:ea typeface="Poppins Bold"/>
                <a:cs typeface="Poppins Bold"/>
                <a:sym typeface="Poppins Bold"/>
              </a:rPr>
              <a:t>.</a:t>
            </a:r>
          </a:p>
          <a:p>
            <a:pPr algn="l">
              <a:lnSpc>
                <a:spcPts val="3382"/>
              </a:lnSpc>
            </a:pPr>
            <a:r>
              <a:rPr lang="en-US" sz="2415" b="true">
                <a:solidFill>
                  <a:srgbClr val="000000"/>
                </a:solidFill>
                <a:latin typeface="Poppins Bold"/>
                <a:ea typeface="Poppins Bold"/>
                <a:cs typeface="Poppins Bold"/>
                <a:sym typeface="Poppins Bold"/>
              </a:rPr>
              <a:t>Th</a:t>
            </a:r>
            <a:r>
              <a:rPr lang="en-US" sz="2415" b="true">
                <a:solidFill>
                  <a:srgbClr val="000000"/>
                </a:solidFill>
                <a:latin typeface="Poppins Bold"/>
                <a:ea typeface="Poppins Bold"/>
                <a:cs typeface="Poppins Bold"/>
                <a:sym typeface="Poppins Bold"/>
              </a:rPr>
              <a:t>e</a:t>
            </a:r>
            <a:r>
              <a:rPr lang="en-US" sz="2415" b="true">
                <a:solidFill>
                  <a:srgbClr val="000000"/>
                </a:solidFill>
                <a:latin typeface="Poppins Bold"/>
                <a:ea typeface="Poppins Bold"/>
                <a:cs typeface="Poppins Bold"/>
                <a:sym typeface="Poppins Bold"/>
              </a:rPr>
              <a:t> most common type of hazardous waste is r</a:t>
            </a:r>
            <a:r>
              <a:rPr lang="en-US" sz="2415" b="true">
                <a:solidFill>
                  <a:srgbClr val="000000"/>
                </a:solidFill>
                <a:latin typeface="Poppins Bold"/>
                <a:ea typeface="Poppins Bold"/>
                <a:cs typeface="Poppins Bold"/>
                <a:sym typeface="Poppins Bold"/>
              </a:rPr>
              <a:t>eactive </a:t>
            </a:r>
            <a:r>
              <a:rPr lang="en-US" sz="2415" b="true">
                <a:solidFill>
                  <a:srgbClr val="38B6FF"/>
                </a:solidFill>
                <a:latin typeface="Poppins Bold"/>
                <a:ea typeface="Poppins Bold"/>
                <a:cs typeface="Poppins Bold"/>
                <a:sym typeface="Poppins Bold"/>
              </a:rPr>
              <a:t>chemical wastes</a:t>
            </a:r>
            <a:r>
              <a:rPr lang="en-US" sz="2415" b="true">
                <a:solidFill>
                  <a:srgbClr val="000000"/>
                </a:solidFill>
                <a:latin typeface="Poppins Bold"/>
                <a:ea typeface="Poppins Bold"/>
                <a:cs typeface="Poppins Bold"/>
                <a:sym typeface="Poppins Bold"/>
              </a:rPr>
              <a:t>, followed by </a:t>
            </a:r>
            <a:r>
              <a:rPr lang="en-US" sz="2415" b="true">
                <a:solidFill>
                  <a:srgbClr val="38B6FF"/>
                </a:solidFill>
                <a:latin typeface="Poppins Bold"/>
                <a:ea typeface="Poppins Bold"/>
                <a:cs typeface="Poppins Bold"/>
                <a:sym typeface="Poppins Bold"/>
              </a:rPr>
              <a:t>wastes with cyanide</a:t>
            </a:r>
            <a:r>
              <a:rPr lang="en-US" sz="2415" b="true">
                <a:solidFill>
                  <a:srgbClr val="000000"/>
                </a:solidFill>
                <a:latin typeface="Poppins Bold"/>
                <a:ea typeface="Poppins Bold"/>
                <a:cs typeface="Poppins Bold"/>
                <a:sym typeface="Poppins Bold"/>
              </a:rPr>
              <a:t>.</a:t>
            </a:r>
          </a:p>
          <a:p>
            <a:pPr algn="l">
              <a:lnSpc>
                <a:spcPts val="3382"/>
              </a:lnSpc>
            </a:pPr>
          </a:p>
          <a:p>
            <a:pPr algn="l">
              <a:lnSpc>
                <a:spcPts val="3382"/>
              </a:lnSpc>
            </a:pPr>
            <a:r>
              <a:rPr lang="en-US" sz="2415" b="true">
                <a:solidFill>
                  <a:srgbClr val="000000"/>
                </a:solidFill>
                <a:latin typeface="Poppins Bold"/>
                <a:ea typeface="Poppins Bold"/>
                <a:cs typeface="Poppins Bold"/>
                <a:sym typeface="Poppins Bold"/>
              </a:rPr>
              <a:t>Significant Finding:</a:t>
            </a:r>
          </a:p>
          <a:p>
            <a:pPr algn="l">
              <a:lnSpc>
                <a:spcPts val="3382"/>
              </a:lnSpc>
            </a:pPr>
            <a:r>
              <a:rPr lang="en-US" b="true" sz="2415">
                <a:solidFill>
                  <a:srgbClr val="000000"/>
                </a:solidFill>
                <a:latin typeface="Poppins Bold"/>
                <a:ea typeface="Poppins Bold"/>
                <a:cs typeface="Poppins Bold"/>
                <a:sym typeface="Poppins Bold"/>
              </a:rPr>
              <a:t>The majority of hazardous waste in the Philippines is </a:t>
            </a:r>
            <a:r>
              <a:rPr lang="en-US" b="true" sz="2415" u="sng">
                <a:solidFill>
                  <a:srgbClr val="000000"/>
                </a:solidFill>
                <a:latin typeface="Poppins Bold"/>
                <a:ea typeface="Poppins Bold"/>
                <a:cs typeface="Poppins Bold"/>
                <a:sym typeface="Poppins Bold"/>
              </a:rPr>
              <a:t>concentrated </a:t>
            </a:r>
            <a:r>
              <a:rPr lang="en-US" b="true" sz="2415">
                <a:solidFill>
                  <a:srgbClr val="000000"/>
                </a:solidFill>
                <a:latin typeface="Poppins Bold"/>
                <a:ea typeface="Poppins Bold"/>
                <a:cs typeface="Poppins Bold"/>
                <a:sym typeface="Poppins Bold"/>
              </a:rPr>
              <a:t>in three regions: NCR, Regi</a:t>
            </a:r>
            <a:r>
              <a:rPr lang="en-US" b="true" sz="2415" u="none">
                <a:solidFill>
                  <a:srgbClr val="000000"/>
                </a:solidFill>
                <a:latin typeface="Poppins Bold"/>
                <a:ea typeface="Poppins Bold"/>
                <a:cs typeface="Poppins Bold"/>
                <a:sym typeface="Poppins Bold"/>
              </a:rPr>
              <a:t>on</a:t>
            </a:r>
            <a:r>
              <a:rPr lang="en-US" b="true" sz="2415">
                <a:solidFill>
                  <a:srgbClr val="000000"/>
                </a:solidFill>
                <a:latin typeface="Poppins Bold"/>
                <a:ea typeface="Poppins Bold"/>
                <a:cs typeface="Poppins Bold"/>
                <a:sym typeface="Poppins Bold"/>
              </a:rPr>
              <a:t> IV-A, and Region III. Thi</a:t>
            </a:r>
            <a:r>
              <a:rPr lang="en-US" b="true" sz="2415" u="none">
                <a:solidFill>
                  <a:srgbClr val="000000"/>
                </a:solidFill>
                <a:latin typeface="Poppins Bold"/>
                <a:ea typeface="Poppins Bold"/>
                <a:cs typeface="Poppins Bold"/>
                <a:sym typeface="Poppins Bold"/>
              </a:rPr>
              <a:t>s</a:t>
            </a:r>
            <a:r>
              <a:rPr lang="en-US" b="true" sz="2415">
                <a:solidFill>
                  <a:srgbClr val="000000"/>
                </a:solidFill>
                <a:latin typeface="Poppins Bold"/>
                <a:ea typeface="Poppins Bold"/>
                <a:cs typeface="Poppins Bold"/>
                <a:sym typeface="Poppins Bold"/>
              </a:rPr>
              <a:t> </a:t>
            </a:r>
            <a:r>
              <a:rPr lang="en-US" b="true" sz="2415" u="none">
                <a:solidFill>
                  <a:srgbClr val="000000"/>
                </a:solidFill>
                <a:latin typeface="Poppins Bold"/>
                <a:ea typeface="Poppins Bold"/>
                <a:cs typeface="Poppins Bold"/>
                <a:sym typeface="Poppins Bold"/>
              </a:rPr>
              <a:t>s</a:t>
            </a:r>
            <a:r>
              <a:rPr lang="en-US" b="true" sz="2415">
                <a:solidFill>
                  <a:srgbClr val="000000"/>
                </a:solidFill>
                <a:latin typeface="Poppins Bold"/>
                <a:ea typeface="Poppins Bold"/>
                <a:cs typeface="Poppins Bold"/>
                <a:sym typeface="Poppins Bold"/>
              </a:rPr>
              <a:t>ugg</a:t>
            </a:r>
            <a:r>
              <a:rPr lang="en-US" b="true" sz="2415" u="none">
                <a:solidFill>
                  <a:srgbClr val="000000"/>
                </a:solidFill>
                <a:latin typeface="Poppins Bold"/>
                <a:ea typeface="Poppins Bold"/>
                <a:cs typeface="Poppins Bold"/>
                <a:sym typeface="Poppins Bold"/>
              </a:rPr>
              <a:t>e</a:t>
            </a:r>
            <a:r>
              <a:rPr lang="en-US" b="true" sz="2415">
                <a:solidFill>
                  <a:srgbClr val="000000"/>
                </a:solidFill>
                <a:latin typeface="Poppins Bold"/>
                <a:ea typeface="Poppins Bold"/>
                <a:cs typeface="Poppins Bold"/>
                <a:sym typeface="Poppins Bold"/>
              </a:rPr>
              <a:t>s</a:t>
            </a:r>
            <a:r>
              <a:rPr lang="en-US" b="true" sz="2415" u="none">
                <a:solidFill>
                  <a:srgbClr val="000000"/>
                </a:solidFill>
                <a:latin typeface="Poppins Bold"/>
                <a:ea typeface="Poppins Bold"/>
                <a:cs typeface="Poppins Bold"/>
                <a:sym typeface="Poppins Bold"/>
              </a:rPr>
              <a:t>t</a:t>
            </a:r>
            <a:r>
              <a:rPr lang="en-US" b="true" sz="2415">
                <a:solidFill>
                  <a:srgbClr val="000000"/>
                </a:solidFill>
                <a:latin typeface="Poppins Bold"/>
                <a:ea typeface="Poppins Bold"/>
                <a:cs typeface="Poppins Bold"/>
                <a:sym typeface="Poppins Bold"/>
              </a:rPr>
              <a:t>s</a:t>
            </a:r>
            <a:r>
              <a:rPr lang="en-US" b="true" sz="2415" u="none">
                <a:solidFill>
                  <a:srgbClr val="000000"/>
                </a:solidFill>
                <a:latin typeface="Poppins Bold"/>
                <a:ea typeface="Poppins Bold"/>
                <a:cs typeface="Poppins Bold"/>
                <a:sym typeface="Poppins Bold"/>
              </a:rPr>
              <a:t> </a:t>
            </a:r>
            <a:r>
              <a:rPr lang="en-US" b="true" sz="2415">
                <a:solidFill>
                  <a:srgbClr val="000000"/>
                </a:solidFill>
                <a:latin typeface="Poppins Bold"/>
                <a:ea typeface="Poppins Bold"/>
                <a:cs typeface="Poppins Bold"/>
                <a:sym typeface="Poppins Bold"/>
              </a:rPr>
              <a:t>that there is a need for </a:t>
            </a:r>
            <a:r>
              <a:rPr lang="en-US" b="true" sz="2415">
                <a:solidFill>
                  <a:srgbClr val="00BF63"/>
                </a:solidFill>
                <a:latin typeface="Poppins Bold"/>
                <a:ea typeface="Poppins Bold"/>
                <a:cs typeface="Poppins Bold"/>
                <a:sym typeface="Poppins Bold"/>
              </a:rPr>
              <a:t>stronger regulations and waste management systems</a:t>
            </a:r>
            <a:r>
              <a:rPr lang="en-US" b="true" sz="2415">
                <a:solidFill>
                  <a:srgbClr val="000000"/>
                </a:solidFill>
                <a:latin typeface="Poppins Bold"/>
                <a:ea typeface="Poppins Bold"/>
                <a:cs typeface="Poppins Bold"/>
                <a:sym typeface="Poppins Bold"/>
              </a:rPr>
              <a:t> in these regions.</a:t>
            </a:r>
          </a:p>
          <a:p>
            <a:pPr algn="l">
              <a:lnSpc>
                <a:spcPts val="3382"/>
              </a:lnSpc>
            </a:pPr>
          </a:p>
        </p:txBody>
      </p:sp>
    </p:spTree>
  </p:cSld>
  <p:clrMapOvr>
    <a:masterClrMapping/>
  </p:clrMapOvr>
  <p:transition spd="slow">
    <p:push dir="u"/>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true" flipV="false" rot="0">
            <a:off x="-1010009" y="0"/>
            <a:ext cx="5125544" cy="7378364"/>
          </a:xfrm>
          <a:custGeom>
            <a:avLst/>
            <a:gdLst/>
            <a:ahLst/>
            <a:cxnLst/>
            <a:rect r="r" b="b" t="t" l="l"/>
            <a:pathLst>
              <a:path h="7378364" w="5125544">
                <a:moveTo>
                  <a:pt x="5125544" y="0"/>
                </a:moveTo>
                <a:lnTo>
                  <a:pt x="0" y="0"/>
                </a:lnTo>
                <a:lnTo>
                  <a:pt x="0" y="7378364"/>
                </a:lnTo>
                <a:lnTo>
                  <a:pt x="5125544" y="7378364"/>
                </a:lnTo>
                <a:lnTo>
                  <a:pt x="5125544" y="0"/>
                </a:lnTo>
                <a:close/>
              </a:path>
            </a:pathLst>
          </a:custGeom>
          <a:blipFill>
            <a:blip r:embed="rId3"/>
            <a:stretch>
              <a:fillRect l="0" t="0" r="0" b="0"/>
            </a:stretch>
          </a:blipFill>
        </p:spPr>
      </p:sp>
      <p:sp>
        <p:nvSpPr>
          <p:cNvPr name="Freeform 4" id="4"/>
          <p:cNvSpPr/>
          <p:nvPr/>
        </p:nvSpPr>
        <p:spPr>
          <a:xfrm flipH="false" flipV="false" rot="0">
            <a:off x="-262589" y="4171927"/>
            <a:ext cx="4823567" cy="3262485"/>
          </a:xfrm>
          <a:custGeom>
            <a:avLst/>
            <a:gdLst/>
            <a:ahLst/>
            <a:cxnLst/>
            <a:rect r="r" b="b" t="t" l="l"/>
            <a:pathLst>
              <a:path h="3262485" w="4823567">
                <a:moveTo>
                  <a:pt x="0" y="0"/>
                </a:moveTo>
                <a:lnTo>
                  <a:pt x="4823567" y="0"/>
                </a:lnTo>
                <a:lnTo>
                  <a:pt x="4823567" y="3262485"/>
                </a:lnTo>
                <a:lnTo>
                  <a:pt x="0" y="32624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208112" y="4171927"/>
            <a:ext cx="4823567" cy="3262485"/>
          </a:xfrm>
          <a:custGeom>
            <a:avLst/>
            <a:gdLst/>
            <a:ahLst/>
            <a:cxnLst/>
            <a:rect r="r" b="b" t="t" l="l"/>
            <a:pathLst>
              <a:path h="3262485" w="4823567">
                <a:moveTo>
                  <a:pt x="0" y="0"/>
                </a:moveTo>
                <a:lnTo>
                  <a:pt x="4823567" y="0"/>
                </a:lnTo>
                <a:lnTo>
                  <a:pt x="4823567" y="3262485"/>
                </a:lnTo>
                <a:lnTo>
                  <a:pt x="0" y="32624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015793" y="6939024"/>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6">
              <a:extLst>
                <a:ext uri="{96DAC541-7B7A-43D3-8B79-37D633B846F1}">
                  <asvg:svgBlip xmlns:asvg="http://schemas.microsoft.com/office/drawing/2016/SVG/main" r:embed="rId7"/>
                </a:ext>
              </a:extLst>
            </a:blip>
            <a:stretch>
              <a:fillRect l="0" t="-67673" r="0" b="0"/>
            </a:stretch>
          </a:blipFill>
        </p:spPr>
      </p:sp>
      <p:sp>
        <p:nvSpPr>
          <p:cNvPr name="Freeform 7" id="7"/>
          <p:cNvSpPr/>
          <p:nvPr/>
        </p:nvSpPr>
        <p:spPr>
          <a:xfrm flipH="false" flipV="false" rot="0">
            <a:off x="13291958" y="-1617911"/>
            <a:ext cx="9406070" cy="10143801"/>
          </a:xfrm>
          <a:custGeom>
            <a:avLst/>
            <a:gdLst/>
            <a:ahLst/>
            <a:cxnLst/>
            <a:rect r="r" b="b" t="t" l="l"/>
            <a:pathLst>
              <a:path h="10143801" w="9406070">
                <a:moveTo>
                  <a:pt x="0" y="0"/>
                </a:moveTo>
                <a:lnTo>
                  <a:pt x="9406070" y="0"/>
                </a:lnTo>
                <a:lnTo>
                  <a:pt x="9406070" y="10143801"/>
                </a:lnTo>
                <a:lnTo>
                  <a:pt x="0" y="101438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62589" y="5396737"/>
            <a:ext cx="4810241" cy="4890263"/>
          </a:xfrm>
          <a:custGeom>
            <a:avLst/>
            <a:gdLst/>
            <a:ahLst/>
            <a:cxnLst/>
            <a:rect r="r" b="b" t="t" l="l"/>
            <a:pathLst>
              <a:path h="4890263" w="4810241">
                <a:moveTo>
                  <a:pt x="0" y="0"/>
                </a:moveTo>
                <a:lnTo>
                  <a:pt x="4810241" y="0"/>
                </a:lnTo>
                <a:lnTo>
                  <a:pt x="4810241" y="4890263"/>
                </a:lnTo>
                <a:lnTo>
                  <a:pt x="0" y="48902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5449815" y="8074188"/>
            <a:ext cx="2284962" cy="2425106"/>
          </a:xfrm>
          <a:custGeom>
            <a:avLst/>
            <a:gdLst/>
            <a:ahLst/>
            <a:cxnLst/>
            <a:rect r="r" b="b" t="t" l="l"/>
            <a:pathLst>
              <a:path h="2425106" w="2284962">
                <a:moveTo>
                  <a:pt x="0" y="0"/>
                </a:moveTo>
                <a:lnTo>
                  <a:pt x="2284962" y="0"/>
                </a:lnTo>
                <a:lnTo>
                  <a:pt x="2284962" y="2425106"/>
                </a:lnTo>
                <a:lnTo>
                  <a:pt x="0" y="2425106"/>
                </a:lnTo>
                <a:lnTo>
                  <a:pt x="0" y="0"/>
                </a:lnTo>
                <a:close/>
              </a:path>
            </a:pathLst>
          </a:custGeom>
          <a:blipFill>
            <a:blip r:embed="rId12"/>
            <a:stretch>
              <a:fillRect l="0" t="0" r="0" b="0"/>
            </a:stretch>
          </a:blipFill>
        </p:spPr>
      </p:sp>
      <p:sp>
        <p:nvSpPr>
          <p:cNvPr name="Freeform 10" id="10"/>
          <p:cNvSpPr/>
          <p:nvPr/>
        </p:nvSpPr>
        <p:spPr>
          <a:xfrm flipH="false" flipV="false" rot="0">
            <a:off x="7734777" y="8728694"/>
            <a:ext cx="1794787" cy="1904867"/>
          </a:xfrm>
          <a:custGeom>
            <a:avLst/>
            <a:gdLst/>
            <a:ahLst/>
            <a:cxnLst/>
            <a:rect r="r" b="b" t="t" l="l"/>
            <a:pathLst>
              <a:path h="1904867" w="1794787">
                <a:moveTo>
                  <a:pt x="0" y="0"/>
                </a:moveTo>
                <a:lnTo>
                  <a:pt x="1794786" y="0"/>
                </a:lnTo>
                <a:lnTo>
                  <a:pt x="1794786" y="1904867"/>
                </a:lnTo>
                <a:lnTo>
                  <a:pt x="0" y="1904867"/>
                </a:lnTo>
                <a:lnTo>
                  <a:pt x="0" y="0"/>
                </a:lnTo>
                <a:close/>
              </a:path>
            </a:pathLst>
          </a:custGeom>
          <a:blipFill>
            <a:blip r:embed="rId12"/>
            <a:stretch>
              <a:fillRect l="0" t="0" r="0" b="0"/>
            </a:stretch>
          </a:blipFill>
        </p:spPr>
      </p:sp>
      <p:sp>
        <p:nvSpPr>
          <p:cNvPr name="Freeform 11" id="11"/>
          <p:cNvSpPr/>
          <p:nvPr/>
        </p:nvSpPr>
        <p:spPr>
          <a:xfrm flipH="false" flipV="false" rot="0">
            <a:off x="10138138" y="8305867"/>
            <a:ext cx="1794787" cy="1904867"/>
          </a:xfrm>
          <a:custGeom>
            <a:avLst/>
            <a:gdLst/>
            <a:ahLst/>
            <a:cxnLst/>
            <a:rect r="r" b="b" t="t" l="l"/>
            <a:pathLst>
              <a:path h="1904867" w="1794787">
                <a:moveTo>
                  <a:pt x="0" y="0"/>
                </a:moveTo>
                <a:lnTo>
                  <a:pt x="1794786" y="0"/>
                </a:lnTo>
                <a:lnTo>
                  <a:pt x="1794786" y="1904866"/>
                </a:lnTo>
                <a:lnTo>
                  <a:pt x="0" y="1904866"/>
                </a:lnTo>
                <a:lnTo>
                  <a:pt x="0" y="0"/>
                </a:lnTo>
                <a:close/>
              </a:path>
            </a:pathLst>
          </a:custGeom>
          <a:blipFill>
            <a:blip r:embed="rId12"/>
            <a:stretch>
              <a:fillRect l="0" t="0" r="0" b="0"/>
            </a:stretch>
          </a:blipFill>
        </p:spPr>
      </p:sp>
      <p:sp>
        <p:nvSpPr>
          <p:cNvPr name="Freeform 12" id="12"/>
          <p:cNvSpPr/>
          <p:nvPr/>
        </p:nvSpPr>
        <p:spPr>
          <a:xfrm flipH="false" flipV="false" rot="0">
            <a:off x="642991" y="1777278"/>
            <a:ext cx="17024909" cy="15413965"/>
          </a:xfrm>
          <a:custGeom>
            <a:avLst/>
            <a:gdLst/>
            <a:ahLst/>
            <a:cxnLst/>
            <a:rect r="r" b="b" t="t" l="l"/>
            <a:pathLst>
              <a:path h="15413965" w="17024909">
                <a:moveTo>
                  <a:pt x="0" y="0"/>
                </a:moveTo>
                <a:lnTo>
                  <a:pt x="17024909" y="0"/>
                </a:lnTo>
                <a:lnTo>
                  <a:pt x="17024909" y="15413964"/>
                </a:lnTo>
                <a:lnTo>
                  <a:pt x="0" y="15413964"/>
                </a:lnTo>
                <a:lnTo>
                  <a:pt x="0" y="0"/>
                </a:lnTo>
                <a:close/>
              </a:path>
            </a:pathLst>
          </a:custGeom>
          <a:blipFill>
            <a:blip r:embed="rId13"/>
            <a:stretch>
              <a:fillRect l="0" t="0" r="0" b="0"/>
            </a:stretch>
          </a:blipFill>
        </p:spPr>
      </p:sp>
      <p:sp>
        <p:nvSpPr>
          <p:cNvPr name="TextBox 13" id="13"/>
          <p:cNvSpPr txBox="true"/>
          <p:nvPr/>
        </p:nvSpPr>
        <p:spPr>
          <a:xfrm rot="0">
            <a:off x="1391227" y="411847"/>
            <a:ext cx="16276673" cy="1138456"/>
          </a:xfrm>
          <a:prstGeom prst="rect">
            <a:avLst/>
          </a:prstGeom>
        </p:spPr>
        <p:txBody>
          <a:bodyPr anchor="t" rtlCol="false" tIns="0" lIns="0" bIns="0" rIns="0">
            <a:spAutoFit/>
          </a:bodyPr>
          <a:lstStyle/>
          <a:p>
            <a:pPr algn="ctr" marL="0" indent="0" lvl="0">
              <a:lnSpc>
                <a:spcPts val="7870"/>
              </a:lnSpc>
              <a:spcBef>
                <a:spcPct val="0"/>
              </a:spcBef>
            </a:pPr>
            <a:r>
              <a:rPr lang="en-US" sz="6903">
                <a:solidFill>
                  <a:srgbClr val="000000"/>
                </a:solidFill>
                <a:latin typeface="Funtastic"/>
                <a:ea typeface="Funtastic"/>
                <a:cs typeface="Funtastic"/>
                <a:sym typeface="Funtastic"/>
              </a:rPr>
              <a:t>DIVIDING THE PHILIPPINES BY REGION </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true" flipV="false" rot="0">
            <a:off x="-1010009" y="0"/>
            <a:ext cx="5125544" cy="7378364"/>
          </a:xfrm>
          <a:custGeom>
            <a:avLst/>
            <a:gdLst/>
            <a:ahLst/>
            <a:cxnLst/>
            <a:rect r="r" b="b" t="t" l="l"/>
            <a:pathLst>
              <a:path h="7378364" w="5125544">
                <a:moveTo>
                  <a:pt x="5125544" y="0"/>
                </a:moveTo>
                <a:lnTo>
                  <a:pt x="0" y="0"/>
                </a:lnTo>
                <a:lnTo>
                  <a:pt x="0" y="7378364"/>
                </a:lnTo>
                <a:lnTo>
                  <a:pt x="5125544" y="7378364"/>
                </a:lnTo>
                <a:lnTo>
                  <a:pt x="5125544" y="0"/>
                </a:lnTo>
                <a:close/>
              </a:path>
            </a:pathLst>
          </a:custGeom>
          <a:blipFill>
            <a:blip r:embed="rId3"/>
            <a:stretch>
              <a:fillRect l="0" t="0" r="0" b="0"/>
            </a:stretch>
          </a:blipFill>
        </p:spPr>
      </p:sp>
      <p:sp>
        <p:nvSpPr>
          <p:cNvPr name="Freeform 4" id="4"/>
          <p:cNvSpPr/>
          <p:nvPr/>
        </p:nvSpPr>
        <p:spPr>
          <a:xfrm flipH="false" flipV="false" rot="0">
            <a:off x="-262589" y="4171927"/>
            <a:ext cx="4823567" cy="3262485"/>
          </a:xfrm>
          <a:custGeom>
            <a:avLst/>
            <a:gdLst/>
            <a:ahLst/>
            <a:cxnLst/>
            <a:rect r="r" b="b" t="t" l="l"/>
            <a:pathLst>
              <a:path h="3262485" w="4823567">
                <a:moveTo>
                  <a:pt x="0" y="0"/>
                </a:moveTo>
                <a:lnTo>
                  <a:pt x="4823567" y="0"/>
                </a:lnTo>
                <a:lnTo>
                  <a:pt x="4823567" y="3262485"/>
                </a:lnTo>
                <a:lnTo>
                  <a:pt x="0" y="32624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208112" y="4171927"/>
            <a:ext cx="4823567" cy="3262485"/>
          </a:xfrm>
          <a:custGeom>
            <a:avLst/>
            <a:gdLst/>
            <a:ahLst/>
            <a:cxnLst/>
            <a:rect r="r" b="b" t="t" l="l"/>
            <a:pathLst>
              <a:path h="3262485" w="4823567">
                <a:moveTo>
                  <a:pt x="0" y="0"/>
                </a:moveTo>
                <a:lnTo>
                  <a:pt x="4823567" y="0"/>
                </a:lnTo>
                <a:lnTo>
                  <a:pt x="4823567" y="3262485"/>
                </a:lnTo>
                <a:lnTo>
                  <a:pt x="0" y="32624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015793" y="6939024"/>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6">
              <a:extLst>
                <a:ext uri="{96DAC541-7B7A-43D3-8B79-37D633B846F1}">
                  <asvg:svgBlip xmlns:asvg="http://schemas.microsoft.com/office/drawing/2016/SVG/main" r:embed="rId7"/>
                </a:ext>
              </a:extLst>
            </a:blip>
            <a:stretch>
              <a:fillRect l="0" t="-67673" r="0" b="0"/>
            </a:stretch>
          </a:blipFill>
        </p:spPr>
      </p:sp>
      <p:sp>
        <p:nvSpPr>
          <p:cNvPr name="Freeform 7" id="7"/>
          <p:cNvSpPr/>
          <p:nvPr/>
        </p:nvSpPr>
        <p:spPr>
          <a:xfrm flipH="false" flipV="false" rot="0">
            <a:off x="13291958" y="-1617911"/>
            <a:ext cx="9406070" cy="10143801"/>
          </a:xfrm>
          <a:custGeom>
            <a:avLst/>
            <a:gdLst/>
            <a:ahLst/>
            <a:cxnLst/>
            <a:rect r="r" b="b" t="t" l="l"/>
            <a:pathLst>
              <a:path h="10143801" w="9406070">
                <a:moveTo>
                  <a:pt x="0" y="0"/>
                </a:moveTo>
                <a:lnTo>
                  <a:pt x="9406070" y="0"/>
                </a:lnTo>
                <a:lnTo>
                  <a:pt x="9406070" y="10143801"/>
                </a:lnTo>
                <a:lnTo>
                  <a:pt x="0" y="1014380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262589" y="5396737"/>
            <a:ext cx="4810241" cy="4890263"/>
          </a:xfrm>
          <a:custGeom>
            <a:avLst/>
            <a:gdLst/>
            <a:ahLst/>
            <a:cxnLst/>
            <a:rect r="r" b="b" t="t" l="l"/>
            <a:pathLst>
              <a:path h="4890263" w="4810241">
                <a:moveTo>
                  <a:pt x="0" y="0"/>
                </a:moveTo>
                <a:lnTo>
                  <a:pt x="4810241" y="0"/>
                </a:lnTo>
                <a:lnTo>
                  <a:pt x="4810241" y="4890263"/>
                </a:lnTo>
                <a:lnTo>
                  <a:pt x="0" y="48902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5449815" y="8074188"/>
            <a:ext cx="2284962" cy="2425106"/>
          </a:xfrm>
          <a:custGeom>
            <a:avLst/>
            <a:gdLst/>
            <a:ahLst/>
            <a:cxnLst/>
            <a:rect r="r" b="b" t="t" l="l"/>
            <a:pathLst>
              <a:path h="2425106" w="2284962">
                <a:moveTo>
                  <a:pt x="0" y="0"/>
                </a:moveTo>
                <a:lnTo>
                  <a:pt x="2284962" y="0"/>
                </a:lnTo>
                <a:lnTo>
                  <a:pt x="2284962" y="2425106"/>
                </a:lnTo>
                <a:lnTo>
                  <a:pt x="0" y="2425106"/>
                </a:lnTo>
                <a:lnTo>
                  <a:pt x="0" y="0"/>
                </a:lnTo>
                <a:close/>
              </a:path>
            </a:pathLst>
          </a:custGeom>
          <a:blipFill>
            <a:blip r:embed="rId12"/>
            <a:stretch>
              <a:fillRect l="0" t="0" r="0" b="0"/>
            </a:stretch>
          </a:blipFill>
        </p:spPr>
      </p:sp>
      <p:sp>
        <p:nvSpPr>
          <p:cNvPr name="Freeform 10" id="10"/>
          <p:cNvSpPr/>
          <p:nvPr/>
        </p:nvSpPr>
        <p:spPr>
          <a:xfrm flipH="false" flipV="false" rot="0">
            <a:off x="7734777" y="8728694"/>
            <a:ext cx="1794787" cy="1904867"/>
          </a:xfrm>
          <a:custGeom>
            <a:avLst/>
            <a:gdLst/>
            <a:ahLst/>
            <a:cxnLst/>
            <a:rect r="r" b="b" t="t" l="l"/>
            <a:pathLst>
              <a:path h="1904867" w="1794787">
                <a:moveTo>
                  <a:pt x="0" y="0"/>
                </a:moveTo>
                <a:lnTo>
                  <a:pt x="1794786" y="0"/>
                </a:lnTo>
                <a:lnTo>
                  <a:pt x="1794786" y="1904867"/>
                </a:lnTo>
                <a:lnTo>
                  <a:pt x="0" y="1904867"/>
                </a:lnTo>
                <a:lnTo>
                  <a:pt x="0" y="0"/>
                </a:lnTo>
                <a:close/>
              </a:path>
            </a:pathLst>
          </a:custGeom>
          <a:blipFill>
            <a:blip r:embed="rId12"/>
            <a:stretch>
              <a:fillRect l="0" t="0" r="0" b="0"/>
            </a:stretch>
          </a:blipFill>
        </p:spPr>
      </p:sp>
      <p:sp>
        <p:nvSpPr>
          <p:cNvPr name="Freeform 11" id="11"/>
          <p:cNvSpPr/>
          <p:nvPr/>
        </p:nvSpPr>
        <p:spPr>
          <a:xfrm flipH="false" flipV="false" rot="0">
            <a:off x="10138138" y="8305867"/>
            <a:ext cx="1794787" cy="1904867"/>
          </a:xfrm>
          <a:custGeom>
            <a:avLst/>
            <a:gdLst/>
            <a:ahLst/>
            <a:cxnLst/>
            <a:rect r="r" b="b" t="t" l="l"/>
            <a:pathLst>
              <a:path h="1904867" w="1794787">
                <a:moveTo>
                  <a:pt x="0" y="0"/>
                </a:moveTo>
                <a:lnTo>
                  <a:pt x="1794786" y="0"/>
                </a:lnTo>
                <a:lnTo>
                  <a:pt x="1794786" y="1904866"/>
                </a:lnTo>
                <a:lnTo>
                  <a:pt x="0" y="1904866"/>
                </a:lnTo>
                <a:lnTo>
                  <a:pt x="0" y="0"/>
                </a:lnTo>
                <a:close/>
              </a:path>
            </a:pathLst>
          </a:custGeom>
          <a:blipFill>
            <a:blip r:embed="rId12"/>
            <a:stretch>
              <a:fillRect l="0" t="0" r="0" b="0"/>
            </a:stretch>
          </a:blipFill>
        </p:spPr>
      </p:sp>
      <p:sp>
        <p:nvSpPr>
          <p:cNvPr name="Freeform 12" id="12"/>
          <p:cNvSpPr/>
          <p:nvPr/>
        </p:nvSpPr>
        <p:spPr>
          <a:xfrm flipH="false" flipV="false" rot="0">
            <a:off x="645057" y="-8474940"/>
            <a:ext cx="17024909" cy="15413965"/>
          </a:xfrm>
          <a:custGeom>
            <a:avLst/>
            <a:gdLst/>
            <a:ahLst/>
            <a:cxnLst/>
            <a:rect r="r" b="b" t="t" l="l"/>
            <a:pathLst>
              <a:path h="15413965" w="17024909">
                <a:moveTo>
                  <a:pt x="0" y="0"/>
                </a:moveTo>
                <a:lnTo>
                  <a:pt x="17024909" y="0"/>
                </a:lnTo>
                <a:lnTo>
                  <a:pt x="17024909" y="15413964"/>
                </a:lnTo>
                <a:lnTo>
                  <a:pt x="0" y="15413964"/>
                </a:lnTo>
                <a:lnTo>
                  <a:pt x="0" y="0"/>
                </a:lnTo>
                <a:close/>
              </a:path>
            </a:pathLst>
          </a:custGeom>
          <a:blipFill>
            <a:blip r:embed="rId13"/>
            <a:stretch>
              <a:fillRect l="0" t="0" r="0" b="0"/>
            </a:stretch>
          </a:blipFill>
        </p:spPr>
      </p:sp>
      <p:sp>
        <p:nvSpPr>
          <p:cNvPr name="TextBox 13" id="13"/>
          <p:cNvSpPr txBox="true"/>
          <p:nvPr/>
        </p:nvSpPr>
        <p:spPr>
          <a:xfrm rot="0">
            <a:off x="1028700" y="7464700"/>
            <a:ext cx="16276673" cy="1138456"/>
          </a:xfrm>
          <a:prstGeom prst="rect">
            <a:avLst/>
          </a:prstGeom>
        </p:spPr>
        <p:txBody>
          <a:bodyPr anchor="t" rtlCol="false" tIns="0" lIns="0" bIns="0" rIns="0">
            <a:spAutoFit/>
          </a:bodyPr>
          <a:lstStyle/>
          <a:p>
            <a:pPr algn="ctr" marL="0" indent="0" lvl="0">
              <a:lnSpc>
                <a:spcPts val="7870"/>
              </a:lnSpc>
              <a:spcBef>
                <a:spcPct val="0"/>
              </a:spcBef>
            </a:pPr>
            <a:r>
              <a:rPr lang="en-US" sz="6903">
                <a:solidFill>
                  <a:srgbClr val="000000"/>
                </a:solidFill>
                <a:latin typeface="Funtastic"/>
                <a:ea typeface="Funtastic"/>
                <a:cs typeface="Funtastic"/>
                <a:sym typeface="Funtastic"/>
              </a:rPr>
              <a:t>DIVIDING THE PHILIPPINES BY REGION </a:t>
            </a:r>
          </a:p>
        </p:txBody>
      </p:sp>
    </p:spTree>
  </p:cSld>
  <p:clrMapOvr>
    <a:masterClrMapping/>
  </p:clrMapOvr>
  <p:transition spd="slow">
    <p:push dir="u"/>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0" y="377125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259386" y="377125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3103683" y="6716237"/>
            <a:ext cx="23585580" cy="9176935"/>
          </a:xfrm>
          <a:custGeom>
            <a:avLst/>
            <a:gdLst/>
            <a:ahLst/>
            <a:cxnLst/>
            <a:rect r="r" b="b" t="t" l="l"/>
            <a:pathLst>
              <a:path h="9176935" w="23585580">
                <a:moveTo>
                  <a:pt x="23585580" y="0"/>
                </a:moveTo>
                <a:lnTo>
                  <a:pt x="0" y="0"/>
                </a:lnTo>
                <a:lnTo>
                  <a:pt x="0" y="9176935"/>
                </a:lnTo>
                <a:lnTo>
                  <a:pt x="23585580" y="9176935"/>
                </a:lnTo>
                <a:lnTo>
                  <a:pt x="2358558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9897561" y="363536"/>
            <a:ext cx="6704606" cy="3410968"/>
          </a:xfrm>
          <a:custGeom>
            <a:avLst/>
            <a:gdLst/>
            <a:ahLst/>
            <a:cxnLst/>
            <a:rect r="r" b="b" t="t" l="l"/>
            <a:pathLst>
              <a:path h="3410968" w="6704606">
                <a:moveTo>
                  <a:pt x="6704606" y="0"/>
                </a:moveTo>
                <a:lnTo>
                  <a:pt x="0" y="0"/>
                </a:lnTo>
                <a:lnTo>
                  <a:pt x="0" y="3410968"/>
                </a:lnTo>
                <a:lnTo>
                  <a:pt x="6704606" y="3410968"/>
                </a:lnTo>
                <a:lnTo>
                  <a:pt x="6704606" y="0"/>
                </a:lnTo>
                <a:close/>
              </a:path>
            </a:pathLst>
          </a:custGeom>
          <a:blipFill>
            <a:blip r:embed="rId7">
              <a:alphaModFix amt="75000"/>
            </a:blip>
            <a:stretch>
              <a:fillRect l="0" t="0" r="0" b="0"/>
            </a:stretch>
          </a:blipFill>
        </p:spPr>
      </p:sp>
      <p:sp>
        <p:nvSpPr>
          <p:cNvPr name="Freeform 7" id="7"/>
          <p:cNvSpPr/>
          <p:nvPr/>
        </p:nvSpPr>
        <p:spPr>
          <a:xfrm flipH="false" flipV="false" rot="0">
            <a:off x="13889079" y="-320459"/>
            <a:ext cx="8497171" cy="9163616"/>
          </a:xfrm>
          <a:custGeom>
            <a:avLst/>
            <a:gdLst/>
            <a:ahLst/>
            <a:cxnLst/>
            <a:rect r="r" b="b" t="t" l="l"/>
            <a:pathLst>
              <a:path h="9163616" w="8497171">
                <a:moveTo>
                  <a:pt x="0" y="0"/>
                </a:moveTo>
                <a:lnTo>
                  <a:pt x="8497172" y="0"/>
                </a:lnTo>
                <a:lnTo>
                  <a:pt x="8497172" y="9163617"/>
                </a:lnTo>
                <a:lnTo>
                  <a:pt x="0" y="91636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13566" y="424566"/>
            <a:ext cx="5100454" cy="2594856"/>
          </a:xfrm>
          <a:custGeom>
            <a:avLst/>
            <a:gdLst/>
            <a:ahLst/>
            <a:cxnLst/>
            <a:rect r="r" b="b" t="t" l="l"/>
            <a:pathLst>
              <a:path h="2594856" w="5100454">
                <a:moveTo>
                  <a:pt x="0" y="0"/>
                </a:moveTo>
                <a:lnTo>
                  <a:pt x="5100454" y="0"/>
                </a:lnTo>
                <a:lnTo>
                  <a:pt x="5100454" y="2594856"/>
                </a:lnTo>
                <a:lnTo>
                  <a:pt x="0" y="2594856"/>
                </a:lnTo>
                <a:lnTo>
                  <a:pt x="0" y="0"/>
                </a:lnTo>
                <a:close/>
              </a:path>
            </a:pathLst>
          </a:custGeom>
          <a:blipFill>
            <a:blip r:embed="rId7">
              <a:alphaModFix amt="75000"/>
            </a:blip>
            <a:stretch>
              <a:fillRect l="0" t="0" r="0" b="0"/>
            </a:stretch>
          </a:blipFill>
        </p:spPr>
      </p:sp>
      <p:sp>
        <p:nvSpPr>
          <p:cNvPr name="Freeform 9" id="9"/>
          <p:cNvSpPr/>
          <p:nvPr/>
        </p:nvSpPr>
        <p:spPr>
          <a:xfrm flipH="false" flipV="false" rot="0">
            <a:off x="-1102307" y="736584"/>
            <a:ext cx="2204615" cy="6468307"/>
          </a:xfrm>
          <a:custGeom>
            <a:avLst/>
            <a:gdLst/>
            <a:ahLst/>
            <a:cxnLst/>
            <a:rect r="r" b="b" t="t" l="l"/>
            <a:pathLst>
              <a:path h="6468307" w="2204615">
                <a:moveTo>
                  <a:pt x="0" y="0"/>
                </a:moveTo>
                <a:lnTo>
                  <a:pt x="2204614" y="0"/>
                </a:lnTo>
                <a:lnTo>
                  <a:pt x="2204614" y="6468307"/>
                </a:lnTo>
                <a:lnTo>
                  <a:pt x="0" y="6468307"/>
                </a:lnTo>
                <a:lnTo>
                  <a:pt x="0" y="0"/>
                </a:lnTo>
                <a:close/>
              </a:path>
            </a:pathLst>
          </a:custGeom>
          <a:blipFill>
            <a:blip r:embed="rId10"/>
            <a:stretch>
              <a:fillRect l="0" t="0" r="0" b="0"/>
            </a:stretch>
          </a:blipFill>
        </p:spPr>
      </p:sp>
      <p:sp>
        <p:nvSpPr>
          <p:cNvPr name="Freeform 10" id="10"/>
          <p:cNvSpPr/>
          <p:nvPr/>
        </p:nvSpPr>
        <p:spPr>
          <a:xfrm flipH="false" flipV="false" rot="0">
            <a:off x="145367" y="4820335"/>
            <a:ext cx="2435151" cy="5466665"/>
          </a:xfrm>
          <a:custGeom>
            <a:avLst/>
            <a:gdLst/>
            <a:ahLst/>
            <a:cxnLst/>
            <a:rect r="r" b="b" t="t" l="l"/>
            <a:pathLst>
              <a:path h="5466665" w="2435151">
                <a:moveTo>
                  <a:pt x="0" y="0"/>
                </a:moveTo>
                <a:lnTo>
                  <a:pt x="2435150" y="0"/>
                </a:lnTo>
                <a:lnTo>
                  <a:pt x="2435150" y="5466665"/>
                </a:lnTo>
                <a:lnTo>
                  <a:pt x="0" y="54666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926024" y="1721994"/>
            <a:ext cx="7407339" cy="7741475"/>
            <a:chOff x="0" y="0"/>
            <a:chExt cx="1547437" cy="1617240"/>
          </a:xfrm>
        </p:grpSpPr>
        <p:sp>
          <p:nvSpPr>
            <p:cNvPr name="Freeform 12" id="12"/>
            <p:cNvSpPr/>
            <p:nvPr/>
          </p:nvSpPr>
          <p:spPr>
            <a:xfrm flipH="false" flipV="false" rot="0">
              <a:off x="0" y="0"/>
              <a:ext cx="1547437" cy="1617240"/>
            </a:xfrm>
            <a:custGeom>
              <a:avLst/>
              <a:gdLst/>
              <a:ahLst/>
              <a:cxnLst/>
              <a:rect r="r" b="b" t="t" l="l"/>
              <a:pathLst>
                <a:path h="1617240" w="1547437">
                  <a:moveTo>
                    <a:pt x="31355" y="0"/>
                  </a:moveTo>
                  <a:lnTo>
                    <a:pt x="1516082" y="0"/>
                  </a:lnTo>
                  <a:cubicBezTo>
                    <a:pt x="1524398" y="0"/>
                    <a:pt x="1532373" y="3303"/>
                    <a:pt x="1538253" y="9184"/>
                  </a:cubicBezTo>
                  <a:cubicBezTo>
                    <a:pt x="1544134" y="15064"/>
                    <a:pt x="1547437" y="23039"/>
                    <a:pt x="1547437" y="31355"/>
                  </a:cubicBezTo>
                  <a:lnTo>
                    <a:pt x="1547437" y="1585885"/>
                  </a:lnTo>
                  <a:cubicBezTo>
                    <a:pt x="1547437" y="1603202"/>
                    <a:pt x="1533399" y="1617240"/>
                    <a:pt x="1516082" y="1617240"/>
                  </a:cubicBezTo>
                  <a:lnTo>
                    <a:pt x="31355" y="1617240"/>
                  </a:lnTo>
                  <a:cubicBezTo>
                    <a:pt x="14038" y="1617240"/>
                    <a:pt x="0" y="1603202"/>
                    <a:pt x="0" y="1585885"/>
                  </a:cubicBezTo>
                  <a:lnTo>
                    <a:pt x="0" y="31355"/>
                  </a:lnTo>
                  <a:cubicBezTo>
                    <a:pt x="0" y="14038"/>
                    <a:pt x="14038" y="0"/>
                    <a:pt x="31355" y="0"/>
                  </a:cubicBezTo>
                  <a:close/>
                </a:path>
              </a:pathLst>
            </a:custGeom>
            <a:solidFill>
              <a:srgbClr val="FFFFFF"/>
            </a:solidFill>
          </p:spPr>
        </p:sp>
        <p:sp>
          <p:nvSpPr>
            <p:cNvPr name="TextBox 13" id="13"/>
            <p:cNvSpPr txBox="true"/>
            <p:nvPr/>
          </p:nvSpPr>
          <p:spPr>
            <a:xfrm>
              <a:off x="0" y="-47625"/>
              <a:ext cx="1547437" cy="1664865"/>
            </a:xfrm>
            <a:prstGeom prst="rect">
              <a:avLst/>
            </a:prstGeom>
          </p:spPr>
          <p:txBody>
            <a:bodyPr anchor="ctr" rtlCol="false" tIns="58105" lIns="58105" bIns="58105" rIns="58105"/>
            <a:lstStyle/>
            <a:p>
              <a:pPr algn="ctr">
                <a:lnSpc>
                  <a:spcPts val="3499"/>
                </a:lnSpc>
              </a:pPr>
            </a:p>
          </p:txBody>
        </p:sp>
      </p:grpSp>
      <p:sp>
        <p:nvSpPr>
          <p:cNvPr name="Freeform 14" id="14"/>
          <p:cNvSpPr/>
          <p:nvPr/>
        </p:nvSpPr>
        <p:spPr>
          <a:xfrm flipH="false" flipV="false" rot="0">
            <a:off x="8931691" y="1152018"/>
            <a:ext cx="8899103" cy="8992778"/>
          </a:xfrm>
          <a:custGeom>
            <a:avLst/>
            <a:gdLst/>
            <a:ahLst/>
            <a:cxnLst/>
            <a:rect r="r" b="b" t="t" l="l"/>
            <a:pathLst>
              <a:path h="8992778" w="8899103">
                <a:moveTo>
                  <a:pt x="0" y="0"/>
                </a:moveTo>
                <a:lnTo>
                  <a:pt x="8899103" y="0"/>
                </a:lnTo>
                <a:lnTo>
                  <a:pt x="8899103" y="8992778"/>
                </a:lnTo>
                <a:lnTo>
                  <a:pt x="0" y="8992778"/>
                </a:lnTo>
                <a:lnTo>
                  <a:pt x="0" y="0"/>
                </a:lnTo>
                <a:close/>
              </a:path>
            </a:pathLst>
          </a:custGeom>
          <a:blipFill>
            <a:blip r:embed="rId13"/>
            <a:stretch>
              <a:fillRect l="0" t="0" r="0" b="0"/>
            </a:stretch>
          </a:blipFill>
        </p:spPr>
      </p:sp>
      <p:sp>
        <p:nvSpPr>
          <p:cNvPr name="TextBox 15" id="15"/>
          <p:cNvSpPr txBox="true"/>
          <p:nvPr/>
        </p:nvSpPr>
        <p:spPr>
          <a:xfrm rot="0">
            <a:off x="926024" y="1778238"/>
            <a:ext cx="7304662" cy="7480062"/>
          </a:xfrm>
          <a:prstGeom prst="rect">
            <a:avLst/>
          </a:prstGeom>
        </p:spPr>
        <p:txBody>
          <a:bodyPr anchor="t" rtlCol="false" tIns="0" lIns="0" bIns="0" rIns="0">
            <a:spAutoFit/>
          </a:bodyPr>
          <a:lstStyle/>
          <a:p>
            <a:pPr algn="ctr">
              <a:lnSpc>
                <a:spcPts val="3477"/>
              </a:lnSpc>
            </a:pPr>
            <a:r>
              <a:rPr lang="en-US" b="true" sz="2483">
                <a:solidFill>
                  <a:srgbClr val="000000"/>
                </a:solidFill>
                <a:latin typeface="Poppins Bold"/>
                <a:ea typeface="Poppins Bold"/>
                <a:cs typeface="Poppins Bold"/>
                <a:sym typeface="Poppins Bold"/>
              </a:rPr>
              <a:t>This map illustrates the </a:t>
            </a:r>
            <a:r>
              <a:rPr lang="en-US" b="true" sz="2483" i="true">
                <a:solidFill>
                  <a:srgbClr val="000000"/>
                </a:solidFill>
                <a:latin typeface="Poppins Bold Italics"/>
                <a:ea typeface="Poppins Bold Italics"/>
                <a:cs typeface="Poppins Bold Italics"/>
                <a:sym typeface="Poppins Bold Italics"/>
              </a:rPr>
              <a:t>total hazardous waste generated by each region in the Philippines</a:t>
            </a:r>
            <a:r>
              <a:rPr lang="en-US" b="true" sz="2483">
                <a:solidFill>
                  <a:srgbClr val="000000"/>
                </a:solidFill>
                <a:latin typeface="Poppins Bold"/>
                <a:ea typeface="Poppins Bold"/>
                <a:cs typeface="Poppins Bold"/>
                <a:sym typeface="Poppins Bold"/>
              </a:rPr>
              <a:t>, measured in tons. Each region is color-coded and labeled with its corresponding hazardous waste total, providing a clear visualization of the distribution. Notably, </a:t>
            </a:r>
            <a:r>
              <a:rPr lang="en-US" b="true" sz="2483">
                <a:solidFill>
                  <a:srgbClr val="5E17EB"/>
                </a:solidFill>
                <a:latin typeface="Poppins Bold"/>
                <a:ea typeface="Poppins Bold"/>
                <a:cs typeface="Poppins Bold"/>
                <a:sym typeface="Poppins Bold"/>
              </a:rPr>
              <a:t>Region IV-A (CALABARZON)</a:t>
            </a:r>
            <a:r>
              <a:rPr lang="en-US" b="true" sz="2483">
                <a:solidFill>
                  <a:srgbClr val="000000"/>
                </a:solidFill>
                <a:latin typeface="Poppins Bold"/>
                <a:ea typeface="Poppins Bold"/>
                <a:cs typeface="Poppins Bold"/>
                <a:sym typeface="Poppins Bold"/>
              </a:rPr>
              <a:t> has the highest hazardous waste amount at </a:t>
            </a:r>
            <a:r>
              <a:rPr lang="en-US" b="true" sz="2483">
                <a:solidFill>
                  <a:srgbClr val="5E17EB"/>
                </a:solidFill>
                <a:latin typeface="Poppins Bold"/>
                <a:ea typeface="Poppins Bold"/>
                <a:cs typeface="Poppins Bold"/>
                <a:sym typeface="Poppins Bold"/>
              </a:rPr>
              <a:t>40,994.90 tons</a:t>
            </a:r>
            <a:r>
              <a:rPr lang="en-US" b="true" sz="2483">
                <a:solidFill>
                  <a:srgbClr val="000000"/>
                </a:solidFill>
                <a:latin typeface="Poppins Bold"/>
                <a:ea typeface="Poppins Bold"/>
                <a:cs typeface="Poppins Bold"/>
                <a:sym typeface="Poppins Bold"/>
              </a:rPr>
              <a:t>, followed by other regions like </a:t>
            </a:r>
            <a:r>
              <a:rPr lang="en-US" b="true" sz="2483">
                <a:solidFill>
                  <a:srgbClr val="8B9F52"/>
                </a:solidFill>
                <a:latin typeface="Poppins Bold"/>
                <a:ea typeface="Poppins Bold"/>
                <a:cs typeface="Poppins Bold"/>
                <a:sym typeface="Poppins Bold"/>
              </a:rPr>
              <a:t>NCR </a:t>
            </a:r>
            <a:r>
              <a:rPr lang="en-US" b="true" sz="2483">
                <a:solidFill>
                  <a:srgbClr val="000000"/>
                </a:solidFill>
                <a:latin typeface="Poppins Bold"/>
                <a:ea typeface="Poppins Bold"/>
                <a:cs typeface="Poppins Bold"/>
                <a:sym typeface="Poppins Bold"/>
              </a:rPr>
              <a:t>and </a:t>
            </a:r>
            <a:r>
              <a:rPr lang="en-US" b="true" sz="2483">
                <a:solidFill>
                  <a:srgbClr val="7ED957"/>
                </a:solidFill>
                <a:latin typeface="Poppins Bold"/>
                <a:ea typeface="Poppins Bold"/>
                <a:cs typeface="Poppins Bold"/>
                <a:sym typeface="Poppins Bold"/>
              </a:rPr>
              <a:t>Region III</a:t>
            </a:r>
            <a:r>
              <a:rPr lang="en-US" b="true" sz="2483">
                <a:solidFill>
                  <a:srgbClr val="000000"/>
                </a:solidFill>
                <a:latin typeface="Poppins Bold"/>
                <a:ea typeface="Poppins Bold"/>
                <a:cs typeface="Poppins Bold"/>
                <a:sym typeface="Poppins Bold"/>
              </a:rPr>
              <a:t> with significant totals. In contrast, some regions, such as a part of </a:t>
            </a:r>
            <a:r>
              <a:rPr lang="en-US" b="true" sz="2483">
                <a:solidFill>
                  <a:srgbClr val="5CE1E6"/>
                </a:solidFill>
                <a:latin typeface="Poppins Bold"/>
                <a:ea typeface="Poppins Bold"/>
                <a:cs typeface="Poppins Bold"/>
                <a:sym typeface="Poppins Bold"/>
              </a:rPr>
              <a:t>Region IX</a:t>
            </a:r>
            <a:r>
              <a:rPr lang="en-US" b="true" sz="2483">
                <a:solidFill>
                  <a:srgbClr val="000000"/>
                </a:solidFill>
                <a:latin typeface="Poppins Bold"/>
                <a:ea typeface="Poppins Bold"/>
                <a:cs typeface="Poppins Bold"/>
                <a:sym typeface="Poppins Bold"/>
              </a:rPr>
              <a:t> and </a:t>
            </a:r>
            <a:r>
              <a:rPr lang="en-US" b="true" sz="2483">
                <a:solidFill>
                  <a:srgbClr val="8B9F52"/>
                </a:solidFill>
                <a:latin typeface="Poppins Bold"/>
                <a:ea typeface="Poppins Bold"/>
                <a:cs typeface="Poppins Bold"/>
                <a:sym typeface="Poppins Bold"/>
              </a:rPr>
              <a:t>MIMAROPA</a:t>
            </a:r>
            <a:r>
              <a:rPr lang="en-US" b="true" sz="2483">
                <a:solidFill>
                  <a:srgbClr val="000000"/>
                </a:solidFill>
                <a:latin typeface="Poppins Bold"/>
                <a:ea typeface="Poppins Bold"/>
                <a:cs typeface="Poppins Bold"/>
                <a:sym typeface="Poppins Bold"/>
              </a:rPr>
              <a:t>, report low hazardous waste. This visualization highlights areas with higher waste generation, offering insights for targeted </a:t>
            </a:r>
            <a:r>
              <a:rPr lang="en-US" b="true" sz="2483" u="sng">
                <a:solidFill>
                  <a:srgbClr val="000000"/>
                </a:solidFill>
                <a:latin typeface="Poppins Bold"/>
                <a:ea typeface="Poppins Bold"/>
                <a:cs typeface="Poppins Bold"/>
                <a:sym typeface="Poppins Bold"/>
              </a:rPr>
              <a:t>waste management and environmental planning</a:t>
            </a:r>
            <a:r>
              <a:rPr lang="en-US" b="true" sz="2483">
                <a:solidFill>
                  <a:srgbClr val="000000"/>
                </a:solidFill>
                <a:latin typeface="Poppins Bold"/>
                <a:ea typeface="Poppins Bold"/>
                <a:cs typeface="Poppins Bold"/>
                <a:sym typeface="Poppins Bold"/>
              </a:rPr>
              <a:t>.</a:t>
            </a:r>
          </a:p>
        </p:txBody>
      </p:sp>
      <p:sp>
        <p:nvSpPr>
          <p:cNvPr name="TextBox 16" id="16"/>
          <p:cNvSpPr txBox="true"/>
          <p:nvPr/>
        </p:nvSpPr>
        <p:spPr>
          <a:xfrm rot="0">
            <a:off x="0" y="357891"/>
            <a:ext cx="17819099" cy="827883"/>
          </a:xfrm>
          <a:prstGeom prst="rect">
            <a:avLst/>
          </a:prstGeom>
        </p:spPr>
        <p:txBody>
          <a:bodyPr anchor="t" rtlCol="false" tIns="0" lIns="0" bIns="0" rIns="0">
            <a:spAutoFit/>
          </a:bodyPr>
          <a:lstStyle/>
          <a:p>
            <a:pPr algn="ctr" marL="0" indent="0" lvl="0">
              <a:lnSpc>
                <a:spcPts val="5742"/>
              </a:lnSpc>
              <a:spcBef>
                <a:spcPct val="0"/>
              </a:spcBef>
            </a:pPr>
            <a:r>
              <a:rPr lang="en-US" sz="5037">
                <a:solidFill>
                  <a:srgbClr val="000000"/>
                </a:solidFill>
                <a:latin typeface="Funtastic"/>
                <a:ea typeface="Funtastic"/>
                <a:cs typeface="Funtastic"/>
                <a:sym typeface="Funtastic"/>
              </a:rPr>
              <a:t>TOTAL HAZARDOUS WASTE BY REGION USING GEOPANDA</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0" y="377125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259386" y="3771257"/>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3103683" y="6716237"/>
            <a:ext cx="23585580" cy="9176935"/>
          </a:xfrm>
          <a:custGeom>
            <a:avLst/>
            <a:gdLst/>
            <a:ahLst/>
            <a:cxnLst/>
            <a:rect r="r" b="b" t="t" l="l"/>
            <a:pathLst>
              <a:path h="9176935" w="23585580">
                <a:moveTo>
                  <a:pt x="23585580" y="0"/>
                </a:moveTo>
                <a:lnTo>
                  <a:pt x="0" y="0"/>
                </a:lnTo>
                <a:lnTo>
                  <a:pt x="0" y="9176935"/>
                </a:lnTo>
                <a:lnTo>
                  <a:pt x="23585580" y="9176935"/>
                </a:lnTo>
                <a:lnTo>
                  <a:pt x="2358558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false" rot="0">
            <a:off x="9897561" y="363536"/>
            <a:ext cx="6704606" cy="3410968"/>
          </a:xfrm>
          <a:custGeom>
            <a:avLst/>
            <a:gdLst/>
            <a:ahLst/>
            <a:cxnLst/>
            <a:rect r="r" b="b" t="t" l="l"/>
            <a:pathLst>
              <a:path h="3410968" w="6704606">
                <a:moveTo>
                  <a:pt x="6704606" y="0"/>
                </a:moveTo>
                <a:lnTo>
                  <a:pt x="0" y="0"/>
                </a:lnTo>
                <a:lnTo>
                  <a:pt x="0" y="3410968"/>
                </a:lnTo>
                <a:lnTo>
                  <a:pt x="6704606" y="3410968"/>
                </a:lnTo>
                <a:lnTo>
                  <a:pt x="6704606" y="0"/>
                </a:lnTo>
                <a:close/>
              </a:path>
            </a:pathLst>
          </a:custGeom>
          <a:blipFill>
            <a:blip r:embed="rId7">
              <a:alphaModFix amt="75000"/>
            </a:blip>
            <a:stretch>
              <a:fillRect l="0" t="0" r="0" b="0"/>
            </a:stretch>
          </a:blipFill>
        </p:spPr>
      </p:sp>
      <p:sp>
        <p:nvSpPr>
          <p:cNvPr name="Freeform 7" id="7"/>
          <p:cNvSpPr/>
          <p:nvPr/>
        </p:nvSpPr>
        <p:spPr>
          <a:xfrm flipH="false" flipV="false" rot="0">
            <a:off x="13889079" y="-320459"/>
            <a:ext cx="8497171" cy="9163616"/>
          </a:xfrm>
          <a:custGeom>
            <a:avLst/>
            <a:gdLst/>
            <a:ahLst/>
            <a:cxnLst/>
            <a:rect r="r" b="b" t="t" l="l"/>
            <a:pathLst>
              <a:path h="9163616" w="8497171">
                <a:moveTo>
                  <a:pt x="0" y="0"/>
                </a:moveTo>
                <a:lnTo>
                  <a:pt x="8497172" y="0"/>
                </a:lnTo>
                <a:lnTo>
                  <a:pt x="8497172" y="9163617"/>
                </a:lnTo>
                <a:lnTo>
                  <a:pt x="0" y="91636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13566" y="424566"/>
            <a:ext cx="5100454" cy="2594856"/>
          </a:xfrm>
          <a:custGeom>
            <a:avLst/>
            <a:gdLst/>
            <a:ahLst/>
            <a:cxnLst/>
            <a:rect r="r" b="b" t="t" l="l"/>
            <a:pathLst>
              <a:path h="2594856" w="5100454">
                <a:moveTo>
                  <a:pt x="0" y="0"/>
                </a:moveTo>
                <a:lnTo>
                  <a:pt x="5100454" y="0"/>
                </a:lnTo>
                <a:lnTo>
                  <a:pt x="5100454" y="2594856"/>
                </a:lnTo>
                <a:lnTo>
                  <a:pt x="0" y="2594856"/>
                </a:lnTo>
                <a:lnTo>
                  <a:pt x="0" y="0"/>
                </a:lnTo>
                <a:close/>
              </a:path>
            </a:pathLst>
          </a:custGeom>
          <a:blipFill>
            <a:blip r:embed="rId7">
              <a:alphaModFix amt="75000"/>
            </a:blip>
            <a:stretch>
              <a:fillRect l="0" t="0" r="0" b="0"/>
            </a:stretch>
          </a:blipFill>
        </p:spPr>
      </p:sp>
      <p:sp>
        <p:nvSpPr>
          <p:cNvPr name="Freeform 9" id="9"/>
          <p:cNvSpPr/>
          <p:nvPr/>
        </p:nvSpPr>
        <p:spPr>
          <a:xfrm flipH="false" flipV="false" rot="0">
            <a:off x="-1102307" y="736584"/>
            <a:ext cx="2204615" cy="6468307"/>
          </a:xfrm>
          <a:custGeom>
            <a:avLst/>
            <a:gdLst/>
            <a:ahLst/>
            <a:cxnLst/>
            <a:rect r="r" b="b" t="t" l="l"/>
            <a:pathLst>
              <a:path h="6468307" w="2204615">
                <a:moveTo>
                  <a:pt x="0" y="0"/>
                </a:moveTo>
                <a:lnTo>
                  <a:pt x="2204614" y="0"/>
                </a:lnTo>
                <a:lnTo>
                  <a:pt x="2204614" y="6468307"/>
                </a:lnTo>
                <a:lnTo>
                  <a:pt x="0" y="6468307"/>
                </a:lnTo>
                <a:lnTo>
                  <a:pt x="0" y="0"/>
                </a:lnTo>
                <a:close/>
              </a:path>
            </a:pathLst>
          </a:custGeom>
          <a:blipFill>
            <a:blip r:embed="rId10"/>
            <a:stretch>
              <a:fillRect l="0" t="0" r="0" b="0"/>
            </a:stretch>
          </a:blipFill>
        </p:spPr>
      </p:sp>
      <p:sp>
        <p:nvSpPr>
          <p:cNvPr name="Freeform 10" id="10"/>
          <p:cNvSpPr/>
          <p:nvPr/>
        </p:nvSpPr>
        <p:spPr>
          <a:xfrm flipH="false" flipV="false" rot="0">
            <a:off x="15852849" y="4820335"/>
            <a:ext cx="2435151" cy="5466665"/>
          </a:xfrm>
          <a:custGeom>
            <a:avLst/>
            <a:gdLst/>
            <a:ahLst/>
            <a:cxnLst/>
            <a:rect r="r" b="b" t="t" l="l"/>
            <a:pathLst>
              <a:path h="5466665" w="2435151">
                <a:moveTo>
                  <a:pt x="0" y="0"/>
                </a:moveTo>
                <a:lnTo>
                  <a:pt x="2435151" y="0"/>
                </a:lnTo>
                <a:lnTo>
                  <a:pt x="2435151" y="5466665"/>
                </a:lnTo>
                <a:lnTo>
                  <a:pt x="0" y="546666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10185410" y="1721994"/>
            <a:ext cx="7407339" cy="7741475"/>
            <a:chOff x="0" y="0"/>
            <a:chExt cx="1547437" cy="1617240"/>
          </a:xfrm>
        </p:grpSpPr>
        <p:sp>
          <p:nvSpPr>
            <p:cNvPr name="Freeform 12" id="12"/>
            <p:cNvSpPr/>
            <p:nvPr/>
          </p:nvSpPr>
          <p:spPr>
            <a:xfrm flipH="false" flipV="false" rot="0">
              <a:off x="0" y="0"/>
              <a:ext cx="1547437" cy="1617240"/>
            </a:xfrm>
            <a:custGeom>
              <a:avLst/>
              <a:gdLst/>
              <a:ahLst/>
              <a:cxnLst/>
              <a:rect r="r" b="b" t="t" l="l"/>
              <a:pathLst>
                <a:path h="1617240" w="1547437">
                  <a:moveTo>
                    <a:pt x="31355" y="0"/>
                  </a:moveTo>
                  <a:lnTo>
                    <a:pt x="1516082" y="0"/>
                  </a:lnTo>
                  <a:cubicBezTo>
                    <a:pt x="1524398" y="0"/>
                    <a:pt x="1532373" y="3303"/>
                    <a:pt x="1538253" y="9184"/>
                  </a:cubicBezTo>
                  <a:cubicBezTo>
                    <a:pt x="1544134" y="15064"/>
                    <a:pt x="1547437" y="23039"/>
                    <a:pt x="1547437" y="31355"/>
                  </a:cubicBezTo>
                  <a:lnTo>
                    <a:pt x="1547437" y="1585885"/>
                  </a:lnTo>
                  <a:cubicBezTo>
                    <a:pt x="1547437" y="1603202"/>
                    <a:pt x="1533399" y="1617240"/>
                    <a:pt x="1516082" y="1617240"/>
                  </a:cubicBezTo>
                  <a:lnTo>
                    <a:pt x="31355" y="1617240"/>
                  </a:lnTo>
                  <a:cubicBezTo>
                    <a:pt x="14038" y="1617240"/>
                    <a:pt x="0" y="1603202"/>
                    <a:pt x="0" y="1585885"/>
                  </a:cubicBezTo>
                  <a:lnTo>
                    <a:pt x="0" y="31355"/>
                  </a:lnTo>
                  <a:cubicBezTo>
                    <a:pt x="0" y="14038"/>
                    <a:pt x="14038" y="0"/>
                    <a:pt x="31355" y="0"/>
                  </a:cubicBezTo>
                  <a:close/>
                </a:path>
              </a:pathLst>
            </a:custGeom>
            <a:solidFill>
              <a:srgbClr val="FFFFFF"/>
            </a:solidFill>
          </p:spPr>
        </p:sp>
        <p:sp>
          <p:nvSpPr>
            <p:cNvPr name="TextBox 13" id="13"/>
            <p:cNvSpPr txBox="true"/>
            <p:nvPr/>
          </p:nvSpPr>
          <p:spPr>
            <a:xfrm>
              <a:off x="0" y="-47625"/>
              <a:ext cx="1547437" cy="1664865"/>
            </a:xfrm>
            <a:prstGeom prst="rect">
              <a:avLst/>
            </a:prstGeom>
          </p:spPr>
          <p:txBody>
            <a:bodyPr anchor="ctr" rtlCol="false" tIns="58105" lIns="58105" bIns="58105" rIns="58105"/>
            <a:lstStyle/>
            <a:p>
              <a:pPr algn="ctr">
                <a:lnSpc>
                  <a:spcPts val="3499"/>
                </a:lnSpc>
              </a:pPr>
            </a:p>
          </p:txBody>
        </p:sp>
      </p:grpSp>
      <p:sp>
        <p:nvSpPr>
          <p:cNvPr name="Freeform 14" id="14"/>
          <p:cNvSpPr/>
          <p:nvPr/>
        </p:nvSpPr>
        <p:spPr>
          <a:xfrm flipH="false" flipV="false" rot="0">
            <a:off x="495203" y="1117188"/>
            <a:ext cx="8764183" cy="8856438"/>
          </a:xfrm>
          <a:custGeom>
            <a:avLst/>
            <a:gdLst/>
            <a:ahLst/>
            <a:cxnLst/>
            <a:rect r="r" b="b" t="t" l="l"/>
            <a:pathLst>
              <a:path h="8856438" w="8764183">
                <a:moveTo>
                  <a:pt x="0" y="0"/>
                </a:moveTo>
                <a:lnTo>
                  <a:pt x="8764183" y="0"/>
                </a:lnTo>
                <a:lnTo>
                  <a:pt x="8764183" y="8856438"/>
                </a:lnTo>
                <a:lnTo>
                  <a:pt x="0" y="8856438"/>
                </a:lnTo>
                <a:lnTo>
                  <a:pt x="0" y="0"/>
                </a:lnTo>
                <a:close/>
              </a:path>
            </a:pathLst>
          </a:custGeom>
          <a:blipFill>
            <a:blip r:embed="rId13"/>
            <a:stretch>
              <a:fillRect l="0" t="0" r="0" b="0"/>
            </a:stretch>
          </a:blipFill>
        </p:spPr>
      </p:sp>
      <p:sp>
        <p:nvSpPr>
          <p:cNvPr name="TextBox 15" id="15"/>
          <p:cNvSpPr txBox="true"/>
          <p:nvPr/>
        </p:nvSpPr>
        <p:spPr>
          <a:xfrm rot="0">
            <a:off x="10257452" y="1830850"/>
            <a:ext cx="7263256" cy="7447564"/>
          </a:xfrm>
          <a:prstGeom prst="rect">
            <a:avLst/>
          </a:prstGeom>
        </p:spPr>
        <p:txBody>
          <a:bodyPr anchor="t" rtlCol="false" tIns="0" lIns="0" bIns="0" rIns="0">
            <a:spAutoFit/>
          </a:bodyPr>
          <a:lstStyle/>
          <a:p>
            <a:pPr algn="ctr">
              <a:lnSpc>
                <a:spcPts val="3457"/>
              </a:lnSpc>
            </a:pPr>
            <a:r>
              <a:rPr lang="en-US" sz="2469" b="true">
                <a:solidFill>
                  <a:srgbClr val="000000"/>
                </a:solidFill>
                <a:latin typeface="Poppins Bold"/>
                <a:ea typeface="Poppins Bold"/>
                <a:cs typeface="Poppins Bold"/>
                <a:sym typeface="Poppins Bold"/>
              </a:rPr>
              <a:t>This map shows </a:t>
            </a:r>
            <a:r>
              <a:rPr lang="en-US" b="true" sz="2469" i="true">
                <a:solidFill>
                  <a:srgbClr val="000000"/>
                </a:solidFill>
                <a:latin typeface="Poppins Bold Italics"/>
                <a:ea typeface="Poppins Bold Italics"/>
                <a:cs typeface="Poppins Bold Italics"/>
                <a:sym typeface="Poppins Bold Italics"/>
              </a:rPr>
              <a:t>the total number of registered TSD (Treatment, Storage, and Disposal) facilities in each region</a:t>
            </a:r>
            <a:r>
              <a:rPr lang="en-US" sz="2469" b="true">
                <a:solidFill>
                  <a:srgbClr val="000000"/>
                </a:solidFill>
                <a:latin typeface="Poppins Bold"/>
                <a:ea typeface="Poppins Bold"/>
                <a:cs typeface="Poppins Bold"/>
                <a:sym typeface="Poppins Bold"/>
              </a:rPr>
              <a:t> of the Philippines for 2023. Each region is color-coded and labeled with its corresponding facility count. </a:t>
            </a:r>
            <a:r>
              <a:rPr lang="en-US" sz="2469" b="true">
                <a:solidFill>
                  <a:srgbClr val="00BF63"/>
                </a:solidFill>
                <a:latin typeface="Poppins Bold"/>
                <a:ea typeface="Poppins Bold"/>
                <a:cs typeface="Poppins Bold"/>
                <a:sym typeface="Poppins Bold"/>
              </a:rPr>
              <a:t>Region III (Central Luzon)</a:t>
            </a:r>
            <a:r>
              <a:rPr lang="en-US" sz="2469" b="true">
                <a:solidFill>
                  <a:srgbClr val="000000"/>
                </a:solidFill>
                <a:latin typeface="Poppins Bold"/>
                <a:ea typeface="Poppins Bold"/>
                <a:cs typeface="Poppins Bold"/>
                <a:sym typeface="Poppins Bold"/>
              </a:rPr>
              <a:t> has the highest number of registered facilities, totaling </a:t>
            </a:r>
            <a:r>
              <a:rPr lang="en-US" sz="2469" b="true">
                <a:solidFill>
                  <a:srgbClr val="00BF63"/>
                </a:solidFill>
                <a:latin typeface="Poppins Bold"/>
                <a:ea typeface="Poppins Bold"/>
                <a:cs typeface="Poppins Bold"/>
                <a:sym typeface="Poppins Bold"/>
              </a:rPr>
              <a:t>59 facilities</a:t>
            </a:r>
            <a:r>
              <a:rPr lang="en-US" sz="2469" b="true">
                <a:solidFill>
                  <a:srgbClr val="000000"/>
                </a:solidFill>
                <a:latin typeface="Poppins Bold"/>
                <a:ea typeface="Poppins Bold"/>
                <a:cs typeface="Poppins Bold"/>
                <a:sym typeface="Poppins Bold"/>
              </a:rPr>
              <a:t>, followed by the</a:t>
            </a:r>
          </a:p>
          <a:p>
            <a:pPr algn="ctr">
              <a:lnSpc>
                <a:spcPts val="3457"/>
              </a:lnSpc>
            </a:pPr>
            <a:r>
              <a:rPr lang="en-US" b="true" sz="2469">
                <a:solidFill>
                  <a:srgbClr val="FF66C4"/>
                </a:solidFill>
                <a:latin typeface="Poppins Bold"/>
                <a:ea typeface="Poppins Bold"/>
                <a:cs typeface="Poppins Bold"/>
                <a:sym typeface="Poppins Bold"/>
              </a:rPr>
              <a:t> Region IV-A (CALABARZON)</a:t>
            </a:r>
            <a:r>
              <a:rPr lang="en-US" b="true" sz="2469">
                <a:solidFill>
                  <a:srgbClr val="000000"/>
                </a:solidFill>
                <a:latin typeface="Poppins Bold"/>
                <a:ea typeface="Poppins Bold"/>
                <a:cs typeface="Poppins Bold"/>
                <a:sym typeface="Poppins Bold"/>
              </a:rPr>
              <a:t> with </a:t>
            </a:r>
            <a:r>
              <a:rPr lang="en-US" b="true" sz="2469">
                <a:solidFill>
                  <a:srgbClr val="FF66C4"/>
                </a:solidFill>
                <a:latin typeface="Poppins Bold"/>
                <a:ea typeface="Poppins Bold"/>
                <a:cs typeface="Poppins Bold"/>
                <a:sym typeface="Poppins Bold"/>
              </a:rPr>
              <a:t>46 facilities</a:t>
            </a:r>
            <a:r>
              <a:rPr lang="en-US" b="true" sz="2469">
                <a:solidFill>
                  <a:srgbClr val="000000"/>
                </a:solidFill>
                <a:latin typeface="Poppins Bold"/>
                <a:ea typeface="Poppins Bold"/>
                <a:cs typeface="Poppins Bold"/>
                <a:sym typeface="Poppins Bold"/>
              </a:rPr>
              <a:t>. Some regions, such as </a:t>
            </a:r>
            <a:r>
              <a:rPr lang="en-US" b="true" sz="2469">
                <a:solidFill>
                  <a:srgbClr val="7ED957"/>
                </a:solidFill>
                <a:latin typeface="Poppins Bold"/>
                <a:ea typeface="Poppins Bold"/>
                <a:cs typeface="Poppins Bold"/>
                <a:sym typeface="Poppins Bold"/>
              </a:rPr>
              <a:t>BARMM </a:t>
            </a:r>
            <a:r>
              <a:rPr lang="en-US" b="true" sz="2469">
                <a:solidFill>
                  <a:srgbClr val="000000"/>
                </a:solidFill>
                <a:latin typeface="Poppins Bold"/>
                <a:ea typeface="Poppins Bold"/>
                <a:cs typeface="Poppins Bold"/>
                <a:sym typeface="Poppins Bold"/>
              </a:rPr>
              <a:t>and </a:t>
            </a:r>
            <a:r>
              <a:rPr lang="en-US" b="true" sz="2469">
                <a:solidFill>
                  <a:srgbClr val="38B6FF"/>
                </a:solidFill>
                <a:latin typeface="Poppins Bold"/>
                <a:ea typeface="Poppins Bold"/>
                <a:cs typeface="Poppins Bold"/>
                <a:sym typeface="Poppins Bold"/>
              </a:rPr>
              <a:t>Region XIII (Caraga)</a:t>
            </a:r>
            <a:r>
              <a:rPr lang="en-US" b="true" sz="2469">
                <a:solidFill>
                  <a:srgbClr val="000000"/>
                </a:solidFill>
                <a:latin typeface="Poppins Bold"/>
                <a:ea typeface="Poppins Bold"/>
                <a:cs typeface="Poppins Bold"/>
                <a:sym typeface="Poppins Bold"/>
              </a:rPr>
              <a:t>, report 0 registered facilities. The </a:t>
            </a:r>
            <a:r>
              <a:rPr lang="en-US" b="true" sz="2469" i="true">
                <a:solidFill>
                  <a:srgbClr val="000000"/>
                </a:solidFill>
                <a:latin typeface="Poppins Bold Italics"/>
                <a:ea typeface="Poppins Bold Italics"/>
                <a:cs typeface="Poppins Bold Italics"/>
                <a:sym typeface="Poppins Bold Italics"/>
              </a:rPr>
              <a:t>total number of registered TSD facilities</a:t>
            </a:r>
            <a:r>
              <a:rPr lang="en-US" b="true" sz="2469">
                <a:solidFill>
                  <a:srgbClr val="000000"/>
                </a:solidFill>
                <a:latin typeface="Poppins Bold"/>
                <a:ea typeface="Poppins Bold"/>
                <a:cs typeface="Poppins Bold"/>
                <a:sym typeface="Poppins Bold"/>
              </a:rPr>
              <a:t> in the Philippines is resulted to </a:t>
            </a:r>
            <a:r>
              <a:rPr lang="en-US" b="true" sz="2469">
                <a:solidFill>
                  <a:srgbClr val="5E17EB"/>
                </a:solidFill>
                <a:latin typeface="Poppins Bold"/>
                <a:ea typeface="Poppins Bold"/>
                <a:cs typeface="Poppins Bold"/>
                <a:sym typeface="Poppins Bold"/>
              </a:rPr>
              <a:t>175</a:t>
            </a:r>
            <a:r>
              <a:rPr lang="en-US" b="true" sz="2469">
                <a:solidFill>
                  <a:srgbClr val="000000"/>
                </a:solidFill>
                <a:latin typeface="Poppins Bold"/>
                <a:ea typeface="Poppins Bold"/>
                <a:cs typeface="Poppins Bold"/>
                <a:sym typeface="Poppins Bold"/>
              </a:rPr>
              <a:t>. This visualization highlights regions with </a:t>
            </a:r>
            <a:r>
              <a:rPr lang="en-US" b="true" sz="2469" u="sng">
                <a:solidFill>
                  <a:srgbClr val="000000"/>
                </a:solidFill>
                <a:latin typeface="Poppins Bold"/>
                <a:ea typeface="Poppins Bold"/>
                <a:cs typeface="Poppins Bold"/>
                <a:sym typeface="Poppins Bold"/>
              </a:rPr>
              <a:t>better waste management infrastructure</a:t>
            </a:r>
            <a:r>
              <a:rPr lang="en-US" b="true" sz="2469">
                <a:solidFill>
                  <a:srgbClr val="000000"/>
                </a:solidFill>
                <a:latin typeface="Poppins Bold"/>
                <a:ea typeface="Poppins Bold"/>
                <a:cs typeface="Poppins Bold"/>
                <a:sym typeface="Poppins Bold"/>
              </a:rPr>
              <a:t> and </a:t>
            </a:r>
            <a:r>
              <a:rPr lang="en-US" b="true" sz="2469" u="sng">
                <a:solidFill>
                  <a:srgbClr val="000000"/>
                </a:solidFill>
                <a:latin typeface="Poppins Bold"/>
                <a:ea typeface="Poppins Bold"/>
                <a:cs typeface="Poppins Bold"/>
                <a:sym typeface="Poppins Bold"/>
              </a:rPr>
              <a:t>areas that may require further development</a:t>
            </a:r>
            <a:r>
              <a:rPr lang="en-US" b="true" sz="2469">
                <a:solidFill>
                  <a:srgbClr val="000000"/>
                </a:solidFill>
                <a:latin typeface="Poppins Bold"/>
                <a:ea typeface="Poppins Bold"/>
                <a:cs typeface="Poppins Bold"/>
                <a:sym typeface="Poppins Bold"/>
              </a:rPr>
              <a:t>.</a:t>
            </a:r>
          </a:p>
        </p:txBody>
      </p:sp>
      <p:sp>
        <p:nvSpPr>
          <p:cNvPr name="TextBox 16" id="16"/>
          <p:cNvSpPr txBox="true"/>
          <p:nvPr/>
        </p:nvSpPr>
        <p:spPr>
          <a:xfrm rot="0">
            <a:off x="0" y="298830"/>
            <a:ext cx="18137665" cy="681678"/>
          </a:xfrm>
          <a:prstGeom prst="rect">
            <a:avLst/>
          </a:prstGeom>
        </p:spPr>
        <p:txBody>
          <a:bodyPr anchor="t" rtlCol="false" tIns="0" lIns="0" bIns="0" rIns="0">
            <a:spAutoFit/>
          </a:bodyPr>
          <a:lstStyle/>
          <a:p>
            <a:pPr algn="ctr" marL="0" indent="0" lvl="0">
              <a:lnSpc>
                <a:spcPts val="4711"/>
              </a:lnSpc>
              <a:spcBef>
                <a:spcPct val="0"/>
              </a:spcBef>
            </a:pPr>
            <a:r>
              <a:rPr lang="en-US" sz="4132">
                <a:solidFill>
                  <a:srgbClr val="000000"/>
                </a:solidFill>
                <a:latin typeface="Funtastic"/>
                <a:ea typeface="Funtastic"/>
                <a:cs typeface="Funtastic"/>
                <a:sym typeface="Funtastic"/>
              </a:rPr>
              <a:t>TOTAL NUMBER OF REGISTERED TSD FACILITIES IN 2023 USING GEOPANDA</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27808" y="7741764"/>
            <a:ext cx="22143617" cy="5090471"/>
          </a:xfrm>
          <a:custGeom>
            <a:avLst/>
            <a:gdLst/>
            <a:ahLst/>
            <a:cxnLst/>
            <a:rect r="r" b="b" t="t" l="l"/>
            <a:pathLst>
              <a:path h="5090471" w="22143617">
                <a:moveTo>
                  <a:pt x="0" y="0"/>
                </a:moveTo>
                <a:lnTo>
                  <a:pt x="22143616" y="0"/>
                </a:lnTo>
                <a:lnTo>
                  <a:pt x="22143616" y="5090472"/>
                </a:lnTo>
                <a:lnTo>
                  <a:pt x="0" y="5090472"/>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0"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323603" y="517992"/>
            <a:ext cx="6704606" cy="3410968"/>
          </a:xfrm>
          <a:custGeom>
            <a:avLst/>
            <a:gdLst/>
            <a:ahLst/>
            <a:cxnLst/>
            <a:rect r="r" b="b" t="t" l="l"/>
            <a:pathLst>
              <a:path h="3410968" w="6704606">
                <a:moveTo>
                  <a:pt x="0" y="0"/>
                </a:moveTo>
                <a:lnTo>
                  <a:pt x="6704606" y="0"/>
                </a:lnTo>
                <a:lnTo>
                  <a:pt x="6704606" y="3410969"/>
                </a:lnTo>
                <a:lnTo>
                  <a:pt x="0" y="3410969"/>
                </a:lnTo>
                <a:lnTo>
                  <a:pt x="0" y="0"/>
                </a:lnTo>
                <a:close/>
              </a:path>
            </a:pathLst>
          </a:custGeom>
          <a:blipFill>
            <a:blip r:embed="rId7">
              <a:alphaModFix amt="75000"/>
            </a:blip>
            <a:stretch>
              <a:fillRect l="0" t="0" r="0" b="0"/>
            </a:stretch>
          </a:blipFill>
        </p:spPr>
      </p:sp>
      <p:sp>
        <p:nvSpPr>
          <p:cNvPr name="Freeform 6" id="6"/>
          <p:cNvSpPr/>
          <p:nvPr/>
        </p:nvSpPr>
        <p:spPr>
          <a:xfrm flipH="false" flipV="false" rot="0">
            <a:off x="-331704" y="517992"/>
            <a:ext cx="2894875" cy="8493520"/>
          </a:xfrm>
          <a:custGeom>
            <a:avLst/>
            <a:gdLst/>
            <a:ahLst/>
            <a:cxnLst/>
            <a:rect r="r" b="b" t="t" l="l"/>
            <a:pathLst>
              <a:path h="8493520" w="2894875">
                <a:moveTo>
                  <a:pt x="0" y="0"/>
                </a:moveTo>
                <a:lnTo>
                  <a:pt x="2894875" y="0"/>
                </a:lnTo>
                <a:lnTo>
                  <a:pt x="2894875" y="8493521"/>
                </a:lnTo>
                <a:lnTo>
                  <a:pt x="0" y="8493521"/>
                </a:lnTo>
                <a:lnTo>
                  <a:pt x="0" y="0"/>
                </a:lnTo>
                <a:close/>
              </a:path>
            </a:pathLst>
          </a:custGeom>
          <a:blipFill>
            <a:blip r:embed="rId8"/>
            <a:stretch>
              <a:fillRect l="0" t="0" r="0" b="0"/>
            </a:stretch>
          </a:blipFill>
        </p:spPr>
      </p:sp>
      <p:sp>
        <p:nvSpPr>
          <p:cNvPr name="Freeform 7" id="7"/>
          <p:cNvSpPr/>
          <p:nvPr/>
        </p:nvSpPr>
        <p:spPr>
          <a:xfrm flipH="false" flipV="false" rot="0">
            <a:off x="9259386"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2526655" y="94684"/>
            <a:ext cx="6704606" cy="3410968"/>
          </a:xfrm>
          <a:custGeom>
            <a:avLst/>
            <a:gdLst/>
            <a:ahLst/>
            <a:cxnLst/>
            <a:rect r="r" b="b" t="t" l="l"/>
            <a:pathLst>
              <a:path h="3410968" w="6704606">
                <a:moveTo>
                  <a:pt x="6704606" y="0"/>
                </a:moveTo>
                <a:lnTo>
                  <a:pt x="0" y="0"/>
                </a:lnTo>
                <a:lnTo>
                  <a:pt x="0" y="3410968"/>
                </a:lnTo>
                <a:lnTo>
                  <a:pt x="6704606" y="3410968"/>
                </a:lnTo>
                <a:lnTo>
                  <a:pt x="6704606" y="0"/>
                </a:lnTo>
                <a:close/>
              </a:path>
            </a:pathLst>
          </a:custGeom>
          <a:blipFill>
            <a:blip r:embed="rId7">
              <a:alphaModFix amt="75000"/>
            </a:blip>
            <a:stretch>
              <a:fillRect l="0" t="0" r="0" b="0"/>
            </a:stretch>
          </a:blipFill>
        </p:spPr>
      </p:sp>
      <p:sp>
        <p:nvSpPr>
          <p:cNvPr name="Freeform 9" id="9"/>
          <p:cNvSpPr/>
          <p:nvPr/>
        </p:nvSpPr>
        <p:spPr>
          <a:xfrm flipH="true" flipV="false" rot="0">
            <a:off x="15878958" y="517992"/>
            <a:ext cx="2894875" cy="8493520"/>
          </a:xfrm>
          <a:custGeom>
            <a:avLst/>
            <a:gdLst/>
            <a:ahLst/>
            <a:cxnLst/>
            <a:rect r="r" b="b" t="t" l="l"/>
            <a:pathLst>
              <a:path h="8493520" w="2894875">
                <a:moveTo>
                  <a:pt x="2894875" y="0"/>
                </a:moveTo>
                <a:lnTo>
                  <a:pt x="0" y="0"/>
                </a:lnTo>
                <a:lnTo>
                  <a:pt x="0" y="8493521"/>
                </a:lnTo>
                <a:lnTo>
                  <a:pt x="2894875" y="8493521"/>
                </a:lnTo>
                <a:lnTo>
                  <a:pt x="2894875" y="0"/>
                </a:lnTo>
                <a:close/>
              </a:path>
            </a:pathLst>
          </a:custGeom>
          <a:blipFill>
            <a:blip r:embed="rId8"/>
            <a:stretch>
              <a:fillRect l="0" t="0" r="0" b="0"/>
            </a:stretch>
          </a:blipFill>
        </p:spPr>
      </p:sp>
      <p:sp>
        <p:nvSpPr>
          <p:cNvPr name="Freeform 10" id="10"/>
          <p:cNvSpPr/>
          <p:nvPr/>
        </p:nvSpPr>
        <p:spPr>
          <a:xfrm flipH="false" flipV="false" rot="0">
            <a:off x="12526655" y="3928961"/>
            <a:ext cx="5171548" cy="7625607"/>
          </a:xfrm>
          <a:custGeom>
            <a:avLst/>
            <a:gdLst/>
            <a:ahLst/>
            <a:cxnLst/>
            <a:rect r="r" b="b" t="t" l="l"/>
            <a:pathLst>
              <a:path h="7625607" w="5171548">
                <a:moveTo>
                  <a:pt x="0" y="0"/>
                </a:moveTo>
                <a:lnTo>
                  <a:pt x="5171549" y="0"/>
                </a:lnTo>
                <a:lnTo>
                  <a:pt x="5171549" y="7625607"/>
                </a:lnTo>
                <a:lnTo>
                  <a:pt x="0" y="76256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0" y="6181172"/>
            <a:ext cx="9875079" cy="4650264"/>
          </a:xfrm>
          <a:custGeom>
            <a:avLst/>
            <a:gdLst/>
            <a:ahLst/>
            <a:cxnLst/>
            <a:rect r="r" b="b" t="t" l="l"/>
            <a:pathLst>
              <a:path h="4650264" w="9875079">
                <a:moveTo>
                  <a:pt x="0" y="0"/>
                </a:moveTo>
                <a:lnTo>
                  <a:pt x="9875079" y="0"/>
                </a:lnTo>
                <a:lnTo>
                  <a:pt x="9875079" y="4650264"/>
                </a:lnTo>
                <a:lnTo>
                  <a:pt x="0" y="46502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3299978" y="4622449"/>
            <a:ext cx="5959408" cy="4539985"/>
          </a:xfrm>
          <a:custGeom>
            <a:avLst/>
            <a:gdLst/>
            <a:ahLst/>
            <a:cxnLst/>
            <a:rect r="r" b="b" t="t" l="l"/>
            <a:pathLst>
              <a:path h="4539985" w="5959408">
                <a:moveTo>
                  <a:pt x="0" y="0"/>
                </a:moveTo>
                <a:lnTo>
                  <a:pt x="5959408" y="0"/>
                </a:lnTo>
                <a:lnTo>
                  <a:pt x="5959408" y="4539986"/>
                </a:lnTo>
                <a:lnTo>
                  <a:pt x="0" y="4539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8689107" y="3812679"/>
            <a:ext cx="7913059" cy="6474321"/>
          </a:xfrm>
          <a:custGeom>
            <a:avLst/>
            <a:gdLst/>
            <a:ahLst/>
            <a:cxnLst/>
            <a:rect r="r" b="b" t="t" l="l"/>
            <a:pathLst>
              <a:path h="6474321" w="7913059">
                <a:moveTo>
                  <a:pt x="0" y="0"/>
                </a:moveTo>
                <a:lnTo>
                  <a:pt x="7913060" y="0"/>
                </a:lnTo>
                <a:lnTo>
                  <a:pt x="7913060" y="6474321"/>
                </a:lnTo>
                <a:lnTo>
                  <a:pt x="0" y="647432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4" id="14"/>
          <p:cNvGrpSpPr/>
          <p:nvPr/>
        </p:nvGrpSpPr>
        <p:grpSpPr>
          <a:xfrm rot="0">
            <a:off x="375520" y="1838499"/>
            <a:ext cx="5904162" cy="6173791"/>
            <a:chOff x="0" y="0"/>
            <a:chExt cx="1233415" cy="1289742"/>
          </a:xfrm>
        </p:grpSpPr>
        <p:sp>
          <p:nvSpPr>
            <p:cNvPr name="Freeform 15" id="15"/>
            <p:cNvSpPr/>
            <p:nvPr/>
          </p:nvSpPr>
          <p:spPr>
            <a:xfrm flipH="false" flipV="false" rot="0">
              <a:off x="0" y="0"/>
              <a:ext cx="1233415" cy="1289742"/>
            </a:xfrm>
            <a:custGeom>
              <a:avLst/>
              <a:gdLst/>
              <a:ahLst/>
              <a:cxnLst/>
              <a:rect r="r" b="b" t="t" l="l"/>
              <a:pathLst>
                <a:path h="1289742" w="1233415">
                  <a:moveTo>
                    <a:pt x="39338" y="0"/>
                  </a:moveTo>
                  <a:lnTo>
                    <a:pt x="1194077" y="0"/>
                  </a:lnTo>
                  <a:cubicBezTo>
                    <a:pt x="1204510" y="0"/>
                    <a:pt x="1214515" y="4145"/>
                    <a:pt x="1221893" y="11522"/>
                  </a:cubicBezTo>
                  <a:cubicBezTo>
                    <a:pt x="1229270" y="18899"/>
                    <a:pt x="1233415" y="28905"/>
                    <a:pt x="1233415" y="39338"/>
                  </a:cubicBezTo>
                  <a:lnTo>
                    <a:pt x="1233415" y="1250404"/>
                  </a:lnTo>
                  <a:cubicBezTo>
                    <a:pt x="1233415" y="1272130"/>
                    <a:pt x="1215802" y="1289742"/>
                    <a:pt x="1194077" y="1289742"/>
                  </a:cubicBezTo>
                  <a:lnTo>
                    <a:pt x="39338" y="1289742"/>
                  </a:lnTo>
                  <a:cubicBezTo>
                    <a:pt x="17612" y="1289742"/>
                    <a:pt x="0" y="1272130"/>
                    <a:pt x="0" y="1250404"/>
                  </a:cubicBezTo>
                  <a:lnTo>
                    <a:pt x="0" y="39338"/>
                  </a:lnTo>
                  <a:cubicBezTo>
                    <a:pt x="0" y="17612"/>
                    <a:pt x="17612" y="0"/>
                    <a:pt x="39338" y="0"/>
                  </a:cubicBezTo>
                  <a:close/>
                </a:path>
              </a:pathLst>
            </a:custGeom>
            <a:solidFill>
              <a:srgbClr val="FFFFFF"/>
            </a:solidFill>
          </p:spPr>
        </p:sp>
        <p:sp>
          <p:nvSpPr>
            <p:cNvPr name="TextBox 16" id="16"/>
            <p:cNvSpPr txBox="true"/>
            <p:nvPr/>
          </p:nvSpPr>
          <p:spPr>
            <a:xfrm>
              <a:off x="0" y="-47625"/>
              <a:ext cx="1233415" cy="1337367"/>
            </a:xfrm>
            <a:prstGeom prst="rect">
              <a:avLst/>
            </a:prstGeom>
          </p:spPr>
          <p:txBody>
            <a:bodyPr anchor="ctr" rtlCol="false" tIns="58105" lIns="58105" bIns="58105" rIns="58105"/>
            <a:lstStyle/>
            <a:p>
              <a:pPr algn="ctr">
                <a:lnSpc>
                  <a:spcPts val="3499"/>
                </a:lnSpc>
              </a:pPr>
            </a:p>
          </p:txBody>
        </p:sp>
      </p:grpSp>
      <p:sp>
        <p:nvSpPr>
          <p:cNvPr name="Freeform 17" id="17"/>
          <p:cNvSpPr/>
          <p:nvPr/>
        </p:nvSpPr>
        <p:spPr>
          <a:xfrm flipH="false" flipV="false" rot="0">
            <a:off x="7190929" y="336353"/>
            <a:ext cx="19341414" cy="9614295"/>
          </a:xfrm>
          <a:custGeom>
            <a:avLst/>
            <a:gdLst/>
            <a:ahLst/>
            <a:cxnLst/>
            <a:rect r="r" b="b" t="t" l="l"/>
            <a:pathLst>
              <a:path h="9614295" w="19341414">
                <a:moveTo>
                  <a:pt x="0" y="0"/>
                </a:moveTo>
                <a:lnTo>
                  <a:pt x="19341415" y="0"/>
                </a:lnTo>
                <a:lnTo>
                  <a:pt x="19341415" y="9614294"/>
                </a:lnTo>
                <a:lnTo>
                  <a:pt x="0" y="9614294"/>
                </a:lnTo>
                <a:lnTo>
                  <a:pt x="0" y="0"/>
                </a:lnTo>
                <a:close/>
              </a:path>
            </a:pathLst>
          </a:custGeom>
          <a:blipFill>
            <a:blip r:embed="rId17"/>
            <a:stretch>
              <a:fillRect l="0" t="0" r="0" b="0"/>
            </a:stretch>
          </a:blipFill>
        </p:spPr>
      </p:sp>
      <p:sp>
        <p:nvSpPr>
          <p:cNvPr name="TextBox 18" id="18"/>
          <p:cNvSpPr txBox="true"/>
          <p:nvPr/>
        </p:nvSpPr>
        <p:spPr>
          <a:xfrm rot="0">
            <a:off x="336622" y="1890896"/>
            <a:ext cx="5926714" cy="5992798"/>
          </a:xfrm>
          <a:prstGeom prst="rect">
            <a:avLst/>
          </a:prstGeom>
        </p:spPr>
        <p:txBody>
          <a:bodyPr anchor="t" rtlCol="false" tIns="0" lIns="0" bIns="0" rIns="0">
            <a:spAutoFit/>
          </a:bodyPr>
          <a:lstStyle/>
          <a:p>
            <a:pPr algn="ctr" marL="0" indent="0" lvl="0">
              <a:lnSpc>
                <a:spcPts val="5837"/>
              </a:lnSpc>
              <a:spcBef>
                <a:spcPct val="0"/>
              </a:spcBef>
            </a:pPr>
            <a:r>
              <a:rPr lang="en-US" sz="5120">
                <a:solidFill>
                  <a:srgbClr val="000000"/>
                </a:solidFill>
                <a:latin typeface="Funtastic"/>
                <a:ea typeface="Funtastic"/>
                <a:cs typeface="Funtastic"/>
                <a:sym typeface="Funtastic"/>
              </a:rPr>
              <a:t>CORRELATION BETWEEN TOTAL GENERATED HAZARDOUS WASTE AND TOTAL NUMBER OF TSD FACILITIES BY REGION IN 2023</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27808" y="7741764"/>
            <a:ext cx="22143617" cy="5090471"/>
          </a:xfrm>
          <a:custGeom>
            <a:avLst/>
            <a:gdLst/>
            <a:ahLst/>
            <a:cxnLst/>
            <a:rect r="r" b="b" t="t" l="l"/>
            <a:pathLst>
              <a:path h="5090471" w="22143617">
                <a:moveTo>
                  <a:pt x="0" y="0"/>
                </a:moveTo>
                <a:lnTo>
                  <a:pt x="22143616" y="0"/>
                </a:lnTo>
                <a:lnTo>
                  <a:pt x="22143616" y="5090472"/>
                </a:lnTo>
                <a:lnTo>
                  <a:pt x="0" y="5090472"/>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0"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323603" y="517992"/>
            <a:ext cx="6704606" cy="3410968"/>
          </a:xfrm>
          <a:custGeom>
            <a:avLst/>
            <a:gdLst/>
            <a:ahLst/>
            <a:cxnLst/>
            <a:rect r="r" b="b" t="t" l="l"/>
            <a:pathLst>
              <a:path h="3410968" w="6704606">
                <a:moveTo>
                  <a:pt x="0" y="0"/>
                </a:moveTo>
                <a:lnTo>
                  <a:pt x="6704606" y="0"/>
                </a:lnTo>
                <a:lnTo>
                  <a:pt x="6704606" y="3410969"/>
                </a:lnTo>
                <a:lnTo>
                  <a:pt x="0" y="3410969"/>
                </a:lnTo>
                <a:lnTo>
                  <a:pt x="0" y="0"/>
                </a:lnTo>
                <a:close/>
              </a:path>
            </a:pathLst>
          </a:custGeom>
          <a:blipFill>
            <a:blip r:embed="rId7">
              <a:alphaModFix amt="75000"/>
            </a:blip>
            <a:stretch>
              <a:fillRect l="0" t="0" r="0" b="0"/>
            </a:stretch>
          </a:blipFill>
        </p:spPr>
      </p:sp>
      <p:sp>
        <p:nvSpPr>
          <p:cNvPr name="Freeform 6" id="6"/>
          <p:cNvSpPr/>
          <p:nvPr/>
        </p:nvSpPr>
        <p:spPr>
          <a:xfrm flipH="false" flipV="false" rot="0">
            <a:off x="-331704" y="517992"/>
            <a:ext cx="2894875" cy="8493520"/>
          </a:xfrm>
          <a:custGeom>
            <a:avLst/>
            <a:gdLst/>
            <a:ahLst/>
            <a:cxnLst/>
            <a:rect r="r" b="b" t="t" l="l"/>
            <a:pathLst>
              <a:path h="8493520" w="2894875">
                <a:moveTo>
                  <a:pt x="0" y="0"/>
                </a:moveTo>
                <a:lnTo>
                  <a:pt x="2894875" y="0"/>
                </a:lnTo>
                <a:lnTo>
                  <a:pt x="2894875" y="8493521"/>
                </a:lnTo>
                <a:lnTo>
                  <a:pt x="0" y="8493521"/>
                </a:lnTo>
                <a:lnTo>
                  <a:pt x="0" y="0"/>
                </a:lnTo>
                <a:close/>
              </a:path>
            </a:pathLst>
          </a:custGeom>
          <a:blipFill>
            <a:blip r:embed="rId8"/>
            <a:stretch>
              <a:fillRect l="0" t="0" r="0" b="0"/>
            </a:stretch>
          </a:blipFill>
        </p:spPr>
      </p:sp>
      <p:sp>
        <p:nvSpPr>
          <p:cNvPr name="Freeform 7" id="7"/>
          <p:cNvSpPr/>
          <p:nvPr/>
        </p:nvSpPr>
        <p:spPr>
          <a:xfrm flipH="false" flipV="false" rot="0">
            <a:off x="9259386"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2526655" y="94684"/>
            <a:ext cx="6704606" cy="3410968"/>
          </a:xfrm>
          <a:custGeom>
            <a:avLst/>
            <a:gdLst/>
            <a:ahLst/>
            <a:cxnLst/>
            <a:rect r="r" b="b" t="t" l="l"/>
            <a:pathLst>
              <a:path h="3410968" w="6704606">
                <a:moveTo>
                  <a:pt x="6704606" y="0"/>
                </a:moveTo>
                <a:lnTo>
                  <a:pt x="0" y="0"/>
                </a:lnTo>
                <a:lnTo>
                  <a:pt x="0" y="3410968"/>
                </a:lnTo>
                <a:lnTo>
                  <a:pt x="6704606" y="3410968"/>
                </a:lnTo>
                <a:lnTo>
                  <a:pt x="6704606" y="0"/>
                </a:lnTo>
                <a:close/>
              </a:path>
            </a:pathLst>
          </a:custGeom>
          <a:blipFill>
            <a:blip r:embed="rId7">
              <a:alphaModFix amt="75000"/>
            </a:blip>
            <a:stretch>
              <a:fillRect l="0" t="0" r="0" b="0"/>
            </a:stretch>
          </a:blipFill>
        </p:spPr>
      </p:sp>
      <p:sp>
        <p:nvSpPr>
          <p:cNvPr name="Freeform 9" id="9"/>
          <p:cNvSpPr/>
          <p:nvPr/>
        </p:nvSpPr>
        <p:spPr>
          <a:xfrm flipH="true" flipV="false" rot="0">
            <a:off x="15878958" y="517992"/>
            <a:ext cx="2894875" cy="8493520"/>
          </a:xfrm>
          <a:custGeom>
            <a:avLst/>
            <a:gdLst/>
            <a:ahLst/>
            <a:cxnLst/>
            <a:rect r="r" b="b" t="t" l="l"/>
            <a:pathLst>
              <a:path h="8493520" w="2894875">
                <a:moveTo>
                  <a:pt x="2894875" y="0"/>
                </a:moveTo>
                <a:lnTo>
                  <a:pt x="0" y="0"/>
                </a:lnTo>
                <a:lnTo>
                  <a:pt x="0" y="8493521"/>
                </a:lnTo>
                <a:lnTo>
                  <a:pt x="2894875" y="8493521"/>
                </a:lnTo>
                <a:lnTo>
                  <a:pt x="2894875" y="0"/>
                </a:lnTo>
                <a:close/>
              </a:path>
            </a:pathLst>
          </a:custGeom>
          <a:blipFill>
            <a:blip r:embed="rId8"/>
            <a:stretch>
              <a:fillRect l="0" t="0" r="0" b="0"/>
            </a:stretch>
          </a:blipFill>
        </p:spPr>
      </p:sp>
      <p:sp>
        <p:nvSpPr>
          <p:cNvPr name="Freeform 10" id="10"/>
          <p:cNvSpPr/>
          <p:nvPr/>
        </p:nvSpPr>
        <p:spPr>
          <a:xfrm flipH="false" flipV="false" rot="0">
            <a:off x="12526655" y="3928961"/>
            <a:ext cx="5171548" cy="7625607"/>
          </a:xfrm>
          <a:custGeom>
            <a:avLst/>
            <a:gdLst/>
            <a:ahLst/>
            <a:cxnLst/>
            <a:rect r="r" b="b" t="t" l="l"/>
            <a:pathLst>
              <a:path h="7625607" w="5171548">
                <a:moveTo>
                  <a:pt x="0" y="0"/>
                </a:moveTo>
                <a:lnTo>
                  <a:pt x="5171549" y="0"/>
                </a:lnTo>
                <a:lnTo>
                  <a:pt x="5171549" y="7625607"/>
                </a:lnTo>
                <a:lnTo>
                  <a:pt x="0" y="76256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0" y="6181172"/>
            <a:ext cx="9875079" cy="4650264"/>
          </a:xfrm>
          <a:custGeom>
            <a:avLst/>
            <a:gdLst/>
            <a:ahLst/>
            <a:cxnLst/>
            <a:rect r="r" b="b" t="t" l="l"/>
            <a:pathLst>
              <a:path h="4650264" w="9875079">
                <a:moveTo>
                  <a:pt x="0" y="0"/>
                </a:moveTo>
                <a:lnTo>
                  <a:pt x="9875079" y="0"/>
                </a:lnTo>
                <a:lnTo>
                  <a:pt x="9875079" y="4650264"/>
                </a:lnTo>
                <a:lnTo>
                  <a:pt x="0" y="46502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3299978" y="4622449"/>
            <a:ext cx="5959408" cy="4539985"/>
          </a:xfrm>
          <a:custGeom>
            <a:avLst/>
            <a:gdLst/>
            <a:ahLst/>
            <a:cxnLst/>
            <a:rect r="r" b="b" t="t" l="l"/>
            <a:pathLst>
              <a:path h="4539985" w="5959408">
                <a:moveTo>
                  <a:pt x="0" y="0"/>
                </a:moveTo>
                <a:lnTo>
                  <a:pt x="5959408" y="0"/>
                </a:lnTo>
                <a:lnTo>
                  <a:pt x="5959408" y="4539986"/>
                </a:lnTo>
                <a:lnTo>
                  <a:pt x="0" y="4539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8689107" y="3812679"/>
            <a:ext cx="7913059" cy="6474321"/>
          </a:xfrm>
          <a:custGeom>
            <a:avLst/>
            <a:gdLst/>
            <a:ahLst/>
            <a:cxnLst/>
            <a:rect r="r" b="b" t="t" l="l"/>
            <a:pathLst>
              <a:path h="6474321" w="7913059">
                <a:moveTo>
                  <a:pt x="0" y="0"/>
                </a:moveTo>
                <a:lnTo>
                  <a:pt x="7913060" y="0"/>
                </a:lnTo>
                <a:lnTo>
                  <a:pt x="7913060" y="6474321"/>
                </a:lnTo>
                <a:lnTo>
                  <a:pt x="0" y="647432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4" id="14"/>
          <p:cNvGrpSpPr/>
          <p:nvPr/>
        </p:nvGrpSpPr>
        <p:grpSpPr>
          <a:xfrm rot="0">
            <a:off x="9008350" y="1030787"/>
            <a:ext cx="8689853" cy="7980726"/>
            <a:chOff x="0" y="0"/>
            <a:chExt cx="1815362" cy="1667221"/>
          </a:xfrm>
        </p:grpSpPr>
        <p:sp>
          <p:nvSpPr>
            <p:cNvPr name="Freeform 15" id="15"/>
            <p:cNvSpPr/>
            <p:nvPr/>
          </p:nvSpPr>
          <p:spPr>
            <a:xfrm flipH="false" flipV="false" rot="0">
              <a:off x="0" y="0"/>
              <a:ext cx="1815362" cy="1667221"/>
            </a:xfrm>
            <a:custGeom>
              <a:avLst/>
              <a:gdLst/>
              <a:ahLst/>
              <a:cxnLst/>
              <a:rect r="r" b="b" t="t" l="l"/>
              <a:pathLst>
                <a:path h="1667221" w="1815362">
                  <a:moveTo>
                    <a:pt x="26727" y="0"/>
                  </a:moveTo>
                  <a:lnTo>
                    <a:pt x="1788635" y="0"/>
                  </a:lnTo>
                  <a:cubicBezTo>
                    <a:pt x="1803396" y="0"/>
                    <a:pt x="1815362" y="11966"/>
                    <a:pt x="1815362" y="26727"/>
                  </a:cubicBezTo>
                  <a:lnTo>
                    <a:pt x="1815362" y="1640494"/>
                  </a:lnTo>
                  <a:cubicBezTo>
                    <a:pt x="1815362" y="1647582"/>
                    <a:pt x="1812546" y="1654380"/>
                    <a:pt x="1807534" y="1659393"/>
                  </a:cubicBezTo>
                  <a:cubicBezTo>
                    <a:pt x="1802521" y="1664405"/>
                    <a:pt x="1795723" y="1667221"/>
                    <a:pt x="1788635" y="1667221"/>
                  </a:cubicBezTo>
                  <a:lnTo>
                    <a:pt x="26727" y="1667221"/>
                  </a:lnTo>
                  <a:cubicBezTo>
                    <a:pt x="11966" y="1667221"/>
                    <a:pt x="0" y="1655255"/>
                    <a:pt x="0" y="1640494"/>
                  </a:cubicBezTo>
                  <a:lnTo>
                    <a:pt x="0" y="26727"/>
                  </a:lnTo>
                  <a:cubicBezTo>
                    <a:pt x="0" y="11966"/>
                    <a:pt x="11966" y="0"/>
                    <a:pt x="26727" y="0"/>
                  </a:cubicBezTo>
                  <a:close/>
                </a:path>
              </a:pathLst>
            </a:custGeom>
            <a:solidFill>
              <a:srgbClr val="FFFFFF"/>
            </a:solidFill>
          </p:spPr>
        </p:sp>
        <p:sp>
          <p:nvSpPr>
            <p:cNvPr name="TextBox 16" id="16"/>
            <p:cNvSpPr txBox="true"/>
            <p:nvPr/>
          </p:nvSpPr>
          <p:spPr>
            <a:xfrm>
              <a:off x="0" y="-47625"/>
              <a:ext cx="1815362" cy="1714846"/>
            </a:xfrm>
            <a:prstGeom prst="rect">
              <a:avLst/>
            </a:prstGeom>
          </p:spPr>
          <p:txBody>
            <a:bodyPr anchor="ctr" rtlCol="false" tIns="58105" lIns="58105" bIns="58105" rIns="58105"/>
            <a:lstStyle/>
            <a:p>
              <a:pPr algn="ctr">
                <a:lnSpc>
                  <a:spcPts val="3499"/>
                </a:lnSpc>
              </a:pPr>
            </a:p>
          </p:txBody>
        </p:sp>
      </p:grpSp>
      <p:sp>
        <p:nvSpPr>
          <p:cNvPr name="TextBox 17" id="17"/>
          <p:cNvSpPr txBox="true"/>
          <p:nvPr/>
        </p:nvSpPr>
        <p:spPr>
          <a:xfrm rot="0">
            <a:off x="9259386" y="1202592"/>
            <a:ext cx="8067009" cy="7608540"/>
          </a:xfrm>
          <a:prstGeom prst="rect">
            <a:avLst/>
          </a:prstGeom>
        </p:spPr>
        <p:txBody>
          <a:bodyPr anchor="t" rtlCol="false" tIns="0" lIns="0" bIns="0" rIns="0">
            <a:spAutoFit/>
          </a:bodyPr>
          <a:lstStyle/>
          <a:p>
            <a:pPr algn="l" marL="0" indent="0" lvl="0">
              <a:lnSpc>
                <a:spcPts val="5410"/>
              </a:lnSpc>
              <a:spcBef>
                <a:spcPct val="0"/>
              </a:spcBef>
            </a:pPr>
            <a:r>
              <a:rPr lang="en-US" b="true" sz="4746">
                <a:solidFill>
                  <a:srgbClr val="000000"/>
                </a:solidFill>
                <a:latin typeface="Poppins Bold"/>
                <a:ea typeface="Poppins Bold"/>
                <a:cs typeface="Poppins Bold"/>
                <a:sym typeface="Poppins Bold"/>
              </a:rPr>
              <a:t>This analysis highlights the necessity for strategically distributing </a:t>
            </a:r>
            <a:r>
              <a:rPr lang="en-US" b="true" sz="4746">
                <a:solidFill>
                  <a:srgbClr val="004AAD"/>
                </a:solidFill>
                <a:latin typeface="Poppins Bold"/>
                <a:ea typeface="Poppins Bold"/>
                <a:cs typeface="Poppins Bold"/>
                <a:sym typeface="Poppins Bold"/>
              </a:rPr>
              <a:t>TSD facilities</a:t>
            </a:r>
            <a:r>
              <a:rPr lang="en-US" b="true" sz="4746">
                <a:solidFill>
                  <a:srgbClr val="000000"/>
                </a:solidFill>
                <a:latin typeface="Poppins Bold"/>
                <a:ea typeface="Poppins Bold"/>
                <a:cs typeface="Poppins Bold"/>
                <a:sym typeface="Poppins Bold"/>
              </a:rPr>
              <a:t>, particularly in areas with increasing waste generation but insufficient infrastructure, to ensure effective and sustainable </a:t>
            </a:r>
            <a:r>
              <a:rPr lang="en-US" b="true" sz="4746">
                <a:solidFill>
                  <a:srgbClr val="FF3131"/>
                </a:solidFill>
                <a:latin typeface="Poppins Bold"/>
                <a:ea typeface="Poppins Bold"/>
                <a:cs typeface="Poppins Bold"/>
                <a:sym typeface="Poppins Bold"/>
              </a:rPr>
              <a:t>hazardous waste management</a:t>
            </a:r>
            <a:r>
              <a:rPr lang="en-US" b="true" sz="4746">
                <a:solidFill>
                  <a:srgbClr val="000000"/>
                </a:solidFill>
                <a:latin typeface="Poppins Bold"/>
                <a:ea typeface="Poppins Bold"/>
                <a:cs typeface="Poppins Bold"/>
                <a:sym typeface="Poppins Bold"/>
              </a:rPr>
              <a:t>.</a:t>
            </a:r>
          </a:p>
        </p:txBody>
      </p:sp>
      <p:sp>
        <p:nvSpPr>
          <p:cNvPr name="Freeform 18" id="18"/>
          <p:cNvSpPr/>
          <p:nvPr/>
        </p:nvSpPr>
        <p:spPr>
          <a:xfrm flipH="false" flipV="false" rot="0">
            <a:off x="-11107936" y="336353"/>
            <a:ext cx="19341414" cy="9614295"/>
          </a:xfrm>
          <a:custGeom>
            <a:avLst/>
            <a:gdLst/>
            <a:ahLst/>
            <a:cxnLst/>
            <a:rect r="r" b="b" t="t" l="l"/>
            <a:pathLst>
              <a:path h="9614295" w="19341414">
                <a:moveTo>
                  <a:pt x="0" y="0"/>
                </a:moveTo>
                <a:lnTo>
                  <a:pt x="19341414" y="0"/>
                </a:lnTo>
                <a:lnTo>
                  <a:pt x="19341414" y="9614294"/>
                </a:lnTo>
                <a:lnTo>
                  <a:pt x="0" y="9614294"/>
                </a:lnTo>
                <a:lnTo>
                  <a:pt x="0" y="0"/>
                </a:lnTo>
                <a:close/>
              </a:path>
            </a:pathLst>
          </a:custGeom>
          <a:blipFill>
            <a:blip r:embed="rId17"/>
            <a:stretch>
              <a:fillRect l="0" t="0" r="0" b="0"/>
            </a:stretch>
          </a:blipFill>
        </p:spPr>
      </p:sp>
    </p:spTree>
  </p:cSld>
  <p:clrMapOvr>
    <a:masterClrMapping/>
  </p:clrMapOvr>
  <p:transition spd="slow">
    <p:push dir="l"/>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27808" y="7741764"/>
            <a:ext cx="22143617" cy="5090471"/>
          </a:xfrm>
          <a:custGeom>
            <a:avLst/>
            <a:gdLst/>
            <a:ahLst/>
            <a:cxnLst/>
            <a:rect r="r" b="b" t="t" l="l"/>
            <a:pathLst>
              <a:path h="5090471" w="22143617">
                <a:moveTo>
                  <a:pt x="0" y="0"/>
                </a:moveTo>
                <a:lnTo>
                  <a:pt x="22143616" y="0"/>
                </a:lnTo>
                <a:lnTo>
                  <a:pt x="22143616" y="5090472"/>
                </a:lnTo>
                <a:lnTo>
                  <a:pt x="0" y="5090472"/>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0"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323603" y="517992"/>
            <a:ext cx="6704606" cy="3410968"/>
          </a:xfrm>
          <a:custGeom>
            <a:avLst/>
            <a:gdLst/>
            <a:ahLst/>
            <a:cxnLst/>
            <a:rect r="r" b="b" t="t" l="l"/>
            <a:pathLst>
              <a:path h="3410968" w="6704606">
                <a:moveTo>
                  <a:pt x="0" y="0"/>
                </a:moveTo>
                <a:lnTo>
                  <a:pt x="6704606" y="0"/>
                </a:lnTo>
                <a:lnTo>
                  <a:pt x="6704606" y="3410969"/>
                </a:lnTo>
                <a:lnTo>
                  <a:pt x="0" y="3410969"/>
                </a:lnTo>
                <a:lnTo>
                  <a:pt x="0" y="0"/>
                </a:lnTo>
                <a:close/>
              </a:path>
            </a:pathLst>
          </a:custGeom>
          <a:blipFill>
            <a:blip r:embed="rId7">
              <a:alphaModFix amt="75000"/>
            </a:blip>
            <a:stretch>
              <a:fillRect l="0" t="0" r="0" b="0"/>
            </a:stretch>
          </a:blipFill>
        </p:spPr>
      </p:sp>
      <p:sp>
        <p:nvSpPr>
          <p:cNvPr name="Freeform 6" id="6"/>
          <p:cNvSpPr/>
          <p:nvPr/>
        </p:nvSpPr>
        <p:spPr>
          <a:xfrm flipH="false" flipV="false" rot="0">
            <a:off x="-331704" y="517992"/>
            <a:ext cx="2894875" cy="8493520"/>
          </a:xfrm>
          <a:custGeom>
            <a:avLst/>
            <a:gdLst/>
            <a:ahLst/>
            <a:cxnLst/>
            <a:rect r="r" b="b" t="t" l="l"/>
            <a:pathLst>
              <a:path h="8493520" w="2894875">
                <a:moveTo>
                  <a:pt x="0" y="0"/>
                </a:moveTo>
                <a:lnTo>
                  <a:pt x="2894875" y="0"/>
                </a:lnTo>
                <a:lnTo>
                  <a:pt x="2894875" y="8493521"/>
                </a:lnTo>
                <a:lnTo>
                  <a:pt x="0" y="8493521"/>
                </a:lnTo>
                <a:lnTo>
                  <a:pt x="0" y="0"/>
                </a:lnTo>
                <a:close/>
              </a:path>
            </a:pathLst>
          </a:custGeom>
          <a:blipFill>
            <a:blip r:embed="rId8"/>
            <a:stretch>
              <a:fillRect l="0" t="0" r="0" b="0"/>
            </a:stretch>
          </a:blipFill>
        </p:spPr>
      </p:sp>
      <p:sp>
        <p:nvSpPr>
          <p:cNvPr name="Freeform 7" id="7"/>
          <p:cNvSpPr/>
          <p:nvPr/>
        </p:nvSpPr>
        <p:spPr>
          <a:xfrm flipH="false" flipV="false" rot="0">
            <a:off x="9259386"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2526655" y="94684"/>
            <a:ext cx="6704606" cy="3410968"/>
          </a:xfrm>
          <a:custGeom>
            <a:avLst/>
            <a:gdLst/>
            <a:ahLst/>
            <a:cxnLst/>
            <a:rect r="r" b="b" t="t" l="l"/>
            <a:pathLst>
              <a:path h="3410968" w="6704606">
                <a:moveTo>
                  <a:pt x="6704606" y="0"/>
                </a:moveTo>
                <a:lnTo>
                  <a:pt x="0" y="0"/>
                </a:lnTo>
                <a:lnTo>
                  <a:pt x="0" y="3410968"/>
                </a:lnTo>
                <a:lnTo>
                  <a:pt x="6704606" y="3410968"/>
                </a:lnTo>
                <a:lnTo>
                  <a:pt x="6704606" y="0"/>
                </a:lnTo>
                <a:close/>
              </a:path>
            </a:pathLst>
          </a:custGeom>
          <a:blipFill>
            <a:blip r:embed="rId7">
              <a:alphaModFix amt="75000"/>
            </a:blip>
            <a:stretch>
              <a:fillRect l="0" t="0" r="0" b="0"/>
            </a:stretch>
          </a:blipFill>
        </p:spPr>
      </p:sp>
      <p:sp>
        <p:nvSpPr>
          <p:cNvPr name="Freeform 9" id="9"/>
          <p:cNvSpPr/>
          <p:nvPr/>
        </p:nvSpPr>
        <p:spPr>
          <a:xfrm flipH="true" flipV="false" rot="0">
            <a:off x="15878958" y="517992"/>
            <a:ext cx="2894875" cy="8493520"/>
          </a:xfrm>
          <a:custGeom>
            <a:avLst/>
            <a:gdLst/>
            <a:ahLst/>
            <a:cxnLst/>
            <a:rect r="r" b="b" t="t" l="l"/>
            <a:pathLst>
              <a:path h="8493520" w="2894875">
                <a:moveTo>
                  <a:pt x="2894875" y="0"/>
                </a:moveTo>
                <a:lnTo>
                  <a:pt x="0" y="0"/>
                </a:lnTo>
                <a:lnTo>
                  <a:pt x="0" y="8493521"/>
                </a:lnTo>
                <a:lnTo>
                  <a:pt x="2894875" y="8493521"/>
                </a:lnTo>
                <a:lnTo>
                  <a:pt x="2894875" y="0"/>
                </a:lnTo>
                <a:close/>
              </a:path>
            </a:pathLst>
          </a:custGeom>
          <a:blipFill>
            <a:blip r:embed="rId8"/>
            <a:stretch>
              <a:fillRect l="0" t="0" r="0" b="0"/>
            </a:stretch>
          </a:blipFill>
        </p:spPr>
      </p:sp>
      <p:sp>
        <p:nvSpPr>
          <p:cNvPr name="Freeform 10" id="10"/>
          <p:cNvSpPr/>
          <p:nvPr/>
        </p:nvSpPr>
        <p:spPr>
          <a:xfrm flipH="false" flipV="false" rot="0">
            <a:off x="232729" y="2943501"/>
            <a:ext cx="5171548" cy="7625607"/>
          </a:xfrm>
          <a:custGeom>
            <a:avLst/>
            <a:gdLst/>
            <a:ahLst/>
            <a:cxnLst/>
            <a:rect r="r" b="b" t="t" l="l"/>
            <a:pathLst>
              <a:path h="7625607" w="5171548">
                <a:moveTo>
                  <a:pt x="0" y="0"/>
                </a:moveTo>
                <a:lnTo>
                  <a:pt x="5171548" y="0"/>
                </a:lnTo>
                <a:lnTo>
                  <a:pt x="5171548" y="7625607"/>
                </a:lnTo>
                <a:lnTo>
                  <a:pt x="0" y="76256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8188377" y="5918844"/>
            <a:ext cx="9875079" cy="4650264"/>
          </a:xfrm>
          <a:custGeom>
            <a:avLst/>
            <a:gdLst/>
            <a:ahLst/>
            <a:cxnLst/>
            <a:rect r="r" b="b" t="t" l="l"/>
            <a:pathLst>
              <a:path h="4650264" w="9875079">
                <a:moveTo>
                  <a:pt x="0" y="0"/>
                </a:moveTo>
                <a:lnTo>
                  <a:pt x="9875079" y="0"/>
                </a:lnTo>
                <a:lnTo>
                  <a:pt x="9875079" y="4650264"/>
                </a:lnTo>
                <a:lnTo>
                  <a:pt x="0" y="46502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754908" y="411847"/>
            <a:ext cx="16778185" cy="1138456"/>
          </a:xfrm>
          <a:prstGeom prst="rect">
            <a:avLst/>
          </a:prstGeom>
        </p:spPr>
        <p:txBody>
          <a:bodyPr anchor="t" rtlCol="false" tIns="0" lIns="0" bIns="0" rIns="0">
            <a:spAutoFit/>
          </a:bodyPr>
          <a:lstStyle/>
          <a:p>
            <a:pPr algn="ctr" marL="0" indent="0" lvl="0">
              <a:lnSpc>
                <a:spcPts val="7870"/>
              </a:lnSpc>
              <a:spcBef>
                <a:spcPct val="0"/>
              </a:spcBef>
            </a:pPr>
            <a:r>
              <a:rPr lang="en-US" sz="6903">
                <a:solidFill>
                  <a:srgbClr val="000000"/>
                </a:solidFill>
                <a:latin typeface="Funtastic"/>
                <a:ea typeface="Funtastic"/>
                <a:cs typeface="Funtastic"/>
                <a:sym typeface="Funtastic"/>
              </a:rPr>
              <a:t>SIGNIFICANT FINDINGS</a:t>
            </a:r>
          </a:p>
        </p:txBody>
      </p:sp>
      <p:grpSp>
        <p:nvGrpSpPr>
          <p:cNvPr name="Group 13" id="13"/>
          <p:cNvGrpSpPr/>
          <p:nvPr/>
        </p:nvGrpSpPr>
        <p:grpSpPr>
          <a:xfrm rot="0">
            <a:off x="926024" y="1516825"/>
            <a:ext cx="16772180" cy="7741475"/>
            <a:chOff x="0" y="0"/>
            <a:chExt cx="3503808" cy="1617240"/>
          </a:xfrm>
        </p:grpSpPr>
        <p:sp>
          <p:nvSpPr>
            <p:cNvPr name="Freeform 14" id="14"/>
            <p:cNvSpPr/>
            <p:nvPr/>
          </p:nvSpPr>
          <p:spPr>
            <a:xfrm flipH="false" flipV="false" rot="0">
              <a:off x="0" y="0"/>
              <a:ext cx="3503808" cy="1617240"/>
            </a:xfrm>
            <a:custGeom>
              <a:avLst/>
              <a:gdLst/>
              <a:ahLst/>
              <a:cxnLst/>
              <a:rect r="r" b="b" t="t" l="l"/>
              <a:pathLst>
                <a:path h="1617240" w="3503808">
                  <a:moveTo>
                    <a:pt x="13848" y="0"/>
                  </a:moveTo>
                  <a:lnTo>
                    <a:pt x="3489960" y="0"/>
                  </a:lnTo>
                  <a:cubicBezTo>
                    <a:pt x="3497608" y="0"/>
                    <a:pt x="3503808" y="6200"/>
                    <a:pt x="3503808" y="13848"/>
                  </a:cubicBezTo>
                  <a:lnTo>
                    <a:pt x="3503808" y="1603392"/>
                  </a:lnTo>
                  <a:cubicBezTo>
                    <a:pt x="3503808" y="1611040"/>
                    <a:pt x="3497608" y="1617240"/>
                    <a:pt x="3489960" y="1617240"/>
                  </a:cubicBezTo>
                  <a:lnTo>
                    <a:pt x="13848" y="1617240"/>
                  </a:lnTo>
                  <a:cubicBezTo>
                    <a:pt x="6200" y="1617240"/>
                    <a:pt x="0" y="1611040"/>
                    <a:pt x="0" y="1603392"/>
                  </a:cubicBezTo>
                  <a:lnTo>
                    <a:pt x="0" y="13848"/>
                  </a:lnTo>
                  <a:cubicBezTo>
                    <a:pt x="0" y="6200"/>
                    <a:pt x="6200" y="0"/>
                    <a:pt x="13848" y="0"/>
                  </a:cubicBezTo>
                  <a:close/>
                </a:path>
              </a:pathLst>
            </a:custGeom>
            <a:solidFill>
              <a:srgbClr val="FFFFFF"/>
            </a:solidFill>
          </p:spPr>
        </p:sp>
        <p:sp>
          <p:nvSpPr>
            <p:cNvPr name="TextBox 15" id="15"/>
            <p:cNvSpPr txBox="true"/>
            <p:nvPr/>
          </p:nvSpPr>
          <p:spPr>
            <a:xfrm>
              <a:off x="0" y="-47625"/>
              <a:ext cx="3503808" cy="1664865"/>
            </a:xfrm>
            <a:prstGeom prst="rect">
              <a:avLst/>
            </a:prstGeom>
          </p:spPr>
          <p:txBody>
            <a:bodyPr anchor="ctr" rtlCol="false" tIns="58105" lIns="58105" bIns="58105" rIns="58105"/>
            <a:lstStyle/>
            <a:p>
              <a:pPr algn="ctr">
                <a:lnSpc>
                  <a:spcPts val="3499"/>
                </a:lnSpc>
              </a:pPr>
            </a:p>
          </p:txBody>
        </p:sp>
      </p:grpSp>
      <p:sp>
        <p:nvSpPr>
          <p:cNvPr name="TextBox 16" id="16"/>
          <p:cNvSpPr txBox="true"/>
          <p:nvPr/>
        </p:nvSpPr>
        <p:spPr>
          <a:xfrm rot="0">
            <a:off x="1093674" y="1790643"/>
            <a:ext cx="16604530" cy="7220870"/>
          </a:xfrm>
          <a:prstGeom prst="rect">
            <a:avLst/>
          </a:prstGeom>
        </p:spPr>
        <p:txBody>
          <a:bodyPr anchor="t" rtlCol="false" tIns="0" lIns="0" bIns="0" rIns="0">
            <a:spAutoFit/>
          </a:bodyPr>
          <a:lstStyle/>
          <a:p>
            <a:pPr algn="l">
              <a:lnSpc>
                <a:spcPts val="3408"/>
              </a:lnSpc>
            </a:pPr>
            <a:r>
              <a:rPr lang="en-US" sz="2990" b="true">
                <a:solidFill>
                  <a:srgbClr val="004AAD"/>
                </a:solidFill>
                <a:latin typeface="Poppins Bold"/>
                <a:ea typeface="Poppins Bold"/>
                <a:cs typeface="Poppins Bold"/>
                <a:sym typeface="Poppins Bold"/>
              </a:rPr>
              <a:t>Regions of Note</a:t>
            </a:r>
          </a:p>
          <a:p>
            <a:pPr algn="l" marL="645565" indent="-322782" lvl="1">
              <a:lnSpc>
                <a:spcPts val="3408"/>
              </a:lnSpc>
              <a:buFont typeface="Arial"/>
              <a:buChar char="•"/>
            </a:pPr>
            <a:r>
              <a:rPr lang="en-US" b="true" sz="2990">
                <a:solidFill>
                  <a:srgbClr val="000000"/>
                </a:solidFill>
                <a:latin typeface="Poppins Bold"/>
                <a:ea typeface="Poppins Bold"/>
                <a:cs typeface="Poppins Bold"/>
                <a:sym typeface="Poppins Bold"/>
              </a:rPr>
              <a:t>CALABARZON (Region IV-A) generates the highest amount of hazardous waste, totaling 111,612.97 tons, and has a significant number of TSD facilities (46). This suggests that the region is well-equipped to manage a large portion of its waste locally.</a:t>
            </a:r>
          </a:p>
          <a:p>
            <a:pPr algn="l" marL="645565" indent="-322782" lvl="1">
              <a:lnSpc>
                <a:spcPts val="3408"/>
              </a:lnSpc>
              <a:buFont typeface="Arial"/>
              <a:buChar char="•"/>
            </a:pPr>
            <a:r>
              <a:rPr lang="en-US" b="true" sz="2990">
                <a:solidFill>
                  <a:srgbClr val="000000"/>
                </a:solidFill>
                <a:latin typeface="Poppins Bold"/>
                <a:ea typeface="Poppins Bold"/>
                <a:cs typeface="Poppins Bold"/>
                <a:sym typeface="Poppins Bold"/>
              </a:rPr>
              <a:t>Central Luzon (Region III) produces 40,994.9 tons of hazardous waste and boasts the most TSD facilities (59). The high facility count suggests the region has strong infrastructure for managing its hazardous waste output.</a:t>
            </a:r>
          </a:p>
          <a:p>
            <a:pPr algn="l">
              <a:lnSpc>
                <a:spcPts val="3408"/>
              </a:lnSpc>
            </a:pPr>
          </a:p>
          <a:p>
            <a:pPr algn="l">
              <a:lnSpc>
                <a:spcPts val="3408"/>
              </a:lnSpc>
            </a:pPr>
            <a:r>
              <a:rPr lang="en-US" sz="2990" b="true">
                <a:solidFill>
                  <a:srgbClr val="004AAD"/>
                </a:solidFill>
                <a:latin typeface="Poppins Bold"/>
                <a:ea typeface="Poppins Bold"/>
                <a:cs typeface="Poppins Bold"/>
                <a:sym typeface="Poppins Bold"/>
              </a:rPr>
              <a:t>Discrepancies in Waste Generation and Facility Availability</a:t>
            </a:r>
          </a:p>
          <a:p>
            <a:pPr algn="l" marL="645565" indent="-322782" lvl="1">
              <a:lnSpc>
                <a:spcPts val="3408"/>
              </a:lnSpc>
              <a:buFont typeface="Arial"/>
              <a:buChar char="•"/>
            </a:pPr>
            <a:r>
              <a:rPr lang="en-US" b="true" sz="2990">
                <a:solidFill>
                  <a:srgbClr val="000000"/>
                </a:solidFill>
                <a:latin typeface="Poppins Bold"/>
                <a:ea typeface="Poppins Bold"/>
                <a:cs typeface="Poppins Bold"/>
                <a:sym typeface="Poppins Bold"/>
              </a:rPr>
              <a:t>Certain regions, like the National Capital Region (NCR), which generates 38,679.98 tons of hazardous waste, have fewer TSD facilities (16) compared to Region III. This disparity may result in logistical challenges for local waste management.</a:t>
            </a:r>
          </a:p>
          <a:p>
            <a:pPr algn="l" marL="645565" indent="-322782" lvl="1">
              <a:lnSpc>
                <a:spcPts val="3408"/>
              </a:lnSpc>
              <a:spcBef>
                <a:spcPct val="0"/>
              </a:spcBef>
              <a:buFont typeface="Arial"/>
              <a:buChar char="•"/>
            </a:pPr>
            <a:r>
              <a:rPr lang="en-US" b="true" sz="2990">
                <a:solidFill>
                  <a:srgbClr val="000000"/>
                </a:solidFill>
                <a:latin typeface="Poppins Bold"/>
                <a:ea typeface="Poppins Bold"/>
                <a:cs typeface="Poppins Bold"/>
                <a:sym typeface="Poppins Bold"/>
              </a:rPr>
              <a:t>Regions such as BARMM, Caraga, and Cagayan Valley have not registered any TSD facilities despite generating hazardous waste, leading to significant environmental and logistical concerns.</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27808" y="7741764"/>
            <a:ext cx="22143617" cy="5090471"/>
          </a:xfrm>
          <a:custGeom>
            <a:avLst/>
            <a:gdLst/>
            <a:ahLst/>
            <a:cxnLst/>
            <a:rect r="r" b="b" t="t" l="l"/>
            <a:pathLst>
              <a:path h="5090471" w="22143617">
                <a:moveTo>
                  <a:pt x="0" y="0"/>
                </a:moveTo>
                <a:lnTo>
                  <a:pt x="22143616" y="0"/>
                </a:lnTo>
                <a:lnTo>
                  <a:pt x="22143616" y="5090472"/>
                </a:lnTo>
                <a:lnTo>
                  <a:pt x="0" y="5090472"/>
                </a:lnTo>
                <a:lnTo>
                  <a:pt x="0" y="0"/>
                </a:lnTo>
                <a:close/>
              </a:path>
            </a:pathLst>
          </a:custGeom>
          <a:blipFill>
            <a:blip r:embed="rId3">
              <a:extLst>
                <a:ext uri="{96DAC541-7B7A-43D3-8B79-37D633B846F1}">
                  <asvg:svgBlip xmlns:asvg="http://schemas.microsoft.com/office/drawing/2016/SVG/main" r:embed="rId4"/>
                </a:ext>
              </a:extLst>
            </a:blip>
            <a:stretch>
              <a:fillRect l="0" t="-67673" r="0" b="0"/>
            </a:stretch>
          </a:blipFill>
        </p:spPr>
      </p:sp>
      <p:sp>
        <p:nvSpPr>
          <p:cNvPr name="Freeform 4" id="4"/>
          <p:cNvSpPr/>
          <p:nvPr/>
        </p:nvSpPr>
        <p:spPr>
          <a:xfrm flipH="false" flipV="false" rot="0">
            <a:off x="0"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2323603" y="517992"/>
            <a:ext cx="6704606" cy="3410968"/>
          </a:xfrm>
          <a:custGeom>
            <a:avLst/>
            <a:gdLst/>
            <a:ahLst/>
            <a:cxnLst/>
            <a:rect r="r" b="b" t="t" l="l"/>
            <a:pathLst>
              <a:path h="3410968" w="6704606">
                <a:moveTo>
                  <a:pt x="0" y="0"/>
                </a:moveTo>
                <a:lnTo>
                  <a:pt x="6704606" y="0"/>
                </a:lnTo>
                <a:lnTo>
                  <a:pt x="6704606" y="3410969"/>
                </a:lnTo>
                <a:lnTo>
                  <a:pt x="0" y="3410969"/>
                </a:lnTo>
                <a:lnTo>
                  <a:pt x="0" y="0"/>
                </a:lnTo>
                <a:close/>
              </a:path>
            </a:pathLst>
          </a:custGeom>
          <a:blipFill>
            <a:blip r:embed="rId7">
              <a:alphaModFix amt="75000"/>
            </a:blip>
            <a:stretch>
              <a:fillRect l="0" t="0" r="0" b="0"/>
            </a:stretch>
          </a:blipFill>
        </p:spPr>
      </p:sp>
      <p:sp>
        <p:nvSpPr>
          <p:cNvPr name="Freeform 6" id="6"/>
          <p:cNvSpPr/>
          <p:nvPr/>
        </p:nvSpPr>
        <p:spPr>
          <a:xfrm flipH="false" flipV="false" rot="0">
            <a:off x="-331704" y="517992"/>
            <a:ext cx="2894875" cy="8493520"/>
          </a:xfrm>
          <a:custGeom>
            <a:avLst/>
            <a:gdLst/>
            <a:ahLst/>
            <a:cxnLst/>
            <a:rect r="r" b="b" t="t" l="l"/>
            <a:pathLst>
              <a:path h="8493520" w="2894875">
                <a:moveTo>
                  <a:pt x="0" y="0"/>
                </a:moveTo>
                <a:lnTo>
                  <a:pt x="2894875" y="0"/>
                </a:lnTo>
                <a:lnTo>
                  <a:pt x="2894875" y="8493521"/>
                </a:lnTo>
                <a:lnTo>
                  <a:pt x="0" y="8493521"/>
                </a:lnTo>
                <a:lnTo>
                  <a:pt x="0" y="0"/>
                </a:lnTo>
                <a:close/>
              </a:path>
            </a:pathLst>
          </a:custGeom>
          <a:blipFill>
            <a:blip r:embed="rId8"/>
            <a:stretch>
              <a:fillRect l="0" t="0" r="0" b="0"/>
            </a:stretch>
          </a:blipFill>
        </p:spPr>
      </p:sp>
      <p:sp>
        <p:nvSpPr>
          <p:cNvPr name="Freeform 7" id="7"/>
          <p:cNvSpPr/>
          <p:nvPr/>
        </p:nvSpPr>
        <p:spPr>
          <a:xfrm flipH="false" flipV="false" rot="0">
            <a:off x="9259386" y="4620580"/>
            <a:ext cx="9259386" cy="3121185"/>
          </a:xfrm>
          <a:custGeom>
            <a:avLst/>
            <a:gdLst/>
            <a:ahLst/>
            <a:cxnLst/>
            <a:rect r="r" b="b" t="t" l="l"/>
            <a:pathLst>
              <a:path h="3121185" w="9259386">
                <a:moveTo>
                  <a:pt x="0" y="0"/>
                </a:moveTo>
                <a:lnTo>
                  <a:pt x="9259386" y="0"/>
                </a:lnTo>
                <a:lnTo>
                  <a:pt x="9259386" y="3121184"/>
                </a:lnTo>
                <a:lnTo>
                  <a:pt x="0" y="3121184"/>
                </a:lnTo>
                <a:lnTo>
                  <a:pt x="0" y="0"/>
                </a:lnTo>
                <a:close/>
              </a:path>
            </a:pathLst>
          </a:custGeom>
          <a:blipFill>
            <a:blip r:embed="rId5">
              <a:alphaModFix amt="59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12526655" y="94684"/>
            <a:ext cx="6704606" cy="3410968"/>
          </a:xfrm>
          <a:custGeom>
            <a:avLst/>
            <a:gdLst/>
            <a:ahLst/>
            <a:cxnLst/>
            <a:rect r="r" b="b" t="t" l="l"/>
            <a:pathLst>
              <a:path h="3410968" w="6704606">
                <a:moveTo>
                  <a:pt x="6704606" y="0"/>
                </a:moveTo>
                <a:lnTo>
                  <a:pt x="0" y="0"/>
                </a:lnTo>
                <a:lnTo>
                  <a:pt x="0" y="3410968"/>
                </a:lnTo>
                <a:lnTo>
                  <a:pt x="6704606" y="3410968"/>
                </a:lnTo>
                <a:lnTo>
                  <a:pt x="6704606" y="0"/>
                </a:lnTo>
                <a:close/>
              </a:path>
            </a:pathLst>
          </a:custGeom>
          <a:blipFill>
            <a:blip r:embed="rId7">
              <a:alphaModFix amt="75000"/>
            </a:blip>
            <a:stretch>
              <a:fillRect l="0" t="0" r="0" b="0"/>
            </a:stretch>
          </a:blipFill>
        </p:spPr>
      </p:sp>
      <p:sp>
        <p:nvSpPr>
          <p:cNvPr name="Freeform 9" id="9"/>
          <p:cNvSpPr/>
          <p:nvPr/>
        </p:nvSpPr>
        <p:spPr>
          <a:xfrm flipH="true" flipV="false" rot="0">
            <a:off x="15878958" y="517992"/>
            <a:ext cx="2894875" cy="8493520"/>
          </a:xfrm>
          <a:custGeom>
            <a:avLst/>
            <a:gdLst/>
            <a:ahLst/>
            <a:cxnLst/>
            <a:rect r="r" b="b" t="t" l="l"/>
            <a:pathLst>
              <a:path h="8493520" w="2894875">
                <a:moveTo>
                  <a:pt x="2894875" y="0"/>
                </a:moveTo>
                <a:lnTo>
                  <a:pt x="0" y="0"/>
                </a:lnTo>
                <a:lnTo>
                  <a:pt x="0" y="8493521"/>
                </a:lnTo>
                <a:lnTo>
                  <a:pt x="2894875" y="8493521"/>
                </a:lnTo>
                <a:lnTo>
                  <a:pt x="2894875" y="0"/>
                </a:lnTo>
                <a:close/>
              </a:path>
            </a:pathLst>
          </a:custGeom>
          <a:blipFill>
            <a:blip r:embed="rId8"/>
            <a:stretch>
              <a:fillRect l="0" t="0" r="0" b="0"/>
            </a:stretch>
          </a:blipFill>
        </p:spPr>
      </p:sp>
      <p:sp>
        <p:nvSpPr>
          <p:cNvPr name="Freeform 10" id="10"/>
          <p:cNvSpPr/>
          <p:nvPr/>
        </p:nvSpPr>
        <p:spPr>
          <a:xfrm flipH="false" flipV="false" rot="0">
            <a:off x="12526655" y="3928961"/>
            <a:ext cx="5171548" cy="7625607"/>
          </a:xfrm>
          <a:custGeom>
            <a:avLst/>
            <a:gdLst/>
            <a:ahLst/>
            <a:cxnLst/>
            <a:rect r="r" b="b" t="t" l="l"/>
            <a:pathLst>
              <a:path h="7625607" w="5171548">
                <a:moveTo>
                  <a:pt x="0" y="0"/>
                </a:moveTo>
                <a:lnTo>
                  <a:pt x="5171549" y="0"/>
                </a:lnTo>
                <a:lnTo>
                  <a:pt x="5171549" y="7625607"/>
                </a:lnTo>
                <a:lnTo>
                  <a:pt x="0" y="762560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0" y="6181172"/>
            <a:ext cx="9875079" cy="4650264"/>
          </a:xfrm>
          <a:custGeom>
            <a:avLst/>
            <a:gdLst/>
            <a:ahLst/>
            <a:cxnLst/>
            <a:rect r="r" b="b" t="t" l="l"/>
            <a:pathLst>
              <a:path h="4650264" w="9875079">
                <a:moveTo>
                  <a:pt x="0" y="0"/>
                </a:moveTo>
                <a:lnTo>
                  <a:pt x="9875079" y="0"/>
                </a:lnTo>
                <a:lnTo>
                  <a:pt x="9875079" y="4650264"/>
                </a:lnTo>
                <a:lnTo>
                  <a:pt x="0" y="465026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754908" y="411847"/>
            <a:ext cx="16778185" cy="1138456"/>
          </a:xfrm>
          <a:prstGeom prst="rect">
            <a:avLst/>
          </a:prstGeom>
        </p:spPr>
        <p:txBody>
          <a:bodyPr anchor="t" rtlCol="false" tIns="0" lIns="0" bIns="0" rIns="0">
            <a:spAutoFit/>
          </a:bodyPr>
          <a:lstStyle/>
          <a:p>
            <a:pPr algn="ctr" marL="0" indent="0" lvl="0">
              <a:lnSpc>
                <a:spcPts val="7870"/>
              </a:lnSpc>
              <a:spcBef>
                <a:spcPct val="0"/>
              </a:spcBef>
            </a:pPr>
            <a:r>
              <a:rPr lang="en-US" sz="6903">
                <a:solidFill>
                  <a:srgbClr val="000000"/>
                </a:solidFill>
                <a:latin typeface="Funtastic"/>
                <a:ea typeface="Funtastic"/>
                <a:cs typeface="Funtastic"/>
                <a:sym typeface="Funtastic"/>
              </a:rPr>
              <a:t>SIGNIFICANT FINDINGS</a:t>
            </a:r>
          </a:p>
        </p:txBody>
      </p:sp>
      <p:grpSp>
        <p:nvGrpSpPr>
          <p:cNvPr name="Group 13" id="13"/>
          <p:cNvGrpSpPr/>
          <p:nvPr/>
        </p:nvGrpSpPr>
        <p:grpSpPr>
          <a:xfrm rot="0">
            <a:off x="926024" y="1516825"/>
            <a:ext cx="16772180" cy="7741475"/>
            <a:chOff x="0" y="0"/>
            <a:chExt cx="3503808" cy="1617240"/>
          </a:xfrm>
        </p:grpSpPr>
        <p:sp>
          <p:nvSpPr>
            <p:cNvPr name="Freeform 14" id="14"/>
            <p:cNvSpPr/>
            <p:nvPr/>
          </p:nvSpPr>
          <p:spPr>
            <a:xfrm flipH="false" flipV="false" rot="0">
              <a:off x="0" y="0"/>
              <a:ext cx="3503808" cy="1617240"/>
            </a:xfrm>
            <a:custGeom>
              <a:avLst/>
              <a:gdLst/>
              <a:ahLst/>
              <a:cxnLst/>
              <a:rect r="r" b="b" t="t" l="l"/>
              <a:pathLst>
                <a:path h="1617240" w="3503808">
                  <a:moveTo>
                    <a:pt x="13848" y="0"/>
                  </a:moveTo>
                  <a:lnTo>
                    <a:pt x="3489960" y="0"/>
                  </a:lnTo>
                  <a:cubicBezTo>
                    <a:pt x="3497608" y="0"/>
                    <a:pt x="3503808" y="6200"/>
                    <a:pt x="3503808" y="13848"/>
                  </a:cubicBezTo>
                  <a:lnTo>
                    <a:pt x="3503808" y="1603392"/>
                  </a:lnTo>
                  <a:cubicBezTo>
                    <a:pt x="3503808" y="1611040"/>
                    <a:pt x="3497608" y="1617240"/>
                    <a:pt x="3489960" y="1617240"/>
                  </a:cubicBezTo>
                  <a:lnTo>
                    <a:pt x="13848" y="1617240"/>
                  </a:lnTo>
                  <a:cubicBezTo>
                    <a:pt x="6200" y="1617240"/>
                    <a:pt x="0" y="1611040"/>
                    <a:pt x="0" y="1603392"/>
                  </a:cubicBezTo>
                  <a:lnTo>
                    <a:pt x="0" y="13848"/>
                  </a:lnTo>
                  <a:cubicBezTo>
                    <a:pt x="0" y="6200"/>
                    <a:pt x="6200" y="0"/>
                    <a:pt x="13848" y="0"/>
                  </a:cubicBezTo>
                  <a:close/>
                </a:path>
              </a:pathLst>
            </a:custGeom>
            <a:solidFill>
              <a:srgbClr val="FFFFFF"/>
            </a:solidFill>
          </p:spPr>
        </p:sp>
        <p:sp>
          <p:nvSpPr>
            <p:cNvPr name="TextBox 15" id="15"/>
            <p:cNvSpPr txBox="true"/>
            <p:nvPr/>
          </p:nvSpPr>
          <p:spPr>
            <a:xfrm>
              <a:off x="0" y="-47625"/>
              <a:ext cx="3503808" cy="1664865"/>
            </a:xfrm>
            <a:prstGeom prst="rect">
              <a:avLst/>
            </a:prstGeom>
          </p:spPr>
          <p:txBody>
            <a:bodyPr anchor="ctr" rtlCol="false" tIns="58105" lIns="58105" bIns="58105" rIns="58105"/>
            <a:lstStyle/>
            <a:p>
              <a:pPr algn="ctr">
                <a:lnSpc>
                  <a:spcPts val="3499"/>
                </a:lnSpc>
              </a:pPr>
            </a:p>
          </p:txBody>
        </p:sp>
      </p:grpSp>
      <p:sp>
        <p:nvSpPr>
          <p:cNvPr name="TextBox 16" id="16"/>
          <p:cNvSpPr txBox="true"/>
          <p:nvPr/>
        </p:nvSpPr>
        <p:spPr>
          <a:xfrm rot="0">
            <a:off x="1115733" y="1638547"/>
            <a:ext cx="16874592" cy="7478981"/>
          </a:xfrm>
          <a:prstGeom prst="rect">
            <a:avLst/>
          </a:prstGeom>
        </p:spPr>
        <p:txBody>
          <a:bodyPr anchor="t" rtlCol="false" tIns="0" lIns="0" bIns="0" rIns="0">
            <a:spAutoFit/>
          </a:bodyPr>
          <a:lstStyle/>
          <a:p>
            <a:pPr algn="l">
              <a:lnSpc>
                <a:spcPts val="4552"/>
              </a:lnSpc>
            </a:pPr>
            <a:r>
              <a:rPr lang="en-US" sz="3993" b="true">
                <a:solidFill>
                  <a:srgbClr val="004AAD"/>
                </a:solidFill>
                <a:latin typeface="Poppins Bold"/>
                <a:ea typeface="Poppins Bold"/>
                <a:cs typeface="Poppins Bold"/>
                <a:sym typeface="Poppins Bold"/>
              </a:rPr>
              <a:t>Low Waste Generation Regions with Facilities</a:t>
            </a:r>
          </a:p>
          <a:p>
            <a:pPr algn="l" marL="862221" indent="-431111" lvl="1">
              <a:lnSpc>
                <a:spcPts val="4552"/>
              </a:lnSpc>
              <a:buFont typeface="Arial"/>
              <a:buChar char="•"/>
            </a:pPr>
            <a:r>
              <a:rPr lang="en-US" b="true" sz="3993">
                <a:solidFill>
                  <a:srgbClr val="000000"/>
                </a:solidFill>
                <a:latin typeface="Poppins Bold"/>
                <a:ea typeface="Poppins Bold"/>
                <a:cs typeface="Poppins Bold"/>
                <a:sym typeface="Poppins Bold"/>
              </a:rPr>
              <a:t>Regions like MIMAROPA (Region IV-B) and SOCCSKSARGEN (Region XII) have relatively low hazardous waste outputs (2,108.76 tons and 1,132.38 tons,</a:t>
            </a:r>
            <a:r>
              <a:rPr lang="en-US" b="true" sz="3993">
                <a:solidFill>
                  <a:srgbClr val="000000"/>
                </a:solidFill>
                <a:latin typeface="Poppins Bold"/>
                <a:ea typeface="Poppins Bold"/>
                <a:cs typeface="Poppins Bold"/>
                <a:sym typeface="Poppins Bold"/>
              </a:rPr>
              <a:t> respectively</a:t>
            </a:r>
            <a:r>
              <a:rPr lang="en-US" b="true" sz="3993">
                <a:solidFill>
                  <a:srgbClr val="000000"/>
                </a:solidFill>
                <a:latin typeface="Poppins Bold"/>
                <a:ea typeface="Poppins Bold"/>
                <a:cs typeface="Poppins Bold"/>
                <a:sym typeface="Poppins Bold"/>
              </a:rPr>
              <a:t>) but still maintain registered TSD facilities. This indicates a level of preparedness to manage</a:t>
            </a:r>
            <a:r>
              <a:rPr lang="en-US" b="true" sz="3993">
                <a:solidFill>
                  <a:srgbClr val="000000"/>
                </a:solidFill>
                <a:latin typeface="Poppins Bold"/>
                <a:ea typeface="Poppins Bold"/>
                <a:cs typeface="Poppins Bold"/>
                <a:sym typeface="Poppins Bold"/>
              </a:rPr>
              <a:t> waste,</a:t>
            </a:r>
            <a:r>
              <a:rPr lang="en-US" b="true" sz="3993">
                <a:solidFill>
                  <a:srgbClr val="000000"/>
                </a:solidFill>
                <a:latin typeface="Poppins Bold"/>
                <a:ea typeface="Poppins Bold"/>
                <a:cs typeface="Poppins Bold"/>
                <a:sym typeface="Poppins Bold"/>
              </a:rPr>
              <a:t> </a:t>
            </a:r>
            <a:r>
              <a:rPr lang="en-US" b="true" sz="3993">
                <a:solidFill>
                  <a:srgbClr val="000000"/>
                </a:solidFill>
                <a:latin typeface="Poppins Bold"/>
                <a:ea typeface="Poppins Bold"/>
                <a:cs typeface="Poppins Bold"/>
                <a:sym typeface="Poppins Bold"/>
              </a:rPr>
              <a:t>ev</a:t>
            </a:r>
            <a:r>
              <a:rPr lang="en-US" b="true" sz="3993">
                <a:solidFill>
                  <a:srgbClr val="000000"/>
                </a:solidFill>
                <a:latin typeface="Poppins Bold"/>
                <a:ea typeface="Poppins Bold"/>
                <a:cs typeface="Poppins Bold"/>
                <a:sym typeface="Poppins Bold"/>
              </a:rPr>
              <a:t>en at lower generation levels.</a:t>
            </a:r>
          </a:p>
          <a:p>
            <a:pPr algn="l">
              <a:lnSpc>
                <a:spcPts val="4552"/>
              </a:lnSpc>
            </a:pPr>
          </a:p>
          <a:p>
            <a:pPr algn="l">
              <a:lnSpc>
                <a:spcPts val="4552"/>
              </a:lnSpc>
            </a:pPr>
            <a:r>
              <a:rPr lang="en-US" sz="3993" b="true">
                <a:solidFill>
                  <a:srgbClr val="004AAD"/>
                </a:solidFill>
                <a:latin typeface="Poppins Bold"/>
                <a:ea typeface="Poppins Bold"/>
                <a:cs typeface="Poppins Bold"/>
                <a:sym typeface="Poppins Bold"/>
              </a:rPr>
              <a:t>Critical Gaps in Waste Management</a:t>
            </a:r>
          </a:p>
          <a:p>
            <a:pPr algn="l" marL="862221" indent="-431111" lvl="1">
              <a:lnSpc>
                <a:spcPts val="4552"/>
              </a:lnSpc>
              <a:spcBef>
                <a:spcPct val="0"/>
              </a:spcBef>
              <a:buFont typeface="Arial"/>
              <a:buChar char="•"/>
            </a:pPr>
            <a:r>
              <a:rPr lang="en-US" b="true" sz="3993">
                <a:solidFill>
                  <a:srgbClr val="000000"/>
                </a:solidFill>
                <a:latin typeface="Poppins Bold"/>
                <a:ea typeface="Poppins Bold"/>
                <a:cs typeface="Poppins Bold"/>
                <a:sym typeface="Poppins Bold"/>
              </a:rPr>
              <a:t>Regions lacking TSD facilities, such as BARMM and Caraga, may depend heavily on neighboring regions for waste management, which increases transportation risks and costs.</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3874"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233262" y="-676784"/>
            <a:ext cx="6704606" cy="3410968"/>
          </a:xfrm>
          <a:custGeom>
            <a:avLst/>
            <a:gdLst/>
            <a:ahLst/>
            <a:cxnLst/>
            <a:rect r="r" b="b" t="t" l="l"/>
            <a:pathLst>
              <a:path h="3410968" w="6704606">
                <a:moveTo>
                  <a:pt x="6704605" y="0"/>
                </a:moveTo>
                <a:lnTo>
                  <a:pt x="0" y="0"/>
                </a:lnTo>
                <a:lnTo>
                  <a:pt x="0" y="3410968"/>
                </a:lnTo>
                <a:lnTo>
                  <a:pt x="6704605" y="3410968"/>
                </a:lnTo>
                <a:lnTo>
                  <a:pt x="6704605" y="0"/>
                </a:lnTo>
                <a:close/>
              </a:path>
            </a:pathLst>
          </a:custGeom>
          <a:blipFill>
            <a:blip r:embed="rId5">
              <a:alphaModFix amt="75000"/>
            </a:blip>
            <a:stretch>
              <a:fillRect l="0" t="0" r="0" b="0"/>
            </a:stretch>
          </a:blipFill>
        </p:spPr>
      </p:sp>
      <p:sp>
        <p:nvSpPr>
          <p:cNvPr name="Freeform 5" id="5"/>
          <p:cNvSpPr/>
          <p:nvPr/>
        </p:nvSpPr>
        <p:spPr>
          <a:xfrm flipH="false" flipV="false" rot="0">
            <a:off x="9299797"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0" y="4161979"/>
            <a:ext cx="18753057" cy="3262485"/>
            <a:chOff x="0" y="0"/>
            <a:chExt cx="25004076" cy="4349980"/>
          </a:xfrm>
        </p:grpSpPr>
        <p:sp>
          <p:nvSpPr>
            <p:cNvPr name="Freeform 7" id="7"/>
            <p:cNvSpPr/>
            <p:nvPr/>
          </p:nvSpPr>
          <p:spPr>
            <a:xfrm flipH="false" flipV="false" rot="0">
              <a:off x="0"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209387"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45848"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8572653"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1812422" y="6842313"/>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8">
              <a:extLst>
                <a:ext uri="{96DAC541-7B7A-43D3-8B79-37D633B846F1}">
                  <asvg:svgBlip xmlns:asvg="http://schemas.microsoft.com/office/drawing/2016/SVG/main" r:embed="rId9"/>
                </a:ext>
              </a:extLst>
            </a:blip>
            <a:stretch>
              <a:fillRect l="0" t="-67673" r="0" b="0"/>
            </a:stretch>
          </a:blipFill>
        </p:spPr>
      </p:sp>
      <p:sp>
        <p:nvSpPr>
          <p:cNvPr name="Freeform 12" id="12"/>
          <p:cNvSpPr/>
          <p:nvPr/>
        </p:nvSpPr>
        <p:spPr>
          <a:xfrm flipH="false" flipV="false" rot="0">
            <a:off x="-940519" y="0"/>
            <a:ext cx="6704606" cy="3410968"/>
          </a:xfrm>
          <a:custGeom>
            <a:avLst/>
            <a:gdLst/>
            <a:ahLst/>
            <a:cxnLst/>
            <a:rect r="r" b="b" t="t" l="l"/>
            <a:pathLst>
              <a:path h="3410968" w="6704606">
                <a:moveTo>
                  <a:pt x="0" y="0"/>
                </a:moveTo>
                <a:lnTo>
                  <a:pt x="6704605" y="0"/>
                </a:lnTo>
                <a:lnTo>
                  <a:pt x="6704605" y="3410968"/>
                </a:lnTo>
                <a:lnTo>
                  <a:pt x="0" y="3410968"/>
                </a:lnTo>
                <a:lnTo>
                  <a:pt x="0" y="0"/>
                </a:lnTo>
                <a:close/>
              </a:path>
            </a:pathLst>
          </a:custGeom>
          <a:blipFill>
            <a:blip r:embed="rId5">
              <a:alphaModFix amt="75000"/>
            </a:blip>
            <a:stretch>
              <a:fillRect l="0" t="0" r="0" b="0"/>
            </a:stretch>
          </a:blipFill>
        </p:spPr>
      </p:sp>
      <p:sp>
        <p:nvSpPr>
          <p:cNvPr name="Freeform 13" id="13"/>
          <p:cNvSpPr/>
          <p:nvPr/>
        </p:nvSpPr>
        <p:spPr>
          <a:xfrm flipH="true" flipV="false" rot="0">
            <a:off x="13010714" y="0"/>
            <a:ext cx="8497171" cy="9163616"/>
          </a:xfrm>
          <a:custGeom>
            <a:avLst/>
            <a:gdLst/>
            <a:ahLst/>
            <a:cxnLst/>
            <a:rect r="r" b="b" t="t" l="l"/>
            <a:pathLst>
              <a:path h="9163616" w="8497171">
                <a:moveTo>
                  <a:pt x="8497172" y="0"/>
                </a:moveTo>
                <a:lnTo>
                  <a:pt x="0" y="0"/>
                </a:lnTo>
                <a:lnTo>
                  <a:pt x="0" y="9163616"/>
                </a:lnTo>
                <a:lnTo>
                  <a:pt x="8497172" y="9163616"/>
                </a:lnTo>
                <a:lnTo>
                  <a:pt x="849717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5245972" y="8344279"/>
            <a:ext cx="4026656" cy="2086540"/>
          </a:xfrm>
          <a:custGeom>
            <a:avLst/>
            <a:gdLst/>
            <a:ahLst/>
            <a:cxnLst/>
            <a:rect r="r" b="b" t="t" l="l"/>
            <a:pathLst>
              <a:path h="2086540" w="4026656">
                <a:moveTo>
                  <a:pt x="4026656" y="0"/>
                </a:moveTo>
                <a:lnTo>
                  <a:pt x="0" y="0"/>
                </a:lnTo>
                <a:lnTo>
                  <a:pt x="0" y="2086540"/>
                </a:lnTo>
                <a:lnTo>
                  <a:pt x="4026656" y="2086540"/>
                </a:lnTo>
                <a:lnTo>
                  <a:pt x="402665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9144000" y="3956497"/>
            <a:ext cx="7913059" cy="6474321"/>
          </a:xfrm>
          <a:custGeom>
            <a:avLst/>
            <a:gdLst/>
            <a:ahLst/>
            <a:cxnLst/>
            <a:rect r="r" b="b" t="t" l="l"/>
            <a:pathLst>
              <a:path h="6474321" w="7913059">
                <a:moveTo>
                  <a:pt x="0" y="0"/>
                </a:moveTo>
                <a:lnTo>
                  <a:pt x="7913059" y="0"/>
                </a:lnTo>
                <a:lnTo>
                  <a:pt x="7913059" y="6474322"/>
                </a:lnTo>
                <a:lnTo>
                  <a:pt x="0" y="647432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95322" y="5793222"/>
            <a:ext cx="5959408" cy="4539985"/>
          </a:xfrm>
          <a:custGeom>
            <a:avLst/>
            <a:gdLst/>
            <a:ahLst/>
            <a:cxnLst/>
            <a:rect r="r" b="b" t="t" l="l"/>
            <a:pathLst>
              <a:path h="4539985" w="5959408">
                <a:moveTo>
                  <a:pt x="0" y="0"/>
                </a:moveTo>
                <a:lnTo>
                  <a:pt x="5959408" y="0"/>
                </a:lnTo>
                <a:lnTo>
                  <a:pt x="5959408" y="4539985"/>
                </a:lnTo>
                <a:lnTo>
                  <a:pt x="0" y="45399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537412" y="1028700"/>
            <a:ext cx="17230577" cy="8432405"/>
          </a:xfrm>
          <a:custGeom>
            <a:avLst/>
            <a:gdLst/>
            <a:ahLst/>
            <a:cxnLst/>
            <a:rect r="r" b="b" t="t" l="l"/>
            <a:pathLst>
              <a:path h="8432405" w="17230577">
                <a:moveTo>
                  <a:pt x="0" y="0"/>
                </a:moveTo>
                <a:lnTo>
                  <a:pt x="17230577" y="0"/>
                </a:lnTo>
                <a:lnTo>
                  <a:pt x="17230577" y="8432405"/>
                </a:lnTo>
                <a:lnTo>
                  <a:pt x="0" y="8432405"/>
                </a:lnTo>
                <a:lnTo>
                  <a:pt x="0" y="0"/>
                </a:lnTo>
                <a:close/>
              </a:path>
            </a:pathLst>
          </a:custGeom>
          <a:blipFill>
            <a:blip r:embed="rId18"/>
            <a:stretch>
              <a:fillRect l="0" t="0" r="0" b="0"/>
            </a:stretch>
          </a:blipFill>
        </p:spPr>
      </p:sp>
      <p:sp>
        <p:nvSpPr>
          <p:cNvPr name="TextBox 18" id="18"/>
          <p:cNvSpPr txBox="true"/>
          <p:nvPr/>
        </p:nvSpPr>
        <p:spPr>
          <a:xfrm rot="0">
            <a:off x="10970451" y="2967220"/>
            <a:ext cx="6587466" cy="3977459"/>
          </a:xfrm>
          <a:prstGeom prst="rect">
            <a:avLst/>
          </a:prstGeom>
        </p:spPr>
        <p:txBody>
          <a:bodyPr anchor="t" rtlCol="false" tIns="0" lIns="0" bIns="0" rIns="0">
            <a:spAutoFit/>
          </a:bodyPr>
          <a:lstStyle/>
          <a:p>
            <a:pPr algn="ctr" marL="0" indent="0" lvl="0">
              <a:lnSpc>
                <a:spcPts val="5145"/>
              </a:lnSpc>
              <a:spcBef>
                <a:spcPct val="0"/>
              </a:spcBef>
            </a:pPr>
            <a:r>
              <a:rPr lang="en-US" sz="4513">
                <a:solidFill>
                  <a:srgbClr val="000000"/>
                </a:solidFill>
                <a:latin typeface="Funtastic"/>
                <a:ea typeface="Funtastic"/>
                <a:cs typeface="Funtastic"/>
                <a:sym typeface="Funtastic"/>
              </a:rPr>
              <a:t>TOTAL HAZARDOUS WASTE GENERATED BY REGION IN THE PHILIPPINES, VISUALIZED WITH A COLOR MAP AND TOOLTIPS USING FOLIUM</a:t>
            </a:r>
          </a:p>
        </p:txBody>
      </p:sp>
      <p:sp>
        <p:nvSpPr>
          <p:cNvPr name="TextBox 19" id="19"/>
          <p:cNvSpPr txBox="true"/>
          <p:nvPr/>
        </p:nvSpPr>
        <p:spPr>
          <a:xfrm rot="0">
            <a:off x="6239337" y="7572326"/>
            <a:ext cx="16049693" cy="490889"/>
          </a:xfrm>
          <a:prstGeom prst="rect">
            <a:avLst/>
          </a:prstGeom>
        </p:spPr>
        <p:txBody>
          <a:bodyPr anchor="t" rtlCol="false" tIns="0" lIns="0" bIns="0" rIns="0">
            <a:spAutoFit/>
          </a:bodyPr>
          <a:lstStyle/>
          <a:p>
            <a:pPr algn="ctr">
              <a:lnSpc>
                <a:spcPts val="3615"/>
              </a:lnSpc>
              <a:spcBef>
                <a:spcPct val="0"/>
              </a:spcBef>
            </a:pPr>
            <a:r>
              <a:rPr lang="en-US" b="true" sz="3171" i="true" u="sng">
                <a:solidFill>
                  <a:srgbClr val="000000"/>
                </a:solidFill>
                <a:latin typeface="Poppins Bold Italics"/>
                <a:ea typeface="Poppins Bold Italics"/>
                <a:cs typeface="Poppins Bold Italics"/>
                <a:sym typeface="Poppins Bold Italics"/>
                <a:hlinkClick r:id="rId19" tooltip="https://drive.google.com/drive/folders/1Az12-372jeYJDd-aMdf3LMare6QtpiXd?usp=drive_link"/>
              </a:rPr>
              <a:t>download_folium_maps.com</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3874"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233262" y="-676784"/>
            <a:ext cx="6704606" cy="3410968"/>
          </a:xfrm>
          <a:custGeom>
            <a:avLst/>
            <a:gdLst/>
            <a:ahLst/>
            <a:cxnLst/>
            <a:rect r="r" b="b" t="t" l="l"/>
            <a:pathLst>
              <a:path h="3410968" w="6704606">
                <a:moveTo>
                  <a:pt x="6704605" y="0"/>
                </a:moveTo>
                <a:lnTo>
                  <a:pt x="0" y="0"/>
                </a:lnTo>
                <a:lnTo>
                  <a:pt x="0" y="3410968"/>
                </a:lnTo>
                <a:lnTo>
                  <a:pt x="6704605" y="3410968"/>
                </a:lnTo>
                <a:lnTo>
                  <a:pt x="6704605" y="0"/>
                </a:lnTo>
                <a:close/>
              </a:path>
            </a:pathLst>
          </a:custGeom>
          <a:blipFill>
            <a:blip r:embed="rId5">
              <a:alphaModFix amt="75000"/>
            </a:blip>
            <a:stretch>
              <a:fillRect l="0" t="0" r="0" b="0"/>
            </a:stretch>
          </a:blipFill>
        </p:spPr>
      </p:sp>
      <p:sp>
        <p:nvSpPr>
          <p:cNvPr name="Freeform 5" id="5"/>
          <p:cNvSpPr/>
          <p:nvPr/>
        </p:nvSpPr>
        <p:spPr>
          <a:xfrm flipH="false" flipV="false" rot="0">
            <a:off x="9299797"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0" y="4161979"/>
            <a:ext cx="18753057" cy="3262485"/>
            <a:chOff x="0" y="0"/>
            <a:chExt cx="25004076" cy="4349980"/>
          </a:xfrm>
        </p:grpSpPr>
        <p:sp>
          <p:nvSpPr>
            <p:cNvPr name="Freeform 7" id="7"/>
            <p:cNvSpPr/>
            <p:nvPr/>
          </p:nvSpPr>
          <p:spPr>
            <a:xfrm flipH="false" flipV="false" rot="0">
              <a:off x="0"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209387"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45848"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8572653"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1812422" y="6842313"/>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8">
              <a:extLst>
                <a:ext uri="{96DAC541-7B7A-43D3-8B79-37D633B846F1}">
                  <asvg:svgBlip xmlns:asvg="http://schemas.microsoft.com/office/drawing/2016/SVG/main" r:embed="rId9"/>
                </a:ext>
              </a:extLst>
            </a:blip>
            <a:stretch>
              <a:fillRect l="0" t="-67673" r="0" b="0"/>
            </a:stretch>
          </a:blipFill>
        </p:spPr>
      </p:sp>
      <p:sp>
        <p:nvSpPr>
          <p:cNvPr name="Freeform 12" id="12"/>
          <p:cNvSpPr/>
          <p:nvPr/>
        </p:nvSpPr>
        <p:spPr>
          <a:xfrm flipH="false" flipV="false" rot="0">
            <a:off x="-940519" y="0"/>
            <a:ext cx="6704606" cy="3410968"/>
          </a:xfrm>
          <a:custGeom>
            <a:avLst/>
            <a:gdLst/>
            <a:ahLst/>
            <a:cxnLst/>
            <a:rect r="r" b="b" t="t" l="l"/>
            <a:pathLst>
              <a:path h="3410968" w="6704606">
                <a:moveTo>
                  <a:pt x="0" y="0"/>
                </a:moveTo>
                <a:lnTo>
                  <a:pt x="6704605" y="0"/>
                </a:lnTo>
                <a:lnTo>
                  <a:pt x="6704605" y="3410968"/>
                </a:lnTo>
                <a:lnTo>
                  <a:pt x="0" y="3410968"/>
                </a:lnTo>
                <a:lnTo>
                  <a:pt x="0" y="0"/>
                </a:lnTo>
                <a:close/>
              </a:path>
            </a:pathLst>
          </a:custGeom>
          <a:blipFill>
            <a:blip r:embed="rId5">
              <a:alphaModFix amt="75000"/>
            </a:blip>
            <a:stretch>
              <a:fillRect l="0" t="0" r="0" b="0"/>
            </a:stretch>
          </a:blipFill>
        </p:spPr>
      </p:sp>
      <p:sp>
        <p:nvSpPr>
          <p:cNvPr name="Freeform 13" id="13"/>
          <p:cNvSpPr/>
          <p:nvPr/>
        </p:nvSpPr>
        <p:spPr>
          <a:xfrm flipH="true" flipV="false" rot="0">
            <a:off x="-2429155" y="0"/>
            <a:ext cx="8497171" cy="9163616"/>
          </a:xfrm>
          <a:custGeom>
            <a:avLst/>
            <a:gdLst/>
            <a:ahLst/>
            <a:cxnLst/>
            <a:rect r="r" b="b" t="t" l="l"/>
            <a:pathLst>
              <a:path h="9163616" w="8497171">
                <a:moveTo>
                  <a:pt x="8497172" y="0"/>
                </a:moveTo>
                <a:lnTo>
                  <a:pt x="0" y="0"/>
                </a:lnTo>
                <a:lnTo>
                  <a:pt x="0" y="9163616"/>
                </a:lnTo>
                <a:lnTo>
                  <a:pt x="8497172" y="9163616"/>
                </a:lnTo>
                <a:lnTo>
                  <a:pt x="849717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5245972" y="8344279"/>
            <a:ext cx="4026656" cy="2086540"/>
          </a:xfrm>
          <a:custGeom>
            <a:avLst/>
            <a:gdLst/>
            <a:ahLst/>
            <a:cxnLst/>
            <a:rect r="r" b="b" t="t" l="l"/>
            <a:pathLst>
              <a:path h="2086540" w="4026656">
                <a:moveTo>
                  <a:pt x="4026656" y="0"/>
                </a:moveTo>
                <a:lnTo>
                  <a:pt x="0" y="0"/>
                </a:lnTo>
                <a:lnTo>
                  <a:pt x="0" y="2086540"/>
                </a:lnTo>
                <a:lnTo>
                  <a:pt x="4026656" y="2086540"/>
                </a:lnTo>
                <a:lnTo>
                  <a:pt x="402665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0" y="3823494"/>
            <a:ext cx="7913059" cy="6474321"/>
          </a:xfrm>
          <a:custGeom>
            <a:avLst/>
            <a:gdLst/>
            <a:ahLst/>
            <a:cxnLst/>
            <a:rect r="r" b="b" t="t" l="l"/>
            <a:pathLst>
              <a:path h="6474321" w="7913059">
                <a:moveTo>
                  <a:pt x="0" y="0"/>
                </a:moveTo>
                <a:lnTo>
                  <a:pt x="7913059" y="0"/>
                </a:lnTo>
                <a:lnTo>
                  <a:pt x="7913059" y="6474321"/>
                </a:lnTo>
                <a:lnTo>
                  <a:pt x="0" y="647432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2115637" y="5704940"/>
            <a:ext cx="5959408" cy="4539985"/>
          </a:xfrm>
          <a:custGeom>
            <a:avLst/>
            <a:gdLst/>
            <a:ahLst/>
            <a:cxnLst/>
            <a:rect r="r" b="b" t="t" l="l"/>
            <a:pathLst>
              <a:path h="4539985" w="5959408">
                <a:moveTo>
                  <a:pt x="0" y="0"/>
                </a:moveTo>
                <a:lnTo>
                  <a:pt x="5959408" y="0"/>
                </a:lnTo>
                <a:lnTo>
                  <a:pt x="5959408" y="4539985"/>
                </a:lnTo>
                <a:lnTo>
                  <a:pt x="0" y="45399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348949" y="964076"/>
            <a:ext cx="17726095" cy="8423473"/>
          </a:xfrm>
          <a:custGeom>
            <a:avLst/>
            <a:gdLst/>
            <a:ahLst/>
            <a:cxnLst/>
            <a:rect r="r" b="b" t="t" l="l"/>
            <a:pathLst>
              <a:path h="8423473" w="17726095">
                <a:moveTo>
                  <a:pt x="0" y="0"/>
                </a:moveTo>
                <a:lnTo>
                  <a:pt x="17726096" y="0"/>
                </a:lnTo>
                <a:lnTo>
                  <a:pt x="17726096" y="8423473"/>
                </a:lnTo>
                <a:lnTo>
                  <a:pt x="0" y="8423473"/>
                </a:lnTo>
                <a:lnTo>
                  <a:pt x="0" y="0"/>
                </a:lnTo>
                <a:close/>
              </a:path>
            </a:pathLst>
          </a:custGeom>
          <a:blipFill>
            <a:blip r:embed="rId18"/>
            <a:stretch>
              <a:fillRect l="0" t="0" r="0" b="0"/>
            </a:stretch>
          </a:blipFill>
        </p:spPr>
      </p:sp>
      <p:sp>
        <p:nvSpPr>
          <p:cNvPr name="TextBox 18" id="18"/>
          <p:cNvSpPr txBox="true"/>
          <p:nvPr/>
        </p:nvSpPr>
        <p:spPr>
          <a:xfrm rot="0">
            <a:off x="10970451" y="3452091"/>
            <a:ext cx="6587466" cy="4625112"/>
          </a:xfrm>
          <a:prstGeom prst="rect">
            <a:avLst/>
          </a:prstGeom>
        </p:spPr>
        <p:txBody>
          <a:bodyPr anchor="t" rtlCol="false" tIns="0" lIns="0" bIns="0" rIns="0">
            <a:spAutoFit/>
          </a:bodyPr>
          <a:lstStyle/>
          <a:p>
            <a:pPr algn="ctr" marL="0" indent="0" lvl="0">
              <a:lnSpc>
                <a:spcPts val="5145"/>
              </a:lnSpc>
              <a:spcBef>
                <a:spcPct val="0"/>
              </a:spcBef>
            </a:pPr>
            <a:r>
              <a:rPr lang="en-US" sz="4513">
                <a:solidFill>
                  <a:srgbClr val="000000"/>
                </a:solidFill>
                <a:latin typeface="Funtastic"/>
                <a:ea typeface="Funtastic"/>
                <a:cs typeface="Funtastic"/>
                <a:sym typeface="Funtastic"/>
              </a:rPr>
              <a:t>TOTAL NUMBER OF REGISTERED TSD FACILITIES BY REGION IN THE PHILIPPINES, VISUALIZED WITH A COLOR MAP AND TOOLTIPS USING FOLIUM</a:t>
            </a:r>
          </a:p>
        </p:txBody>
      </p:sp>
      <p:sp>
        <p:nvSpPr>
          <p:cNvPr name="TextBox 19" id="19"/>
          <p:cNvSpPr txBox="true"/>
          <p:nvPr/>
        </p:nvSpPr>
        <p:spPr>
          <a:xfrm rot="0">
            <a:off x="6068017" y="2483977"/>
            <a:ext cx="16049693" cy="490889"/>
          </a:xfrm>
          <a:prstGeom prst="rect">
            <a:avLst/>
          </a:prstGeom>
        </p:spPr>
        <p:txBody>
          <a:bodyPr anchor="t" rtlCol="false" tIns="0" lIns="0" bIns="0" rIns="0">
            <a:spAutoFit/>
          </a:bodyPr>
          <a:lstStyle/>
          <a:p>
            <a:pPr algn="ctr">
              <a:lnSpc>
                <a:spcPts val="3615"/>
              </a:lnSpc>
              <a:spcBef>
                <a:spcPct val="0"/>
              </a:spcBef>
            </a:pPr>
            <a:r>
              <a:rPr lang="en-US" b="true" sz="3171" i="true" u="sng">
                <a:solidFill>
                  <a:srgbClr val="000000"/>
                </a:solidFill>
                <a:latin typeface="Poppins Bold Italics"/>
                <a:ea typeface="Poppins Bold Italics"/>
                <a:cs typeface="Poppins Bold Italics"/>
                <a:sym typeface="Poppins Bold Italics"/>
                <a:hlinkClick r:id="rId19" tooltip="https://drive.google.com/drive/folders/1Az12-372jeYJDd-aMdf3LMare6QtpiXd?usp=drive_link"/>
              </a:rPr>
              <a:t>download_folium_maps.com</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3874"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233262" y="-676784"/>
            <a:ext cx="6704606" cy="3410968"/>
          </a:xfrm>
          <a:custGeom>
            <a:avLst/>
            <a:gdLst/>
            <a:ahLst/>
            <a:cxnLst/>
            <a:rect r="r" b="b" t="t" l="l"/>
            <a:pathLst>
              <a:path h="3410968" w="6704606">
                <a:moveTo>
                  <a:pt x="6704605" y="0"/>
                </a:moveTo>
                <a:lnTo>
                  <a:pt x="0" y="0"/>
                </a:lnTo>
                <a:lnTo>
                  <a:pt x="0" y="3410968"/>
                </a:lnTo>
                <a:lnTo>
                  <a:pt x="6704605" y="3410968"/>
                </a:lnTo>
                <a:lnTo>
                  <a:pt x="6704605" y="0"/>
                </a:lnTo>
                <a:close/>
              </a:path>
            </a:pathLst>
          </a:custGeom>
          <a:blipFill>
            <a:blip r:embed="rId5">
              <a:alphaModFix amt="75000"/>
            </a:blip>
            <a:stretch>
              <a:fillRect l="0" t="0" r="0" b="0"/>
            </a:stretch>
          </a:blipFill>
        </p:spPr>
      </p:sp>
      <p:sp>
        <p:nvSpPr>
          <p:cNvPr name="Freeform 5" id="5"/>
          <p:cNvSpPr/>
          <p:nvPr/>
        </p:nvSpPr>
        <p:spPr>
          <a:xfrm flipH="false" flipV="false" rot="0">
            <a:off x="9299797"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0" y="4161979"/>
            <a:ext cx="18753057" cy="3262485"/>
            <a:chOff x="0" y="0"/>
            <a:chExt cx="25004076" cy="4349980"/>
          </a:xfrm>
        </p:grpSpPr>
        <p:sp>
          <p:nvSpPr>
            <p:cNvPr name="Freeform 7" id="7"/>
            <p:cNvSpPr/>
            <p:nvPr/>
          </p:nvSpPr>
          <p:spPr>
            <a:xfrm flipH="false" flipV="false" rot="0">
              <a:off x="0"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209387"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45848"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8572653"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1812422" y="6842313"/>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8">
              <a:extLst>
                <a:ext uri="{96DAC541-7B7A-43D3-8B79-37D633B846F1}">
                  <asvg:svgBlip xmlns:asvg="http://schemas.microsoft.com/office/drawing/2016/SVG/main" r:embed="rId9"/>
                </a:ext>
              </a:extLst>
            </a:blip>
            <a:stretch>
              <a:fillRect l="0" t="-67673" r="0" b="0"/>
            </a:stretch>
          </a:blipFill>
        </p:spPr>
      </p:sp>
      <p:sp>
        <p:nvSpPr>
          <p:cNvPr name="Freeform 12" id="12"/>
          <p:cNvSpPr/>
          <p:nvPr/>
        </p:nvSpPr>
        <p:spPr>
          <a:xfrm flipH="false" flipV="false" rot="0">
            <a:off x="-940519" y="0"/>
            <a:ext cx="6704606" cy="3410968"/>
          </a:xfrm>
          <a:custGeom>
            <a:avLst/>
            <a:gdLst/>
            <a:ahLst/>
            <a:cxnLst/>
            <a:rect r="r" b="b" t="t" l="l"/>
            <a:pathLst>
              <a:path h="3410968" w="6704606">
                <a:moveTo>
                  <a:pt x="0" y="0"/>
                </a:moveTo>
                <a:lnTo>
                  <a:pt x="6704605" y="0"/>
                </a:lnTo>
                <a:lnTo>
                  <a:pt x="6704605" y="3410968"/>
                </a:lnTo>
                <a:lnTo>
                  <a:pt x="0" y="3410968"/>
                </a:lnTo>
                <a:lnTo>
                  <a:pt x="0" y="0"/>
                </a:lnTo>
                <a:close/>
              </a:path>
            </a:pathLst>
          </a:custGeom>
          <a:blipFill>
            <a:blip r:embed="rId5">
              <a:alphaModFix amt="75000"/>
            </a:blip>
            <a:stretch>
              <a:fillRect l="0" t="0" r="0" b="0"/>
            </a:stretch>
          </a:blipFill>
        </p:spPr>
      </p:sp>
      <p:sp>
        <p:nvSpPr>
          <p:cNvPr name="Freeform 13" id="13"/>
          <p:cNvSpPr/>
          <p:nvPr/>
        </p:nvSpPr>
        <p:spPr>
          <a:xfrm flipH="true" flipV="false" rot="0">
            <a:off x="4736090" y="-419829"/>
            <a:ext cx="8497171" cy="9163616"/>
          </a:xfrm>
          <a:custGeom>
            <a:avLst/>
            <a:gdLst/>
            <a:ahLst/>
            <a:cxnLst/>
            <a:rect r="r" b="b" t="t" l="l"/>
            <a:pathLst>
              <a:path h="9163616" w="8497171">
                <a:moveTo>
                  <a:pt x="8497172" y="0"/>
                </a:moveTo>
                <a:lnTo>
                  <a:pt x="0" y="0"/>
                </a:lnTo>
                <a:lnTo>
                  <a:pt x="0" y="9163616"/>
                </a:lnTo>
                <a:lnTo>
                  <a:pt x="8497172" y="9163616"/>
                </a:lnTo>
                <a:lnTo>
                  <a:pt x="849717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5245972" y="8344279"/>
            <a:ext cx="4026656" cy="2086540"/>
          </a:xfrm>
          <a:custGeom>
            <a:avLst/>
            <a:gdLst/>
            <a:ahLst/>
            <a:cxnLst/>
            <a:rect r="r" b="b" t="t" l="l"/>
            <a:pathLst>
              <a:path h="2086540" w="4026656">
                <a:moveTo>
                  <a:pt x="4026656" y="0"/>
                </a:moveTo>
                <a:lnTo>
                  <a:pt x="0" y="0"/>
                </a:lnTo>
                <a:lnTo>
                  <a:pt x="0" y="2086540"/>
                </a:lnTo>
                <a:lnTo>
                  <a:pt x="4026656" y="2086540"/>
                </a:lnTo>
                <a:lnTo>
                  <a:pt x="402665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7626246" y="3858886"/>
            <a:ext cx="7913059" cy="6474321"/>
          </a:xfrm>
          <a:custGeom>
            <a:avLst/>
            <a:gdLst/>
            <a:ahLst/>
            <a:cxnLst/>
            <a:rect r="r" b="b" t="t" l="l"/>
            <a:pathLst>
              <a:path h="6474321" w="7913059">
                <a:moveTo>
                  <a:pt x="0" y="0"/>
                </a:moveTo>
                <a:lnTo>
                  <a:pt x="7913059" y="0"/>
                </a:lnTo>
                <a:lnTo>
                  <a:pt x="7913059" y="6474321"/>
                </a:lnTo>
                <a:lnTo>
                  <a:pt x="0" y="647432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2915137" y="5568369"/>
            <a:ext cx="5959408" cy="4539985"/>
          </a:xfrm>
          <a:custGeom>
            <a:avLst/>
            <a:gdLst/>
            <a:ahLst/>
            <a:cxnLst/>
            <a:rect r="r" b="b" t="t" l="l"/>
            <a:pathLst>
              <a:path h="4539985" w="5959408">
                <a:moveTo>
                  <a:pt x="0" y="0"/>
                </a:moveTo>
                <a:lnTo>
                  <a:pt x="5959408" y="0"/>
                </a:lnTo>
                <a:lnTo>
                  <a:pt x="5959408" y="4539986"/>
                </a:lnTo>
                <a:lnTo>
                  <a:pt x="0" y="453998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17" id="17"/>
          <p:cNvGrpSpPr/>
          <p:nvPr/>
        </p:nvGrpSpPr>
        <p:grpSpPr>
          <a:xfrm rot="0">
            <a:off x="901555" y="2734184"/>
            <a:ext cx="7491114" cy="4922778"/>
            <a:chOff x="0" y="0"/>
            <a:chExt cx="1564938" cy="1028398"/>
          </a:xfrm>
        </p:grpSpPr>
        <p:sp>
          <p:nvSpPr>
            <p:cNvPr name="Freeform 18" id="18"/>
            <p:cNvSpPr/>
            <p:nvPr/>
          </p:nvSpPr>
          <p:spPr>
            <a:xfrm flipH="false" flipV="false" rot="0">
              <a:off x="0" y="0"/>
              <a:ext cx="1564938" cy="1028397"/>
            </a:xfrm>
            <a:custGeom>
              <a:avLst/>
              <a:gdLst/>
              <a:ahLst/>
              <a:cxnLst/>
              <a:rect r="r" b="b" t="t" l="l"/>
              <a:pathLst>
                <a:path h="1028397" w="1564938">
                  <a:moveTo>
                    <a:pt x="31004" y="0"/>
                  </a:moveTo>
                  <a:lnTo>
                    <a:pt x="1533934" y="0"/>
                  </a:lnTo>
                  <a:cubicBezTo>
                    <a:pt x="1551057" y="0"/>
                    <a:pt x="1564938" y="13881"/>
                    <a:pt x="1564938" y="31004"/>
                  </a:cubicBezTo>
                  <a:lnTo>
                    <a:pt x="1564938" y="997393"/>
                  </a:lnTo>
                  <a:cubicBezTo>
                    <a:pt x="1564938" y="1005616"/>
                    <a:pt x="1561672" y="1013502"/>
                    <a:pt x="1555857" y="1019317"/>
                  </a:cubicBezTo>
                  <a:cubicBezTo>
                    <a:pt x="1550043" y="1025131"/>
                    <a:pt x="1542157" y="1028397"/>
                    <a:pt x="1533934" y="1028397"/>
                  </a:cubicBezTo>
                  <a:lnTo>
                    <a:pt x="31004" y="1028397"/>
                  </a:lnTo>
                  <a:cubicBezTo>
                    <a:pt x="13881" y="1028397"/>
                    <a:pt x="0" y="1014516"/>
                    <a:pt x="0" y="997393"/>
                  </a:cubicBezTo>
                  <a:lnTo>
                    <a:pt x="0" y="31004"/>
                  </a:lnTo>
                  <a:cubicBezTo>
                    <a:pt x="0" y="13881"/>
                    <a:pt x="13881" y="0"/>
                    <a:pt x="31004" y="0"/>
                  </a:cubicBezTo>
                  <a:close/>
                </a:path>
              </a:pathLst>
            </a:custGeom>
            <a:solidFill>
              <a:srgbClr val="FFFFFF"/>
            </a:solidFill>
          </p:spPr>
        </p:sp>
        <p:sp>
          <p:nvSpPr>
            <p:cNvPr name="TextBox 19" id="19"/>
            <p:cNvSpPr txBox="true"/>
            <p:nvPr/>
          </p:nvSpPr>
          <p:spPr>
            <a:xfrm>
              <a:off x="0" y="-47625"/>
              <a:ext cx="1564938" cy="1076023"/>
            </a:xfrm>
            <a:prstGeom prst="rect">
              <a:avLst/>
            </a:prstGeom>
          </p:spPr>
          <p:txBody>
            <a:bodyPr anchor="ctr" rtlCol="false" tIns="58105" lIns="58105" bIns="58105" rIns="58105"/>
            <a:lstStyle/>
            <a:p>
              <a:pPr algn="ctr">
                <a:lnSpc>
                  <a:spcPts val="3499"/>
                </a:lnSpc>
              </a:pPr>
            </a:p>
          </p:txBody>
        </p:sp>
      </p:grpSp>
      <p:sp>
        <p:nvSpPr>
          <p:cNvPr name="Freeform 20" id="20"/>
          <p:cNvSpPr/>
          <p:nvPr/>
        </p:nvSpPr>
        <p:spPr>
          <a:xfrm flipH="false" flipV="false" rot="0">
            <a:off x="9299797" y="335115"/>
            <a:ext cx="8539512" cy="9616770"/>
          </a:xfrm>
          <a:custGeom>
            <a:avLst/>
            <a:gdLst/>
            <a:ahLst/>
            <a:cxnLst/>
            <a:rect r="r" b="b" t="t" l="l"/>
            <a:pathLst>
              <a:path h="9616770" w="8539512">
                <a:moveTo>
                  <a:pt x="0" y="0"/>
                </a:moveTo>
                <a:lnTo>
                  <a:pt x="8539512" y="0"/>
                </a:lnTo>
                <a:lnTo>
                  <a:pt x="8539512" y="9616770"/>
                </a:lnTo>
                <a:lnTo>
                  <a:pt x="0" y="9616770"/>
                </a:lnTo>
                <a:lnTo>
                  <a:pt x="0" y="0"/>
                </a:lnTo>
                <a:close/>
              </a:path>
            </a:pathLst>
          </a:custGeom>
          <a:blipFill>
            <a:blip r:embed="rId18"/>
            <a:stretch>
              <a:fillRect l="0" t="0" r="0" b="0"/>
            </a:stretch>
          </a:blipFill>
        </p:spPr>
      </p:sp>
      <p:sp>
        <p:nvSpPr>
          <p:cNvPr name="TextBox 21" id="21"/>
          <p:cNvSpPr txBox="true"/>
          <p:nvPr/>
        </p:nvSpPr>
        <p:spPr>
          <a:xfrm rot="0">
            <a:off x="1529834" y="2799353"/>
            <a:ext cx="6587466" cy="4625112"/>
          </a:xfrm>
          <a:prstGeom prst="rect">
            <a:avLst/>
          </a:prstGeom>
        </p:spPr>
        <p:txBody>
          <a:bodyPr anchor="t" rtlCol="false" tIns="0" lIns="0" bIns="0" rIns="0">
            <a:spAutoFit/>
          </a:bodyPr>
          <a:lstStyle/>
          <a:p>
            <a:pPr algn="ctr" marL="0" indent="0" lvl="0">
              <a:lnSpc>
                <a:spcPts val="5145"/>
              </a:lnSpc>
              <a:spcBef>
                <a:spcPct val="0"/>
              </a:spcBef>
            </a:pPr>
            <a:r>
              <a:rPr lang="en-US" sz="4513">
                <a:solidFill>
                  <a:srgbClr val="000000"/>
                </a:solidFill>
                <a:latin typeface="Funtastic"/>
                <a:ea typeface="Funtastic"/>
                <a:cs typeface="Funtastic"/>
                <a:sym typeface="Funtastic"/>
              </a:rPr>
              <a:t>TOTAL HAZARDOUS WASTE GENERATED BY REGION IN THE PHILIPPINES, VISUALIZED WITH A TOOLTIP AND MARKER (TOP 5) USING FOLIUM</a:t>
            </a:r>
          </a:p>
        </p:txBody>
      </p:sp>
      <p:sp>
        <p:nvSpPr>
          <p:cNvPr name="TextBox 22" id="22"/>
          <p:cNvSpPr txBox="true"/>
          <p:nvPr/>
        </p:nvSpPr>
        <p:spPr>
          <a:xfrm rot="0">
            <a:off x="-3201280" y="1881060"/>
            <a:ext cx="16049693" cy="490889"/>
          </a:xfrm>
          <a:prstGeom prst="rect">
            <a:avLst/>
          </a:prstGeom>
        </p:spPr>
        <p:txBody>
          <a:bodyPr anchor="t" rtlCol="false" tIns="0" lIns="0" bIns="0" rIns="0">
            <a:spAutoFit/>
          </a:bodyPr>
          <a:lstStyle/>
          <a:p>
            <a:pPr algn="ctr">
              <a:lnSpc>
                <a:spcPts val="3615"/>
              </a:lnSpc>
              <a:spcBef>
                <a:spcPct val="0"/>
              </a:spcBef>
            </a:pPr>
            <a:r>
              <a:rPr lang="en-US" b="true" sz="3171" i="true" u="sng">
                <a:solidFill>
                  <a:srgbClr val="000000"/>
                </a:solidFill>
                <a:latin typeface="Poppins Bold Italics"/>
                <a:ea typeface="Poppins Bold Italics"/>
                <a:cs typeface="Poppins Bold Italics"/>
                <a:sym typeface="Poppins Bold Italics"/>
                <a:hlinkClick r:id="rId19" tooltip="https://drive.google.com/drive/folders/1Az12-372jeYJDd-aMdf3LMare6QtpiXd?usp=drive_link"/>
              </a:rPr>
              <a:t>download_folium_maps.com</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3874"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233262" y="-676784"/>
            <a:ext cx="6704606" cy="3410968"/>
          </a:xfrm>
          <a:custGeom>
            <a:avLst/>
            <a:gdLst/>
            <a:ahLst/>
            <a:cxnLst/>
            <a:rect r="r" b="b" t="t" l="l"/>
            <a:pathLst>
              <a:path h="3410968" w="6704606">
                <a:moveTo>
                  <a:pt x="6704605" y="0"/>
                </a:moveTo>
                <a:lnTo>
                  <a:pt x="0" y="0"/>
                </a:lnTo>
                <a:lnTo>
                  <a:pt x="0" y="3410968"/>
                </a:lnTo>
                <a:lnTo>
                  <a:pt x="6704605" y="3410968"/>
                </a:lnTo>
                <a:lnTo>
                  <a:pt x="6704605" y="0"/>
                </a:lnTo>
                <a:close/>
              </a:path>
            </a:pathLst>
          </a:custGeom>
          <a:blipFill>
            <a:blip r:embed="rId5">
              <a:alphaModFix amt="75000"/>
            </a:blip>
            <a:stretch>
              <a:fillRect l="0" t="0" r="0" b="0"/>
            </a:stretch>
          </a:blipFill>
        </p:spPr>
      </p:sp>
      <p:sp>
        <p:nvSpPr>
          <p:cNvPr name="Freeform 5" id="5"/>
          <p:cNvSpPr/>
          <p:nvPr/>
        </p:nvSpPr>
        <p:spPr>
          <a:xfrm flipH="false" flipV="false" rot="0">
            <a:off x="9299797"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0" y="4161979"/>
            <a:ext cx="18753057" cy="3262485"/>
            <a:chOff x="0" y="0"/>
            <a:chExt cx="25004076" cy="4349980"/>
          </a:xfrm>
        </p:grpSpPr>
        <p:sp>
          <p:nvSpPr>
            <p:cNvPr name="Freeform 7" id="7"/>
            <p:cNvSpPr/>
            <p:nvPr/>
          </p:nvSpPr>
          <p:spPr>
            <a:xfrm flipH="false" flipV="false" rot="0">
              <a:off x="0"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6209387"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345848"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8572653"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11" id="11"/>
          <p:cNvSpPr/>
          <p:nvPr/>
        </p:nvSpPr>
        <p:spPr>
          <a:xfrm flipH="false" flipV="false" rot="0">
            <a:off x="-1812422" y="6842313"/>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8">
              <a:extLst>
                <a:ext uri="{96DAC541-7B7A-43D3-8B79-37D633B846F1}">
                  <asvg:svgBlip xmlns:asvg="http://schemas.microsoft.com/office/drawing/2016/SVG/main" r:embed="rId9"/>
                </a:ext>
              </a:extLst>
            </a:blip>
            <a:stretch>
              <a:fillRect l="0" t="-67673" r="0" b="0"/>
            </a:stretch>
          </a:blipFill>
        </p:spPr>
      </p:sp>
      <p:sp>
        <p:nvSpPr>
          <p:cNvPr name="Freeform 12" id="12"/>
          <p:cNvSpPr/>
          <p:nvPr/>
        </p:nvSpPr>
        <p:spPr>
          <a:xfrm flipH="false" flipV="false" rot="0">
            <a:off x="-940519" y="0"/>
            <a:ext cx="6704606" cy="3410968"/>
          </a:xfrm>
          <a:custGeom>
            <a:avLst/>
            <a:gdLst/>
            <a:ahLst/>
            <a:cxnLst/>
            <a:rect r="r" b="b" t="t" l="l"/>
            <a:pathLst>
              <a:path h="3410968" w="6704606">
                <a:moveTo>
                  <a:pt x="0" y="0"/>
                </a:moveTo>
                <a:lnTo>
                  <a:pt x="6704605" y="0"/>
                </a:lnTo>
                <a:lnTo>
                  <a:pt x="6704605" y="3410968"/>
                </a:lnTo>
                <a:lnTo>
                  <a:pt x="0" y="3410968"/>
                </a:lnTo>
                <a:lnTo>
                  <a:pt x="0" y="0"/>
                </a:lnTo>
                <a:close/>
              </a:path>
            </a:pathLst>
          </a:custGeom>
          <a:blipFill>
            <a:blip r:embed="rId5">
              <a:alphaModFix amt="75000"/>
            </a:blip>
            <a:stretch>
              <a:fillRect l="0" t="0" r="0" b="0"/>
            </a:stretch>
          </a:blipFill>
        </p:spPr>
      </p:sp>
      <p:sp>
        <p:nvSpPr>
          <p:cNvPr name="Freeform 13" id="13"/>
          <p:cNvSpPr/>
          <p:nvPr/>
        </p:nvSpPr>
        <p:spPr>
          <a:xfrm flipH="true" flipV="false" rot="0">
            <a:off x="5432318" y="-1170840"/>
            <a:ext cx="8497171" cy="9163616"/>
          </a:xfrm>
          <a:custGeom>
            <a:avLst/>
            <a:gdLst/>
            <a:ahLst/>
            <a:cxnLst/>
            <a:rect r="r" b="b" t="t" l="l"/>
            <a:pathLst>
              <a:path h="9163616" w="8497171">
                <a:moveTo>
                  <a:pt x="8497172" y="0"/>
                </a:moveTo>
                <a:lnTo>
                  <a:pt x="0" y="0"/>
                </a:lnTo>
                <a:lnTo>
                  <a:pt x="0" y="9163616"/>
                </a:lnTo>
                <a:lnTo>
                  <a:pt x="8497172" y="9163616"/>
                </a:lnTo>
                <a:lnTo>
                  <a:pt x="8497172"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5245972" y="8344279"/>
            <a:ext cx="4026656" cy="2086540"/>
          </a:xfrm>
          <a:custGeom>
            <a:avLst/>
            <a:gdLst/>
            <a:ahLst/>
            <a:cxnLst/>
            <a:rect r="r" b="b" t="t" l="l"/>
            <a:pathLst>
              <a:path h="2086540" w="4026656">
                <a:moveTo>
                  <a:pt x="4026656" y="0"/>
                </a:moveTo>
                <a:lnTo>
                  <a:pt x="0" y="0"/>
                </a:lnTo>
                <a:lnTo>
                  <a:pt x="0" y="2086540"/>
                </a:lnTo>
                <a:lnTo>
                  <a:pt x="4026656" y="2086540"/>
                </a:lnTo>
                <a:lnTo>
                  <a:pt x="402665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2181877" y="6786039"/>
            <a:ext cx="9684197" cy="3644779"/>
          </a:xfrm>
          <a:custGeom>
            <a:avLst/>
            <a:gdLst/>
            <a:ahLst/>
            <a:cxnLst/>
            <a:rect r="r" b="b" t="t" l="l"/>
            <a:pathLst>
              <a:path h="3644779" w="9684197">
                <a:moveTo>
                  <a:pt x="0" y="0"/>
                </a:moveTo>
                <a:lnTo>
                  <a:pt x="9684196" y="0"/>
                </a:lnTo>
                <a:lnTo>
                  <a:pt x="9684196" y="3644780"/>
                </a:lnTo>
                <a:lnTo>
                  <a:pt x="0" y="364478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6" id="16"/>
          <p:cNvGrpSpPr/>
          <p:nvPr/>
        </p:nvGrpSpPr>
        <p:grpSpPr>
          <a:xfrm rot="0">
            <a:off x="1109204" y="2107379"/>
            <a:ext cx="16534650" cy="7150921"/>
            <a:chOff x="0" y="0"/>
            <a:chExt cx="3454187" cy="1493870"/>
          </a:xfrm>
        </p:grpSpPr>
        <p:sp>
          <p:nvSpPr>
            <p:cNvPr name="Freeform 17" id="17"/>
            <p:cNvSpPr/>
            <p:nvPr/>
          </p:nvSpPr>
          <p:spPr>
            <a:xfrm flipH="false" flipV="false" rot="0">
              <a:off x="0" y="0"/>
              <a:ext cx="3454186" cy="1493870"/>
            </a:xfrm>
            <a:custGeom>
              <a:avLst/>
              <a:gdLst/>
              <a:ahLst/>
              <a:cxnLst/>
              <a:rect r="r" b="b" t="t" l="l"/>
              <a:pathLst>
                <a:path h="1493870" w="3454186">
                  <a:moveTo>
                    <a:pt x="14047" y="0"/>
                  </a:moveTo>
                  <a:lnTo>
                    <a:pt x="3440140" y="0"/>
                  </a:lnTo>
                  <a:cubicBezTo>
                    <a:pt x="3447898" y="0"/>
                    <a:pt x="3454186" y="6289"/>
                    <a:pt x="3454186" y="14047"/>
                  </a:cubicBezTo>
                  <a:lnTo>
                    <a:pt x="3454186" y="1479823"/>
                  </a:lnTo>
                  <a:cubicBezTo>
                    <a:pt x="3454186" y="1487581"/>
                    <a:pt x="3447898" y="1493870"/>
                    <a:pt x="3440140" y="1493870"/>
                  </a:cubicBezTo>
                  <a:lnTo>
                    <a:pt x="14047" y="1493870"/>
                  </a:lnTo>
                  <a:cubicBezTo>
                    <a:pt x="6289" y="1493870"/>
                    <a:pt x="0" y="1487581"/>
                    <a:pt x="0" y="1479823"/>
                  </a:cubicBezTo>
                  <a:lnTo>
                    <a:pt x="0" y="14047"/>
                  </a:lnTo>
                  <a:cubicBezTo>
                    <a:pt x="0" y="6289"/>
                    <a:pt x="6289" y="0"/>
                    <a:pt x="14047" y="0"/>
                  </a:cubicBezTo>
                  <a:close/>
                </a:path>
              </a:pathLst>
            </a:custGeom>
            <a:solidFill>
              <a:srgbClr val="FFFFFF"/>
            </a:solidFill>
          </p:spPr>
        </p:sp>
        <p:sp>
          <p:nvSpPr>
            <p:cNvPr name="TextBox 18" id="18"/>
            <p:cNvSpPr txBox="true"/>
            <p:nvPr/>
          </p:nvSpPr>
          <p:spPr>
            <a:xfrm>
              <a:off x="0" y="-47625"/>
              <a:ext cx="3454187" cy="1541495"/>
            </a:xfrm>
            <a:prstGeom prst="rect">
              <a:avLst/>
            </a:prstGeom>
          </p:spPr>
          <p:txBody>
            <a:bodyPr anchor="ctr" rtlCol="false" tIns="58105" lIns="58105" bIns="58105" rIns="58105"/>
            <a:lstStyle/>
            <a:p>
              <a:pPr algn="ctr">
                <a:lnSpc>
                  <a:spcPts val="3499"/>
                </a:lnSpc>
              </a:pPr>
            </a:p>
          </p:txBody>
        </p:sp>
      </p:grpSp>
      <p:sp>
        <p:nvSpPr>
          <p:cNvPr name="TextBox 19" id="19"/>
          <p:cNvSpPr txBox="true"/>
          <p:nvPr/>
        </p:nvSpPr>
        <p:spPr>
          <a:xfrm rot="0">
            <a:off x="1351682" y="2232233"/>
            <a:ext cx="16049693" cy="6891689"/>
          </a:xfrm>
          <a:prstGeom prst="rect">
            <a:avLst/>
          </a:prstGeom>
        </p:spPr>
        <p:txBody>
          <a:bodyPr anchor="t" rtlCol="false" tIns="0" lIns="0" bIns="0" rIns="0">
            <a:spAutoFit/>
          </a:bodyPr>
          <a:lstStyle/>
          <a:p>
            <a:pPr algn="ctr">
              <a:lnSpc>
                <a:spcPts val="3615"/>
              </a:lnSpc>
            </a:pPr>
            <a:r>
              <a:rPr lang="en-US" sz="3171" b="true">
                <a:solidFill>
                  <a:srgbClr val="000000"/>
                </a:solidFill>
                <a:latin typeface="Poppins Bold"/>
                <a:ea typeface="Poppins Bold"/>
                <a:cs typeface="Poppins Bold"/>
                <a:sym typeface="Poppins Bold"/>
              </a:rPr>
              <a:t>In summary, the analysis of hazardous waste generation and TSD facility distribution in the Philippines highlights significant regional disparities. </a:t>
            </a:r>
            <a:r>
              <a:rPr lang="en-US" sz="3171" b="true">
                <a:solidFill>
                  <a:srgbClr val="FF3131"/>
                </a:solidFill>
                <a:latin typeface="Poppins Bold"/>
                <a:ea typeface="Poppins Bold"/>
                <a:cs typeface="Poppins Bold"/>
                <a:sym typeface="Poppins Bold"/>
              </a:rPr>
              <a:t>CALABARZON </a:t>
            </a:r>
            <a:r>
              <a:rPr lang="en-US" sz="3171" b="true">
                <a:solidFill>
                  <a:srgbClr val="000000"/>
                </a:solidFill>
                <a:latin typeface="Poppins Bold"/>
                <a:ea typeface="Poppins Bold"/>
                <a:cs typeface="Poppins Bold"/>
                <a:sym typeface="Poppins Bold"/>
              </a:rPr>
              <a:t>and </a:t>
            </a:r>
            <a:r>
              <a:rPr lang="en-US" sz="3171" b="true">
                <a:solidFill>
                  <a:srgbClr val="FF3131"/>
                </a:solidFill>
                <a:latin typeface="Poppins Bold"/>
                <a:ea typeface="Poppins Bold"/>
                <a:cs typeface="Poppins Bold"/>
                <a:sym typeface="Poppins Bold"/>
              </a:rPr>
              <a:t>Central Luzon</a:t>
            </a:r>
            <a:r>
              <a:rPr lang="en-US" sz="3171" b="true">
                <a:solidFill>
                  <a:srgbClr val="000000"/>
                </a:solidFill>
                <a:latin typeface="Poppins Bold"/>
                <a:ea typeface="Poppins Bold"/>
                <a:cs typeface="Poppins Bold"/>
                <a:sym typeface="Poppins Bold"/>
              </a:rPr>
              <a:t> are noted for their high levels of hazardous waste and the availability of TSD facilities, reflecting strong local waste management capabilities. In contrast, regions like </a:t>
            </a:r>
            <a:r>
              <a:rPr lang="en-US" sz="3171" b="true">
                <a:solidFill>
                  <a:srgbClr val="5E17EB"/>
                </a:solidFill>
                <a:latin typeface="Poppins Bold"/>
                <a:ea typeface="Poppins Bold"/>
                <a:cs typeface="Poppins Bold"/>
                <a:sym typeface="Poppins Bold"/>
              </a:rPr>
              <a:t>NCR </a:t>
            </a:r>
            <a:r>
              <a:rPr lang="en-US" sz="3171" b="true">
                <a:solidFill>
                  <a:srgbClr val="000000"/>
                </a:solidFill>
                <a:latin typeface="Poppins Bold"/>
                <a:ea typeface="Poppins Bold"/>
                <a:cs typeface="Poppins Bold"/>
                <a:sym typeface="Poppins Bold"/>
              </a:rPr>
              <a:t>and </a:t>
            </a:r>
            <a:r>
              <a:rPr lang="en-US" sz="3171" b="true">
                <a:solidFill>
                  <a:srgbClr val="5E17EB"/>
                </a:solidFill>
                <a:latin typeface="Poppins Bold"/>
                <a:ea typeface="Poppins Bold"/>
                <a:cs typeface="Poppins Bold"/>
                <a:sym typeface="Poppins Bold"/>
              </a:rPr>
              <a:t>BARMM </a:t>
            </a:r>
            <a:r>
              <a:rPr lang="en-US" sz="3171" b="true">
                <a:solidFill>
                  <a:srgbClr val="000000"/>
                </a:solidFill>
                <a:latin typeface="Poppins Bold"/>
                <a:ea typeface="Poppins Bold"/>
                <a:cs typeface="Poppins Bold"/>
                <a:sym typeface="Poppins Bold"/>
              </a:rPr>
              <a:t>face challenges due to high waste generation and a lack of sufficient facilities, which can lead to environmental risks.  A</a:t>
            </a:r>
            <a:r>
              <a:rPr lang="en-US" sz="3171" b="true">
                <a:solidFill>
                  <a:srgbClr val="000000"/>
                </a:solidFill>
                <a:latin typeface="Poppins Bold"/>
                <a:ea typeface="Poppins Bold"/>
                <a:cs typeface="Poppins Bold"/>
                <a:sym typeface="Poppins Bold"/>
              </a:rPr>
              <a:t>dditionally, regions with lower waste outputs, such as </a:t>
            </a:r>
            <a:r>
              <a:rPr lang="en-US" sz="3171" b="true">
                <a:solidFill>
                  <a:srgbClr val="00BF63"/>
                </a:solidFill>
                <a:latin typeface="Poppins Bold"/>
                <a:ea typeface="Poppins Bold"/>
                <a:cs typeface="Poppins Bold"/>
                <a:sym typeface="Poppins Bold"/>
              </a:rPr>
              <a:t>MIMAROPA </a:t>
            </a:r>
            <a:r>
              <a:rPr lang="en-US" sz="3171" b="true">
                <a:solidFill>
                  <a:srgbClr val="000000"/>
                </a:solidFill>
                <a:latin typeface="Poppins Bold"/>
                <a:ea typeface="Poppins Bold"/>
                <a:cs typeface="Poppins Bold"/>
                <a:sym typeface="Poppins Bold"/>
              </a:rPr>
              <a:t>and </a:t>
            </a:r>
            <a:r>
              <a:rPr lang="en-US" sz="3171" b="true">
                <a:solidFill>
                  <a:srgbClr val="00BF63"/>
                </a:solidFill>
                <a:latin typeface="Poppins Bold"/>
                <a:ea typeface="Poppins Bold"/>
                <a:cs typeface="Poppins Bold"/>
                <a:sym typeface="Poppins Bold"/>
              </a:rPr>
              <a:t>SOCCSKSARGEN</a:t>
            </a:r>
            <a:r>
              <a:rPr lang="en-US" sz="3171" b="true">
                <a:solidFill>
                  <a:srgbClr val="000000"/>
                </a:solidFill>
                <a:latin typeface="Poppins Bold"/>
                <a:ea typeface="Poppins Bold"/>
                <a:cs typeface="Poppins Bold"/>
                <a:sym typeface="Poppins Bold"/>
              </a:rPr>
              <a:t>, show preparedness through their TSD facilities, underscoring the importance of readiness in waste management.</a:t>
            </a:r>
          </a:p>
          <a:p>
            <a:pPr algn="ctr">
              <a:lnSpc>
                <a:spcPts val="3615"/>
              </a:lnSpc>
            </a:pPr>
          </a:p>
          <a:p>
            <a:pPr algn="ctr">
              <a:lnSpc>
                <a:spcPts val="3615"/>
              </a:lnSpc>
              <a:spcBef>
                <a:spcPct val="0"/>
              </a:spcBef>
            </a:pPr>
            <a:r>
              <a:rPr lang="en-US" b="true" sz="3171" i="true">
                <a:solidFill>
                  <a:srgbClr val="000000"/>
                </a:solidFill>
                <a:latin typeface="Poppins Bold Italics"/>
                <a:ea typeface="Poppins Bold Italics"/>
                <a:cs typeface="Poppins Bold Italics"/>
                <a:sym typeface="Poppins Bold Italics"/>
              </a:rPr>
              <a:t>T</a:t>
            </a:r>
            <a:r>
              <a:rPr lang="en-US" b="true" sz="3171" i="true">
                <a:solidFill>
                  <a:srgbClr val="000000"/>
                </a:solidFill>
                <a:latin typeface="Poppins Bold Italics"/>
                <a:ea typeface="Poppins Bold Italics"/>
                <a:cs typeface="Poppins Bold Italics"/>
                <a:sym typeface="Poppins Bold Italics"/>
              </a:rPr>
              <a:t>he findings call for a more equitable distribution of TSD facilities, particularly in areas with increasing hazardous waste, to improve the Philippines' capacity for sustainable waste management and protect public health and the environment.</a:t>
            </a:r>
          </a:p>
        </p:txBody>
      </p:sp>
      <p:sp>
        <p:nvSpPr>
          <p:cNvPr name="TextBox 20" id="20"/>
          <p:cNvSpPr txBox="true"/>
          <p:nvPr/>
        </p:nvSpPr>
        <p:spPr>
          <a:xfrm rot="0">
            <a:off x="4202621" y="123943"/>
            <a:ext cx="9882758" cy="1983437"/>
          </a:xfrm>
          <a:prstGeom prst="rect">
            <a:avLst/>
          </a:prstGeom>
        </p:spPr>
        <p:txBody>
          <a:bodyPr anchor="t" rtlCol="false" tIns="0" lIns="0" bIns="0" rIns="0">
            <a:spAutoFit/>
          </a:bodyPr>
          <a:lstStyle/>
          <a:p>
            <a:pPr algn="ctr" marL="0" indent="0" lvl="0">
              <a:lnSpc>
                <a:spcPts val="13670"/>
              </a:lnSpc>
              <a:spcBef>
                <a:spcPct val="0"/>
              </a:spcBef>
            </a:pPr>
            <a:r>
              <a:rPr lang="en-US" sz="11991">
                <a:solidFill>
                  <a:srgbClr val="000000"/>
                </a:solidFill>
                <a:latin typeface="Funtastic"/>
                <a:ea typeface="Funtastic"/>
                <a:cs typeface="Funtastic"/>
                <a:sym typeface="Funtastic"/>
              </a:rPr>
              <a:t>CONCLUSION</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525" r="0" b="-103898"/>
            </a:stretch>
          </a:blipFill>
        </p:spPr>
      </p:sp>
      <p:sp>
        <p:nvSpPr>
          <p:cNvPr name="Freeform 3" id="3"/>
          <p:cNvSpPr/>
          <p:nvPr/>
        </p:nvSpPr>
        <p:spPr>
          <a:xfrm flipH="false" flipV="false" rot="0">
            <a:off x="193874"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3233262" y="-676784"/>
            <a:ext cx="6704606" cy="3410968"/>
          </a:xfrm>
          <a:custGeom>
            <a:avLst/>
            <a:gdLst/>
            <a:ahLst/>
            <a:cxnLst/>
            <a:rect r="r" b="b" t="t" l="l"/>
            <a:pathLst>
              <a:path h="3410968" w="6704606">
                <a:moveTo>
                  <a:pt x="6704605" y="0"/>
                </a:moveTo>
                <a:lnTo>
                  <a:pt x="0" y="0"/>
                </a:lnTo>
                <a:lnTo>
                  <a:pt x="0" y="3410968"/>
                </a:lnTo>
                <a:lnTo>
                  <a:pt x="6704605" y="3410968"/>
                </a:lnTo>
                <a:lnTo>
                  <a:pt x="6704605" y="0"/>
                </a:lnTo>
                <a:close/>
              </a:path>
            </a:pathLst>
          </a:custGeom>
          <a:blipFill>
            <a:blip r:embed="rId5">
              <a:alphaModFix amt="75000"/>
            </a:blip>
            <a:stretch>
              <a:fillRect l="0" t="0" r="0" b="0"/>
            </a:stretch>
          </a:blipFill>
        </p:spPr>
      </p:sp>
      <p:sp>
        <p:nvSpPr>
          <p:cNvPr name="Freeform 5" id="5"/>
          <p:cNvSpPr/>
          <p:nvPr/>
        </p:nvSpPr>
        <p:spPr>
          <a:xfrm flipH="false" flipV="false" rot="0">
            <a:off x="9299797" y="3823494"/>
            <a:ext cx="9259386" cy="3121185"/>
          </a:xfrm>
          <a:custGeom>
            <a:avLst/>
            <a:gdLst/>
            <a:ahLst/>
            <a:cxnLst/>
            <a:rect r="r" b="b" t="t" l="l"/>
            <a:pathLst>
              <a:path h="3121185" w="9259386">
                <a:moveTo>
                  <a:pt x="0" y="0"/>
                </a:moveTo>
                <a:lnTo>
                  <a:pt x="9259386" y="0"/>
                </a:lnTo>
                <a:lnTo>
                  <a:pt x="9259386" y="3121185"/>
                </a:lnTo>
                <a:lnTo>
                  <a:pt x="0" y="3121185"/>
                </a:lnTo>
                <a:lnTo>
                  <a:pt x="0" y="0"/>
                </a:lnTo>
                <a:close/>
              </a:path>
            </a:pathLst>
          </a:custGeom>
          <a:blipFill>
            <a:blip r:embed="rId3">
              <a:alphaModFix amt="59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264706" y="482552"/>
            <a:ext cx="4641718" cy="6681883"/>
          </a:xfrm>
          <a:custGeom>
            <a:avLst/>
            <a:gdLst/>
            <a:ahLst/>
            <a:cxnLst/>
            <a:rect r="r" b="b" t="t" l="l"/>
            <a:pathLst>
              <a:path h="6681883" w="4641718">
                <a:moveTo>
                  <a:pt x="0" y="0"/>
                </a:moveTo>
                <a:lnTo>
                  <a:pt x="4641717" y="0"/>
                </a:lnTo>
                <a:lnTo>
                  <a:pt x="4641717" y="6681883"/>
                </a:lnTo>
                <a:lnTo>
                  <a:pt x="0" y="6681883"/>
                </a:lnTo>
                <a:lnTo>
                  <a:pt x="0" y="0"/>
                </a:lnTo>
                <a:close/>
              </a:path>
            </a:pathLst>
          </a:custGeom>
          <a:blipFill>
            <a:blip r:embed="rId6"/>
            <a:stretch>
              <a:fillRect l="0" t="0" r="0" b="0"/>
            </a:stretch>
          </a:blipFill>
        </p:spPr>
      </p:sp>
      <p:grpSp>
        <p:nvGrpSpPr>
          <p:cNvPr name="Group 7" id="7"/>
          <p:cNvGrpSpPr/>
          <p:nvPr/>
        </p:nvGrpSpPr>
        <p:grpSpPr>
          <a:xfrm rot="0">
            <a:off x="0" y="4161979"/>
            <a:ext cx="18753057" cy="3262485"/>
            <a:chOff x="0" y="0"/>
            <a:chExt cx="25004076" cy="4349980"/>
          </a:xfrm>
        </p:grpSpPr>
        <p:sp>
          <p:nvSpPr>
            <p:cNvPr name="Freeform 8" id="8"/>
            <p:cNvSpPr/>
            <p:nvPr/>
          </p:nvSpPr>
          <p:spPr>
            <a:xfrm flipH="false" flipV="false" rot="0">
              <a:off x="0"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6209387"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2345848"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8572653" y="0"/>
              <a:ext cx="6431423" cy="4349980"/>
            </a:xfrm>
            <a:custGeom>
              <a:avLst/>
              <a:gdLst/>
              <a:ahLst/>
              <a:cxnLst/>
              <a:rect r="r" b="b" t="t" l="l"/>
              <a:pathLst>
                <a:path h="4349980" w="6431423">
                  <a:moveTo>
                    <a:pt x="0" y="0"/>
                  </a:moveTo>
                  <a:lnTo>
                    <a:pt x="6431423" y="0"/>
                  </a:lnTo>
                  <a:lnTo>
                    <a:pt x="6431423" y="4349980"/>
                  </a:lnTo>
                  <a:lnTo>
                    <a:pt x="0" y="43499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12" id="12"/>
          <p:cNvSpPr/>
          <p:nvPr/>
        </p:nvSpPr>
        <p:spPr>
          <a:xfrm flipH="false" flipV="false" rot="0">
            <a:off x="-1812422" y="6842313"/>
            <a:ext cx="22143617" cy="5090471"/>
          </a:xfrm>
          <a:custGeom>
            <a:avLst/>
            <a:gdLst/>
            <a:ahLst/>
            <a:cxnLst/>
            <a:rect r="r" b="b" t="t" l="l"/>
            <a:pathLst>
              <a:path h="5090471" w="22143617">
                <a:moveTo>
                  <a:pt x="0" y="0"/>
                </a:moveTo>
                <a:lnTo>
                  <a:pt x="22143617" y="0"/>
                </a:lnTo>
                <a:lnTo>
                  <a:pt x="22143617" y="5090472"/>
                </a:lnTo>
                <a:lnTo>
                  <a:pt x="0" y="5090472"/>
                </a:lnTo>
                <a:lnTo>
                  <a:pt x="0" y="0"/>
                </a:lnTo>
                <a:close/>
              </a:path>
            </a:pathLst>
          </a:custGeom>
          <a:blipFill>
            <a:blip r:embed="rId9">
              <a:extLst>
                <a:ext uri="{96DAC541-7B7A-43D3-8B79-37D633B846F1}">
                  <asvg:svgBlip xmlns:asvg="http://schemas.microsoft.com/office/drawing/2016/SVG/main" r:embed="rId10"/>
                </a:ext>
              </a:extLst>
            </a:blip>
            <a:stretch>
              <a:fillRect l="0" t="-67673" r="0" b="0"/>
            </a:stretch>
          </a:blipFill>
        </p:spPr>
      </p:sp>
      <p:sp>
        <p:nvSpPr>
          <p:cNvPr name="Freeform 13" id="13"/>
          <p:cNvSpPr/>
          <p:nvPr/>
        </p:nvSpPr>
        <p:spPr>
          <a:xfrm flipH="false" flipV="false" rot="0">
            <a:off x="-940519" y="0"/>
            <a:ext cx="6704606" cy="3410968"/>
          </a:xfrm>
          <a:custGeom>
            <a:avLst/>
            <a:gdLst/>
            <a:ahLst/>
            <a:cxnLst/>
            <a:rect r="r" b="b" t="t" l="l"/>
            <a:pathLst>
              <a:path h="3410968" w="6704606">
                <a:moveTo>
                  <a:pt x="0" y="0"/>
                </a:moveTo>
                <a:lnTo>
                  <a:pt x="6704605" y="0"/>
                </a:lnTo>
                <a:lnTo>
                  <a:pt x="6704605" y="3410968"/>
                </a:lnTo>
                <a:lnTo>
                  <a:pt x="0" y="3410968"/>
                </a:lnTo>
                <a:lnTo>
                  <a:pt x="0" y="0"/>
                </a:lnTo>
                <a:close/>
              </a:path>
            </a:pathLst>
          </a:custGeom>
          <a:blipFill>
            <a:blip r:embed="rId5">
              <a:alphaModFix amt="75000"/>
            </a:blip>
            <a:stretch>
              <a:fillRect l="0" t="0" r="0" b="0"/>
            </a:stretch>
          </a:blipFill>
        </p:spPr>
      </p:sp>
      <p:sp>
        <p:nvSpPr>
          <p:cNvPr name="TextBox 14" id="14"/>
          <p:cNvSpPr txBox="true"/>
          <p:nvPr/>
        </p:nvSpPr>
        <p:spPr>
          <a:xfrm rot="0">
            <a:off x="4202621" y="2333525"/>
            <a:ext cx="9882758" cy="1983437"/>
          </a:xfrm>
          <a:prstGeom prst="rect">
            <a:avLst/>
          </a:prstGeom>
        </p:spPr>
        <p:txBody>
          <a:bodyPr anchor="t" rtlCol="false" tIns="0" lIns="0" bIns="0" rIns="0">
            <a:spAutoFit/>
          </a:bodyPr>
          <a:lstStyle/>
          <a:p>
            <a:pPr algn="ctr" marL="0" indent="0" lvl="0">
              <a:lnSpc>
                <a:spcPts val="13670"/>
              </a:lnSpc>
              <a:spcBef>
                <a:spcPct val="0"/>
              </a:spcBef>
            </a:pPr>
            <a:r>
              <a:rPr lang="en-US" sz="11991" strike="noStrike" u="none">
                <a:solidFill>
                  <a:srgbClr val="000000"/>
                </a:solidFill>
                <a:latin typeface="Funtastic"/>
                <a:ea typeface="Funtastic"/>
                <a:cs typeface="Funtastic"/>
                <a:sym typeface="Funtastic"/>
              </a:rPr>
              <a:t>THANK YOU</a:t>
            </a:r>
          </a:p>
        </p:txBody>
      </p:sp>
      <p:sp>
        <p:nvSpPr>
          <p:cNvPr name="Freeform 15" id="15"/>
          <p:cNvSpPr/>
          <p:nvPr/>
        </p:nvSpPr>
        <p:spPr>
          <a:xfrm flipH="true" flipV="false" rot="0">
            <a:off x="-4640231" y="223933"/>
            <a:ext cx="8497171" cy="9163616"/>
          </a:xfrm>
          <a:custGeom>
            <a:avLst/>
            <a:gdLst/>
            <a:ahLst/>
            <a:cxnLst/>
            <a:rect r="r" b="b" t="t" l="l"/>
            <a:pathLst>
              <a:path h="9163616" w="8497171">
                <a:moveTo>
                  <a:pt x="8497171" y="0"/>
                </a:moveTo>
                <a:lnTo>
                  <a:pt x="0" y="0"/>
                </a:lnTo>
                <a:lnTo>
                  <a:pt x="0" y="9163616"/>
                </a:lnTo>
                <a:lnTo>
                  <a:pt x="8497171" y="9163616"/>
                </a:lnTo>
                <a:lnTo>
                  <a:pt x="8497171"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11680020" y="5143500"/>
            <a:ext cx="6060534" cy="2280964"/>
          </a:xfrm>
          <a:custGeom>
            <a:avLst/>
            <a:gdLst/>
            <a:ahLst/>
            <a:cxnLst/>
            <a:rect r="r" b="b" t="t" l="l"/>
            <a:pathLst>
              <a:path h="2280964" w="6060534">
                <a:moveTo>
                  <a:pt x="0" y="0"/>
                </a:moveTo>
                <a:lnTo>
                  <a:pt x="6060533" y="0"/>
                </a:lnTo>
                <a:lnTo>
                  <a:pt x="6060533" y="2280964"/>
                </a:lnTo>
                <a:lnTo>
                  <a:pt x="0" y="228096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true" flipV="false" rot="0">
            <a:off x="15245972" y="8344279"/>
            <a:ext cx="4026656" cy="2086540"/>
          </a:xfrm>
          <a:custGeom>
            <a:avLst/>
            <a:gdLst/>
            <a:ahLst/>
            <a:cxnLst/>
            <a:rect r="r" b="b" t="t" l="l"/>
            <a:pathLst>
              <a:path h="2086540" w="4026656">
                <a:moveTo>
                  <a:pt x="4026656" y="0"/>
                </a:moveTo>
                <a:lnTo>
                  <a:pt x="0" y="0"/>
                </a:lnTo>
                <a:lnTo>
                  <a:pt x="0" y="2086540"/>
                </a:lnTo>
                <a:lnTo>
                  <a:pt x="4026656" y="2086540"/>
                </a:lnTo>
                <a:lnTo>
                  <a:pt x="4026656"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0">
            <a:off x="11438593" y="7945572"/>
            <a:ext cx="2025840" cy="2086540"/>
          </a:xfrm>
          <a:custGeom>
            <a:avLst/>
            <a:gdLst/>
            <a:ahLst/>
            <a:cxnLst/>
            <a:rect r="r" b="b" t="t" l="l"/>
            <a:pathLst>
              <a:path h="2086540" w="2025840">
                <a:moveTo>
                  <a:pt x="0" y="0"/>
                </a:moveTo>
                <a:lnTo>
                  <a:pt x="2025840" y="0"/>
                </a:lnTo>
                <a:lnTo>
                  <a:pt x="2025840" y="2086540"/>
                </a:lnTo>
                <a:lnTo>
                  <a:pt x="0" y="208654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9" id="19"/>
          <p:cNvSpPr/>
          <p:nvPr/>
        </p:nvSpPr>
        <p:spPr>
          <a:xfrm flipH="false" flipV="false" rot="0">
            <a:off x="13929490" y="7672459"/>
            <a:ext cx="2411784" cy="1640013"/>
          </a:xfrm>
          <a:custGeom>
            <a:avLst/>
            <a:gdLst/>
            <a:ahLst/>
            <a:cxnLst/>
            <a:rect r="r" b="b" t="t" l="l"/>
            <a:pathLst>
              <a:path h="1640013" w="2411784">
                <a:moveTo>
                  <a:pt x="0" y="0"/>
                </a:moveTo>
                <a:lnTo>
                  <a:pt x="2411783" y="0"/>
                </a:lnTo>
                <a:lnTo>
                  <a:pt x="2411783" y="1640012"/>
                </a:lnTo>
                <a:lnTo>
                  <a:pt x="0" y="164001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0" id="20"/>
          <p:cNvSpPr/>
          <p:nvPr/>
        </p:nvSpPr>
        <p:spPr>
          <a:xfrm flipH="false" flipV="false" rot="0">
            <a:off x="-1328331" y="2434903"/>
            <a:ext cx="11970744" cy="8814820"/>
          </a:xfrm>
          <a:custGeom>
            <a:avLst/>
            <a:gdLst/>
            <a:ahLst/>
            <a:cxnLst/>
            <a:rect r="r" b="b" t="t" l="l"/>
            <a:pathLst>
              <a:path h="8814820" w="11970744">
                <a:moveTo>
                  <a:pt x="0" y="0"/>
                </a:moveTo>
                <a:lnTo>
                  <a:pt x="11970743" y="0"/>
                </a:lnTo>
                <a:lnTo>
                  <a:pt x="11970743" y="8814820"/>
                </a:lnTo>
                <a:lnTo>
                  <a:pt x="0" y="881482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21" id="21"/>
          <p:cNvGrpSpPr/>
          <p:nvPr/>
        </p:nvGrpSpPr>
        <p:grpSpPr>
          <a:xfrm rot="0">
            <a:off x="6179308" y="4121523"/>
            <a:ext cx="5723269" cy="2720791"/>
            <a:chOff x="0" y="0"/>
            <a:chExt cx="1195625" cy="568389"/>
          </a:xfrm>
        </p:grpSpPr>
        <p:sp>
          <p:nvSpPr>
            <p:cNvPr name="Freeform 22" id="22"/>
            <p:cNvSpPr/>
            <p:nvPr/>
          </p:nvSpPr>
          <p:spPr>
            <a:xfrm flipH="false" flipV="false" rot="0">
              <a:off x="0" y="0"/>
              <a:ext cx="1195625" cy="568389"/>
            </a:xfrm>
            <a:custGeom>
              <a:avLst/>
              <a:gdLst/>
              <a:ahLst/>
              <a:cxnLst/>
              <a:rect r="r" b="b" t="t" l="l"/>
              <a:pathLst>
                <a:path h="568389" w="1195625">
                  <a:moveTo>
                    <a:pt x="40581" y="0"/>
                  </a:moveTo>
                  <a:lnTo>
                    <a:pt x="1155044" y="0"/>
                  </a:lnTo>
                  <a:cubicBezTo>
                    <a:pt x="1165806" y="0"/>
                    <a:pt x="1176128" y="4276"/>
                    <a:pt x="1183739" y="11886"/>
                  </a:cubicBezTo>
                  <a:cubicBezTo>
                    <a:pt x="1191349" y="19496"/>
                    <a:pt x="1195625" y="29818"/>
                    <a:pt x="1195625" y="40581"/>
                  </a:cubicBezTo>
                  <a:lnTo>
                    <a:pt x="1195625" y="527808"/>
                  </a:lnTo>
                  <a:cubicBezTo>
                    <a:pt x="1195625" y="538571"/>
                    <a:pt x="1191349" y="548893"/>
                    <a:pt x="1183739" y="556503"/>
                  </a:cubicBezTo>
                  <a:cubicBezTo>
                    <a:pt x="1176128" y="564114"/>
                    <a:pt x="1165806" y="568389"/>
                    <a:pt x="1155044" y="568389"/>
                  </a:cubicBezTo>
                  <a:lnTo>
                    <a:pt x="40581" y="568389"/>
                  </a:lnTo>
                  <a:cubicBezTo>
                    <a:pt x="29818" y="568389"/>
                    <a:pt x="19496" y="564114"/>
                    <a:pt x="11886" y="556503"/>
                  </a:cubicBezTo>
                  <a:cubicBezTo>
                    <a:pt x="4276" y="548893"/>
                    <a:pt x="0" y="538571"/>
                    <a:pt x="0" y="527808"/>
                  </a:cubicBezTo>
                  <a:lnTo>
                    <a:pt x="0" y="40581"/>
                  </a:lnTo>
                  <a:cubicBezTo>
                    <a:pt x="0" y="29818"/>
                    <a:pt x="4276" y="19496"/>
                    <a:pt x="11886" y="11886"/>
                  </a:cubicBezTo>
                  <a:cubicBezTo>
                    <a:pt x="19496" y="4276"/>
                    <a:pt x="29818" y="0"/>
                    <a:pt x="40581" y="0"/>
                  </a:cubicBezTo>
                  <a:close/>
                </a:path>
              </a:pathLst>
            </a:custGeom>
            <a:solidFill>
              <a:srgbClr val="FFFFFF"/>
            </a:solidFill>
          </p:spPr>
        </p:sp>
        <p:sp>
          <p:nvSpPr>
            <p:cNvPr name="TextBox 23" id="23"/>
            <p:cNvSpPr txBox="true"/>
            <p:nvPr/>
          </p:nvSpPr>
          <p:spPr>
            <a:xfrm>
              <a:off x="0" y="-47625"/>
              <a:ext cx="1195625" cy="616014"/>
            </a:xfrm>
            <a:prstGeom prst="rect">
              <a:avLst/>
            </a:prstGeom>
          </p:spPr>
          <p:txBody>
            <a:bodyPr anchor="ctr" rtlCol="false" tIns="58105" lIns="58105" bIns="58105" rIns="58105"/>
            <a:lstStyle/>
            <a:p>
              <a:pPr algn="ctr">
                <a:lnSpc>
                  <a:spcPts val="3499"/>
                </a:lnSpc>
              </a:pPr>
            </a:p>
          </p:txBody>
        </p:sp>
      </p:grpSp>
      <p:sp>
        <p:nvSpPr>
          <p:cNvPr name="TextBox 24" id="24"/>
          <p:cNvSpPr txBox="true"/>
          <p:nvPr/>
        </p:nvSpPr>
        <p:spPr>
          <a:xfrm rot="0">
            <a:off x="1119153" y="4307436"/>
            <a:ext cx="16049693" cy="490889"/>
          </a:xfrm>
          <a:prstGeom prst="rect">
            <a:avLst/>
          </a:prstGeom>
        </p:spPr>
        <p:txBody>
          <a:bodyPr anchor="t" rtlCol="false" tIns="0" lIns="0" bIns="0" rIns="0">
            <a:spAutoFit/>
          </a:bodyPr>
          <a:lstStyle/>
          <a:p>
            <a:pPr algn="ctr">
              <a:lnSpc>
                <a:spcPts val="3615"/>
              </a:lnSpc>
              <a:spcBef>
                <a:spcPct val="0"/>
              </a:spcBef>
            </a:pPr>
            <a:r>
              <a:rPr lang="en-US" b="true" sz="3171">
                <a:solidFill>
                  <a:srgbClr val="000000"/>
                </a:solidFill>
                <a:latin typeface="Poppins Bold"/>
                <a:ea typeface="Poppins Bold"/>
                <a:cs typeface="Poppins Bold"/>
                <a:sym typeface="Poppins Bold"/>
              </a:rPr>
              <a:t>REFERENCES</a:t>
            </a:r>
          </a:p>
        </p:txBody>
      </p:sp>
      <p:sp>
        <p:nvSpPr>
          <p:cNvPr name="TextBox 25" id="25"/>
          <p:cNvSpPr txBox="true"/>
          <p:nvPr/>
        </p:nvSpPr>
        <p:spPr>
          <a:xfrm rot="0">
            <a:off x="1028700" y="5302333"/>
            <a:ext cx="16049693" cy="490889"/>
          </a:xfrm>
          <a:prstGeom prst="rect">
            <a:avLst/>
          </a:prstGeom>
        </p:spPr>
        <p:txBody>
          <a:bodyPr anchor="t" rtlCol="false" tIns="0" lIns="0" bIns="0" rIns="0">
            <a:spAutoFit/>
          </a:bodyPr>
          <a:lstStyle/>
          <a:p>
            <a:pPr algn="ctr">
              <a:lnSpc>
                <a:spcPts val="3615"/>
              </a:lnSpc>
              <a:spcBef>
                <a:spcPct val="0"/>
              </a:spcBef>
            </a:pPr>
            <a:r>
              <a:rPr lang="en-US" b="true" sz="3171" u="sng">
                <a:solidFill>
                  <a:srgbClr val="000000"/>
                </a:solidFill>
                <a:latin typeface="Poppins Bold"/>
                <a:ea typeface="Poppins Bold"/>
                <a:cs typeface="Poppins Bold"/>
                <a:sym typeface="Poppins Bold"/>
                <a:hlinkClick r:id="rId23" tooltip="https://drive.google.com/drive/folders/1Az12-372jeYJDd-aMdf3LMare6QtpiXd"/>
              </a:rPr>
              <a:t>csv_and_folium.com</a:t>
            </a:r>
          </a:p>
        </p:txBody>
      </p:sp>
      <p:sp>
        <p:nvSpPr>
          <p:cNvPr name="TextBox 26" id="26"/>
          <p:cNvSpPr txBox="true"/>
          <p:nvPr/>
        </p:nvSpPr>
        <p:spPr>
          <a:xfrm rot="0">
            <a:off x="1119153" y="6067561"/>
            <a:ext cx="16049693" cy="490889"/>
          </a:xfrm>
          <a:prstGeom prst="rect">
            <a:avLst/>
          </a:prstGeom>
        </p:spPr>
        <p:txBody>
          <a:bodyPr anchor="t" rtlCol="false" tIns="0" lIns="0" bIns="0" rIns="0">
            <a:spAutoFit/>
          </a:bodyPr>
          <a:lstStyle/>
          <a:p>
            <a:pPr algn="ctr">
              <a:lnSpc>
                <a:spcPts val="3615"/>
              </a:lnSpc>
              <a:spcBef>
                <a:spcPct val="0"/>
              </a:spcBef>
            </a:pPr>
            <a:r>
              <a:rPr lang="en-US" b="true" sz="3171" u="sng">
                <a:solidFill>
                  <a:srgbClr val="000000"/>
                </a:solidFill>
                <a:latin typeface="Poppins Bold"/>
                <a:ea typeface="Poppins Bold"/>
                <a:cs typeface="Poppins Bold"/>
                <a:sym typeface="Poppins Bold"/>
                <a:hlinkClick r:id="rId24" tooltip="https://colab.research.google.com/drive/1GN20qhFWuI5D2Chhvpq79wgf7lIdoDaF?usp=sharing"/>
              </a:rPr>
              <a:t>colab_link.com</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DAGcjrjRKPU</dc:identifier>
  <dcterms:modified xsi:type="dcterms:W3CDTF">2011-08-01T06:04:30Z</dcterms:modified>
  <cp:revision>1</cp:revision>
  <dc:title>Green Illustrative Sustainable Future Presentation</dc:title>
</cp:coreProperties>
</file>